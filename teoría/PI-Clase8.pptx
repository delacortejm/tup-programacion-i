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4" r:id="rId5"/>
    <p:sldId id="260" r:id="rId6"/>
    <p:sldId id="261" r:id="rId7"/>
    <p:sldId id="258" r:id="rId8"/>
    <p:sldId id="263" r:id="rId9"/>
    <p:sldId id="262" r:id="rId10"/>
    <p:sldId id="273" r:id="rId11"/>
    <p:sldId id="274" r:id="rId12"/>
    <p:sldId id="275" r:id="rId13"/>
    <p:sldId id="276" r:id="rId14"/>
    <p:sldId id="285" r:id="rId15"/>
    <p:sldId id="287" r:id="rId16"/>
    <p:sldId id="286" r:id="rId17"/>
    <p:sldId id="288" r:id="rId18"/>
    <p:sldId id="265" r:id="rId19"/>
    <p:sldId id="266" r:id="rId20"/>
    <p:sldId id="267" r:id="rId21"/>
    <p:sldId id="268" r:id="rId22"/>
    <p:sldId id="269" r:id="rId23"/>
    <p:sldId id="270" r:id="rId24"/>
    <p:sldId id="271" r:id="rId25"/>
    <p:sldId id="272" r:id="rId26"/>
    <p:sldId id="277" r:id="rId27"/>
    <p:sldId id="278" r:id="rId28"/>
    <p:sldId id="279" r:id="rId29"/>
    <p:sldId id="284" r:id="rId30"/>
    <p:sldId id="280" r:id="rId31"/>
    <p:sldId id="281" r:id="rId32"/>
    <p:sldId id="282" r:id="rId33"/>
    <p:sldId id="283" r:id="rId34"/>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296" y="-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8D0C6A74-E2BE-4EE2-89C6-E50E35266319}" type="datetimeFigureOut">
              <a:rPr lang="es-ES" smtClean="0"/>
              <a:t>19/04/2022</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7FE329C6-1A6B-49DC-9FA2-69A23F42B106}" type="slidenum">
              <a:rPr lang="es-ES" smtClean="0"/>
              <a:t>‹Nº›</a:t>
            </a:fld>
            <a:endParaRPr lang="es-ES"/>
          </a:p>
        </p:txBody>
      </p:sp>
    </p:spTree>
    <p:extLst>
      <p:ext uri="{BB962C8B-B14F-4D97-AF65-F5344CB8AC3E}">
        <p14:creationId xmlns:p14="http://schemas.microsoft.com/office/powerpoint/2010/main" val="2752431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8D0C6A74-E2BE-4EE2-89C6-E50E35266319}" type="datetimeFigureOut">
              <a:rPr lang="es-ES" smtClean="0"/>
              <a:t>19/04/2022</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7FE329C6-1A6B-49DC-9FA2-69A23F42B106}" type="slidenum">
              <a:rPr lang="es-ES" smtClean="0"/>
              <a:t>‹Nº›</a:t>
            </a:fld>
            <a:endParaRPr lang="es-ES"/>
          </a:p>
        </p:txBody>
      </p:sp>
    </p:spTree>
    <p:extLst>
      <p:ext uri="{BB962C8B-B14F-4D97-AF65-F5344CB8AC3E}">
        <p14:creationId xmlns:p14="http://schemas.microsoft.com/office/powerpoint/2010/main" val="3252009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8D0C6A74-E2BE-4EE2-89C6-E50E35266319}" type="datetimeFigureOut">
              <a:rPr lang="es-ES" smtClean="0"/>
              <a:t>19/04/2022</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7FE329C6-1A6B-49DC-9FA2-69A23F42B106}" type="slidenum">
              <a:rPr lang="es-ES" smtClean="0"/>
              <a:t>‹Nº›</a:t>
            </a:fld>
            <a:endParaRPr lang="es-ES"/>
          </a:p>
        </p:txBody>
      </p:sp>
    </p:spTree>
    <p:extLst>
      <p:ext uri="{BB962C8B-B14F-4D97-AF65-F5344CB8AC3E}">
        <p14:creationId xmlns:p14="http://schemas.microsoft.com/office/powerpoint/2010/main" val="374322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8D0C6A74-E2BE-4EE2-89C6-E50E35266319}" type="datetimeFigureOut">
              <a:rPr lang="es-ES" smtClean="0"/>
              <a:t>19/04/2022</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7FE329C6-1A6B-49DC-9FA2-69A23F42B106}" type="slidenum">
              <a:rPr lang="es-ES" smtClean="0"/>
              <a:t>‹Nº›</a:t>
            </a:fld>
            <a:endParaRPr lang="es-ES"/>
          </a:p>
        </p:txBody>
      </p:sp>
    </p:spTree>
    <p:extLst>
      <p:ext uri="{BB962C8B-B14F-4D97-AF65-F5344CB8AC3E}">
        <p14:creationId xmlns:p14="http://schemas.microsoft.com/office/powerpoint/2010/main" val="743904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8D0C6A74-E2BE-4EE2-89C6-E50E35266319}" type="datetimeFigureOut">
              <a:rPr lang="es-ES" smtClean="0"/>
              <a:t>19/04/2022</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7FE329C6-1A6B-49DC-9FA2-69A23F42B106}" type="slidenum">
              <a:rPr lang="es-ES" smtClean="0"/>
              <a:t>‹Nº›</a:t>
            </a:fld>
            <a:endParaRPr lang="es-ES"/>
          </a:p>
        </p:txBody>
      </p:sp>
    </p:spTree>
    <p:extLst>
      <p:ext uri="{BB962C8B-B14F-4D97-AF65-F5344CB8AC3E}">
        <p14:creationId xmlns:p14="http://schemas.microsoft.com/office/powerpoint/2010/main" val="76592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8D0C6A74-E2BE-4EE2-89C6-E50E35266319}" type="datetimeFigureOut">
              <a:rPr lang="es-ES" smtClean="0"/>
              <a:t>19/04/2022</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7FE329C6-1A6B-49DC-9FA2-69A23F42B106}" type="slidenum">
              <a:rPr lang="es-ES" smtClean="0"/>
              <a:t>‹Nº›</a:t>
            </a:fld>
            <a:endParaRPr lang="es-ES"/>
          </a:p>
        </p:txBody>
      </p:sp>
    </p:spTree>
    <p:extLst>
      <p:ext uri="{BB962C8B-B14F-4D97-AF65-F5344CB8AC3E}">
        <p14:creationId xmlns:p14="http://schemas.microsoft.com/office/powerpoint/2010/main" val="35515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D0C6A74-E2BE-4EE2-89C6-E50E35266319}" type="datetimeFigureOut">
              <a:rPr lang="es-ES" smtClean="0"/>
              <a:t>19/04/2022</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7FE329C6-1A6B-49DC-9FA2-69A23F42B106}" type="slidenum">
              <a:rPr lang="es-ES" smtClean="0"/>
              <a:t>‹Nº›</a:t>
            </a:fld>
            <a:endParaRPr lang="es-ES"/>
          </a:p>
        </p:txBody>
      </p:sp>
    </p:spTree>
    <p:extLst>
      <p:ext uri="{BB962C8B-B14F-4D97-AF65-F5344CB8AC3E}">
        <p14:creationId xmlns:p14="http://schemas.microsoft.com/office/powerpoint/2010/main" val="658258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8D0C6A74-E2BE-4EE2-89C6-E50E35266319}" type="datetimeFigureOut">
              <a:rPr lang="es-ES" smtClean="0"/>
              <a:t>19/04/2022</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7FE329C6-1A6B-49DC-9FA2-69A23F42B106}" type="slidenum">
              <a:rPr lang="es-ES" smtClean="0"/>
              <a:t>‹Nº›</a:t>
            </a:fld>
            <a:endParaRPr lang="es-ES"/>
          </a:p>
        </p:txBody>
      </p:sp>
    </p:spTree>
    <p:extLst>
      <p:ext uri="{BB962C8B-B14F-4D97-AF65-F5344CB8AC3E}">
        <p14:creationId xmlns:p14="http://schemas.microsoft.com/office/powerpoint/2010/main" val="3865554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8D0C6A74-E2BE-4EE2-89C6-E50E35266319}" type="datetimeFigureOut">
              <a:rPr lang="es-ES" smtClean="0"/>
              <a:t>19/04/2022</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7FE329C6-1A6B-49DC-9FA2-69A23F42B106}" type="slidenum">
              <a:rPr lang="es-ES" smtClean="0"/>
              <a:t>‹Nº›</a:t>
            </a:fld>
            <a:endParaRPr lang="es-ES"/>
          </a:p>
        </p:txBody>
      </p:sp>
    </p:spTree>
    <p:extLst>
      <p:ext uri="{BB962C8B-B14F-4D97-AF65-F5344CB8AC3E}">
        <p14:creationId xmlns:p14="http://schemas.microsoft.com/office/powerpoint/2010/main" val="3639403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8D0C6A74-E2BE-4EE2-89C6-E50E35266319}" type="datetimeFigureOut">
              <a:rPr lang="es-ES" smtClean="0"/>
              <a:t>19/04/2022</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7FE329C6-1A6B-49DC-9FA2-69A23F42B106}" type="slidenum">
              <a:rPr lang="es-ES" smtClean="0"/>
              <a:t>‹Nº›</a:t>
            </a:fld>
            <a:endParaRPr lang="es-ES"/>
          </a:p>
        </p:txBody>
      </p:sp>
    </p:spTree>
    <p:extLst>
      <p:ext uri="{BB962C8B-B14F-4D97-AF65-F5344CB8AC3E}">
        <p14:creationId xmlns:p14="http://schemas.microsoft.com/office/powerpoint/2010/main" val="773863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8D0C6A74-E2BE-4EE2-89C6-E50E35266319}" type="datetimeFigureOut">
              <a:rPr lang="es-ES" smtClean="0"/>
              <a:t>19/04/2022</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7FE329C6-1A6B-49DC-9FA2-69A23F42B106}" type="slidenum">
              <a:rPr lang="es-ES" smtClean="0"/>
              <a:t>‹Nº›</a:t>
            </a:fld>
            <a:endParaRPr lang="es-ES"/>
          </a:p>
        </p:txBody>
      </p:sp>
    </p:spTree>
    <p:extLst>
      <p:ext uri="{BB962C8B-B14F-4D97-AF65-F5344CB8AC3E}">
        <p14:creationId xmlns:p14="http://schemas.microsoft.com/office/powerpoint/2010/main" val="1786258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0C6A74-E2BE-4EE2-89C6-E50E35266319}" type="datetimeFigureOut">
              <a:rPr lang="es-ES" smtClean="0"/>
              <a:t>19/04/2022</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E329C6-1A6B-49DC-9FA2-69A23F42B106}" type="slidenum">
              <a:rPr lang="es-ES" smtClean="0"/>
              <a:t>‹Nº›</a:t>
            </a:fld>
            <a:endParaRPr lang="es-ES"/>
          </a:p>
        </p:txBody>
      </p:sp>
    </p:spTree>
    <p:extLst>
      <p:ext uri="{BB962C8B-B14F-4D97-AF65-F5344CB8AC3E}">
        <p14:creationId xmlns:p14="http://schemas.microsoft.com/office/powerpoint/2010/main" val="41272275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s.wikipedia.org/wiki/Estructura_de_datos" TargetMode="External"/><Relationship Id="rId2" Type="http://schemas.openxmlformats.org/officeDocument/2006/relationships/hyperlink" Target="https://es.wikipedia.org/wiki/Programaci%C3%B3n" TargetMode="External"/><Relationship Id="rId1" Type="http://schemas.openxmlformats.org/officeDocument/2006/relationships/slideLayout" Target="../slideLayouts/slideLayout2.xml"/><Relationship Id="rId4" Type="http://schemas.openxmlformats.org/officeDocument/2006/relationships/hyperlink" Target="https://es.wikipedia.org/wiki/Campo_(inform%C3%A1tica)"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AR" sz="6000" b="1" dirty="0" smtClean="0">
                <a:solidFill>
                  <a:srgbClr val="0070C0"/>
                </a:solidFill>
              </a:rPr>
              <a:t>Estructuras de Datos</a:t>
            </a:r>
            <a:endParaRPr lang="es-ES" sz="6000" b="1" dirty="0">
              <a:solidFill>
                <a:srgbClr val="0070C0"/>
              </a:solidFill>
            </a:endParaRPr>
          </a:p>
        </p:txBody>
      </p:sp>
      <p:sp>
        <p:nvSpPr>
          <p:cNvPr id="3" name="2 Subtítulo"/>
          <p:cNvSpPr>
            <a:spLocks noGrp="1"/>
          </p:cNvSpPr>
          <p:nvPr>
            <p:ph type="subTitle" idx="1"/>
          </p:nvPr>
        </p:nvSpPr>
        <p:spPr/>
        <p:txBody>
          <a:bodyPr/>
          <a:lstStyle/>
          <a:p>
            <a:endParaRPr lang="es-ES" dirty="0"/>
          </a:p>
        </p:txBody>
      </p:sp>
    </p:spTree>
    <p:extLst>
      <p:ext uri="{BB962C8B-B14F-4D97-AF65-F5344CB8AC3E}">
        <p14:creationId xmlns:p14="http://schemas.microsoft.com/office/powerpoint/2010/main" val="10696613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lstStyle/>
          <a:p>
            <a:pPr marL="0" indent="0" algn="ctr">
              <a:buNone/>
            </a:pPr>
            <a:r>
              <a:rPr lang="es-AR" b="1" dirty="0" smtClean="0">
                <a:solidFill>
                  <a:srgbClr val="0070C0"/>
                </a:solidFill>
              </a:rPr>
              <a:t>Por que es necesario?</a:t>
            </a:r>
          </a:p>
          <a:p>
            <a:r>
              <a:rPr lang="es-AR" dirty="0" smtClean="0"/>
              <a:t>Para representar objetos que no son atómicos</a:t>
            </a:r>
          </a:p>
          <a:p>
            <a:endParaRPr lang="es-AR" dirty="0"/>
          </a:p>
          <a:p>
            <a:r>
              <a:rPr lang="es-AR" dirty="0" smtClean="0"/>
              <a:t>Para facilitar la manipulación de los mismos</a:t>
            </a:r>
          </a:p>
          <a:p>
            <a:endParaRPr lang="es-AR" dirty="0" smtClean="0"/>
          </a:p>
          <a:p>
            <a:r>
              <a:rPr lang="es-AR" dirty="0" smtClean="0"/>
              <a:t>Para almacenar colecciones de objetos</a:t>
            </a:r>
          </a:p>
          <a:p>
            <a:endParaRPr lang="es-ES" dirty="0"/>
          </a:p>
        </p:txBody>
      </p:sp>
    </p:spTree>
    <p:extLst>
      <p:ext uri="{BB962C8B-B14F-4D97-AF65-F5344CB8AC3E}">
        <p14:creationId xmlns:p14="http://schemas.microsoft.com/office/powerpoint/2010/main" val="13071214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normAutofit fontScale="92500" lnSpcReduction="20000"/>
          </a:bodyPr>
          <a:lstStyle/>
          <a:p>
            <a:pPr marL="0" indent="0" algn="ctr">
              <a:buNone/>
            </a:pPr>
            <a:r>
              <a:rPr lang="es-AR" b="1" dirty="0" smtClean="0">
                <a:solidFill>
                  <a:srgbClr val="0070C0"/>
                </a:solidFill>
              </a:rPr>
              <a:t>Registros y Archivos</a:t>
            </a:r>
          </a:p>
          <a:p>
            <a:endParaRPr lang="es-ES" dirty="0" smtClean="0"/>
          </a:p>
          <a:p>
            <a:r>
              <a:rPr lang="es-ES" dirty="0" smtClean="0"/>
              <a:t>Un</a:t>
            </a:r>
            <a:r>
              <a:rPr lang="es-ES" dirty="0"/>
              <a:t> </a:t>
            </a:r>
            <a:r>
              <a:rPr lang="es-ES" b="1" dirty="0"/>
              <a:t>registro</a:t>
            </a:r>
            <a:r>
              <a:rPr lang="es-ES" dirty="0"/>
              <a:t>, en </a:t>
            </a:r>
            <a:r>
              <a:rPr lang="es-ES" dirty="0">
                <a:hlinkClick r:id="rId2" tooltip="Programación"/>
              </a:rPr>
              <a:t>programación</a:t>
            </a:r>
            <a:r>
              <a:rPr lang="es-ES" dirty="0"/>
              <a:t>, es un </a:t>
            </a:r>
            <a:r>
              <a:rPr lang="es-ES" dirty="0">
                <a:hlinkClick r:id="rId3" tooltip="Estructura de datos"/>
              </a:rPr>
              <a:t>tipo de dato estructurado</a:t>
            </a:r>
            <a:r>
              <a:rPr lang="es-ES" dirty="0"/>
              <a:t> formado por la unión de varios elementos bajo una misma estructura</a:t>
            </a:r>
            <a:r>
              <a:rPr lang="es-ES" dirty="0" smtClean="0"/>
              <a:t>.</a:t>
            </a:r>
          </a:p>
          <a:p>
            <a:r>
              <a:rPr lang="es-ES" dirty="0" smtClean="0"/>
              <a:t> </a:t>
            </a:r>
            <a:r>
              <a:rPr lang="es-ES" dirty="0"/>
              <a:t>Estos elementos pueden ser, o bien datos elementales (entero, real, carácter,...), o bien otras estructuras de datos. A cada uno de esos elementos se le llama </a:t>
            </a:r>
            <a:r>
              <a:rPr lang="es-ES" dirty="0">
                <a:hlinkClick r:id="rId4" tooltip="Campo (informática)"/>
              </a:rPr>
              <a:t>campo</a:t>
            </a:r>
            <a:r>
              <a:rPr lang="es-ES" dirty="0" smtClean="0"/>
              <a:t>.</a:t>
            </a:r>
          </a:p>
          <a:p>
            <a:r>
              <a:rPr lang="es-AR" dirty="0" smtClean="0"/>
              <a:t>Una colección de registros se denomina archivo</a:t>
            </a:r>
            <a:endParaRPr lang="es-ES" dirty="0"/>
          </a:p>
          <a:p>
            <a:endParaRPr lang="es-ES" dirty="0"/>
          </a:p>
        </p:txBody>
      </p:sp>
    </p:spTree>
    <p:extLst>
      <p:ext uri="{BB962C8B-B14F-4D97-AF65-F5344CB8AC3E}">
        <p14:creationId xmlns:p14="http://schemas.microsoft.com/office/powerpoint/2010/main" val="32319002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normAutofit/>
          </a:bodyPr>
          <a:lstStyle/>
          <a:p>
            <a:r>
              <a:rPr lang="es-AR" b="1" dirty="0" smtClean="0"/>
              <a:t>Ejemplo </a:t>
            </a:r>
          </a:p>
          <a:p>
            <a:pPr marL="0" indent="0">
              <a:buNone/>
            </a:pPr>
            <a:r>
              <a:rPr lang="en-US" dirty="0" smtClean="0"/>
              <a:t>	</a:t>
            </a:r>
            <a:r>
              <a:rPr lang="en-US" dirty="0" err="1" smtClean="0"/>
              <a:t>Cliente</a:t>
            </a:r>
            <a:r>
              <a:rPr lang="en-US" dirty="0" smtClean="0"/>
              <a:t> </a:t>
            </a:r>
            <a:r>
              <a:rPr lang="en-US" dirty="0" err="1" smtClean="0"/>
              <a:t>Registro</a:t>
            </a:r>
            <a:endParaRPr lang="en-US" dirty="0" smtClean="0"/>
          </a:p>
          <a:p>
            <a:pPr marL="0" indent="0">
              <a:buNone/>
            </a:pPr>
            <a:r>
              <a:rPr lang="en-US" dirty="0"/>
              <a:t>	</a:t>
            </a:r>
            <a:r>
              <a:rPr lang="en-US" dirty="0" smtClean="0"/>
              <a:t>	</a:t>
            </a:r>
            <a:r>
              <a:rPr lang="en-US" dirty="0" err="1" smtClean="0"/>
              <a:t>Identificador</a:t>
            </a:r>
            <a:r>
              <a:rPr lang="en-US" dirty="0" smtClean="0"/>
              <a:t> </a:t>
            </a:r>
            <a:r>
              <a:rPr lang="en-US" dirty="0" err="1" smtClean="0"/>
              <a:t>entero</a:t>
            </a:r>
            <a:endParaRPr lang="en-US" dirty="0" smtClean="0"/>
          </a:p>
          <a:p>
            <a:pPr marL="0" indent="0">
              <a:buNone/>
            </a:pPr>
            <a:r>
              <a:rPr lang="en-US" dirty="0"/>
              <a:t>	</a:t>
            </a:r>
            <a:r>
              <a:rPr lang="en-US" dirty="0" smtClean="0"/>
              <a:t>	</a:t>
            </a:r>
            <a:r>
              <a:rPr lang="en-US" dirty="0" err="1" smtClean="0"/>
              <a:t>Nombre</a:t>
            </a:r>
            <a:r>
              <a:rPr lang="en-US" dirty="0" smtClean="0"/>
              <a:t> </a:t>
            </a:r>
            <a:r>
              <a:rPr lang="en-US" dirty="0" err="1" smtClean="0"/>
              <a:t>cadena</a:t>
            </a:r>
            <a:r>
              <a:rPr lang="en-US" dirty="0" smtClean="0"/>
              <a:t>(30)</a:t>
            </a:r>
          </a:p>
          <a:p>
            <a:pPr marL="0" indent="0">
              <a:buNone/>
            </a:pPr>
            <a:r>
              <a:rPr lang="en-US" dirty="0"/>
              <a:t>	</a:t>
            </a:r>
            <a:r>
              <a:rPr lang="en-US" dirty="0" smtClean="0"/>
              <a:t>	</a:t>
            </a:r>
            <a:r>
              <a:rPr lang="en-US" dirty="0" err="1" smtClean="0"/>
              <a:t>Apellido</a:t>
            </a:r>
            <a:r>
              <a:rPr lang="en-US" dirty="0" smtClean="0"/>
              <a:t> </a:t>
            </a:r>
            <a:r>
              <a:rPr lang="en-US" dirty="0" err="1" smtClean="0"/>
              <a:t>cadena</a:t>
            </a:r>
            <a:r>
              <a:rPr lang="en-US" dirty="0" smtClean="0"/>
              <a:t>(20)</a:t>
            </a:r>
          </a:p>
          <a:p>
            <a:pPr marL="0" indent="0">
              <a:buNone/>
            </a:pPr>
            <a:r>
              <a:rPr lang="en-US" dirty="0"/>
              <a:t>	</a:t>
            </a:r>
            <a:r>
              <a:rPr lang="en-US" dirty="0" err="1" smtClean="0"/>
              <a:t>FRegistro</a:t>
            </a:r>
            <a:endParaRPr lang="en-US" dirty="0" smtClean="0"/>
          </a:p>
        </p:txBody>
      </p:sp>
    </p:spTree>
    <p:extLst>
      <p:ext uri="{BB962C8B-B14F-4D97-AF65-F5344CB8AC3E}">
        <p14:creationId xmlns:p14="http://schemas.microsoft.com/office/powerpoint/2010/main" val="19777828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normAutofit/>
          </a:bodyPr>
          <a:lstStyle/>
          <a:p>
            <a:r>
              <a:rPr lang="es-AR" b="1" dirty="0" smtClean="0"/>
              <a:t>Ejemplo en C</a:t>
            </a:r>
          </a:p>
          <a:p>
            <a:pPr marL="0" indent="0">
              <a:buNone/>
            </a:pPr>
            <a:r>
              <a:rPr lang="en-US" dirty="0" smtClean="0"/>
              <a:t>	</a:t>
            </a:r>
            <a:r>
              <a:rPr lang="en-US" dirty="0" err="1" smtClean="0"/>
              <a:t>typedef</a:t>
            </a:r>
            <a:r>
              <a:rPr lang="en-US" dirty="0" smtClean="0"/>
              <a:t> </a:t>
            </a:r>
            <a:r>
              <a:rPr lang="en-US" dirty="0" err="1" smtClean="0"/>
              <a:t>struct</a:t>
            </a:r>
            <a:r>
              <a:rPr lang="en-US" dirty="0" smtClean="0"/>
              <a:t> </a:t>
            </a:r>
            <a:r>
              <a:rPr lang="en-US" dirty="0" err="1" smtClean="0"/>
              <a:t>TipoNodo</a:t>
            </a:r>
            <a:endParaRPr lang="en-US" dirty="0" smtClean="0"/>
          </a:p>
          <a:p>
            <a:pPr marL="0" indent="0">
              <a:buNone/>
            </a:pPr>
            <a:r>
              <a:rPr lang="en-US" dirty="0" smtClean="0"/>
              <a:t>	{ </a:t>
            </a:r>
          </a:p>
          <a:p>
            <a:pPr marL="0" indent="0">
              <a:buNone/>
            </a:pPr>
            <a:r>
              <a:rPr lang="en-US" dirty="0" smtClean="0"/>
              <a:t>		</a:t>
            </a:r>
            <a:r>
              <a:rPr lang="en-US" dirty="0" err="1" smtClean="0"/>
              <a:t>int</a:t>
            </a:r>
            <a:r>
              <a:rPr lang="en-US" dirty="0" smtClean="0"/>
              <a:t> </a:t>
            </a:r>
            <a:r>
              <a:rPr lang="en-US" dirty="0" err="1" smtClean="0"/>
              <a:t>dato</a:t>
            </a:r>
            <a:r>
              <a:rPr lang="en-US" dirty="0" smtClean="0"/>
              <a:t>;</a:t>
            </a:r>
          </a:p>
          <a:p>
            <a:pPr marL="0" indent="0">
              <a:buNone/>
            </a:pPr>
            <a:r>
              <a:rPr lang="en-US" dirty="0" smtClean="0"/>
              <a:t>		</a:t>
            </a:r>
            <a:r>
              <a:rPr lang="en-US" dirty="0" err="1" smtClean="0"/>
              <a:t>struct</a:t>
            </a:r>
            <a:r>
              <a:rPr lang="en-US" dirty="0" smtClean="0"/>
              <a:t> </a:t>
            </a:r>
            <a:r>
              <a:rPr lang="en-US" dirty="0" err="1" smtClean="0"/>
              <a:t>TipoNodo</a:t>
            </a:r>
            <a:r>
              <a:rPr lang="en-US" dirty="0" smtClean="0"/>
              <a:t> *sig; </a:t>
            </a:r>
          </a:p>
          <a:p>
            <a:pPr marL="0" indent="0">
              <a:buNone/>
            </a:pPr>
            <a:r>
              <a:rPr lang="en-US" dirty="0" smtClean="0"/>
              <a:t>		</a:t>
            </a:r>
            <a:r>
              <a:rPr lang="en-US" dirty="0" err="1" smtClean="0"/>
              <a:t>struct</a:t>
            </a:r>
            <a:r>
              <a:rPr lang="en-US" dirty="0" smtClean="0"/>
              <a:t> </a:t>
            </a:r>
            <a:r>
              <a:rPr lang="en-US" dirty="0" err="1" smtClean="0"/>
              <a:t>TipoNodo</a:t>
            </a:r>
            <a:r>
              <a:rPr lang="en-US" dirty="0" smtClean="0"/>
              <a:t> *ant;</a:t>
            </a:r>
          </a:p>
          <a:p>
            <a:pPr marL="0" indent="0">
              <a:buNone/>
            </a:pPr>
            <a:r>
              <a:rPr lang="en-US" dirty="0" smtClean="0"/>
              <a:t>	 } </a:t>
            </a:r>
            <a:r>
              <a:rPr lang="en-US" dirty="0" err="1" smtClean="0"/>
              <a:t>TNodo</a:t>
            </a:r>
            <a:r>
              <a:rPr lang="en-US" dirty="0" smtClean="0"/>
              <a:t>;</a:t>
            </a:r>
          </a:p>
        </p:txBody>
      </p:sp>
    </p:spTree>
    <p:extLst>
      <p:ext uri="{BB962C8B-B14F-4D97-AF65-F5344CB8AC3E}">
        <p14:creationId xmlns:p14="http://schemas.microsoft.com/office/powerpoint/2010/main" val="38110639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normAutofit fontScale="62500" lnSpcReduction="20000"/>
          </a:bodyPr>
          <a:lstStyle/>
          <a:p>
            <a:pPr marL="0" indent="0">
              <a:buNone/>
            </a:pPr>
            <a:endParaRPr lang="es-AR" dirty="0" smtClean="0"/>
          </a:p>
          <a:p>
            <a:r>
              <a:rPr lang="es-AR" b="1" dirty="0" smtClean="0"/>
              <a:t>Ejemplo en </a:t>
            </a:r>
            <a:r>
              <a:rPr lang="en-US" b="1" dirty="0" smtClean="0"/>
              <a:t> Java</a:t>
            </a:r>
          </a:p>
          <a:p>
            <a:pPr marL="0" indent="0">
              <a:buNone/>
            </a:pPr>
            <a:r>
              <a:rPr lang="en-US" dirty="0" smtClean="0"/>
              <a:t>	Public Class</a:t>
            </a:r>
          </a:p>
          <a:p>
            <a:pPr marL="0" indent="0">
              <a:buNone/>
            </a:pPr>
            <a:r>
              <a:rPr lang="en-US" dirty="0" smtClean="0"/>
              <a:t>	</a:t>
            </a:r>
            <a:r>
              <a:rPr lang="en-US" dirty="0" err="1" smtClean="0"/>
              <a:t>Cliente</a:t>
            </a:r>
            <a:r>
              <a:rPr lang="en-US" dirty="0" smtClean="0"/>
              <a:t>{</a:t>
            </a:r>
          </a:p>
          <a:p>
            <a:pPr marL="0" indent="0">
              <a:buNone/>
            </a:pPr>
            <a:r>
              <a:rPr lang="en-US" dirty="0" smtClean="0"/>
              <a:t>		string id;</a:t>
            </a:r>
          </a:p>
          <a:p>
            <a:pPr marL="0" indent="0">
              <a:buNone/>
            </a:pPr>
            <a:r>
              <a:rPr lang="en-US" dirty="0" smtClean="0"/>
              <a:t>		string </a:t>
            </a:r>
            <a:r>
              <a:rPr lang="en-US" dirty="0" err="1" smtClean="0"/>
              <a:t>nombre</a:t>
            </a:r>
            <a:r>
              <a:rPr lang="en-US" dirty="0" smtClean="0"/>
              <a:t>;</a:t>
            </a:r>
          </a:p>
          <a:p>
            <a:pPr marL="0" indent="0">
              <a:buNone/>
            </a:pPr>
            <a:r>
              <a:rPr lang="en-US" dirty="0" smtClean="0"/>
              <a:t>		string </a:t>
            </a:r>
            <a:r>
              <a:rPr lang="en-US" dirty="0" err="1" smtClean="0"/>
              <a:t>apellido</a:t>
            </a:r>
            <a:r>
              <a:rPr lang="en-US" dirty="0" smtClean="0"/>
              <a:t>;</a:t>
            </a:r>
          </a:p>
          <a:p>
            <a:pPr marL="0" indent="0">
              <a:buNone/>
            </a:pPr>
            <a:r>
              <a:rPr lang="en-US" dirty="0" smtClean="0"/>
              <a:t>	   Public</a:t>
            </a:r>
          </a:p>
          <a:p>
            <a:pPr marL="0" indent="0">
              <a:buNone/>
            </a:pPr>
            <a:r>
              <a:rPr lang="en-US" dirty="0"/>
              <a:t>	</a:t>
            </a:r>
            <a:r>
              <a:rPr lang="en-US" dirty="0" smtClean="0"/>
              <a:t>   </a:t>
            </a:r>
            <a:r>
              <a:rPr lang="en-US" dirty="0" err="1" smtClean="0"/>
              <a:t>Cliente</a:t>
            </a:r>
            <a:r>
              <a:rPr lang="en-US" dirty="0" smtClean="0"/>
              <a:t>(String id, String </a:t>
            </a:r>
            <a:r>
              <a:rPr lang="en-US" dirty="0" err="1" smtClean="0"/>
              <a:t>nombre</a:t>
            </a:r>
            <a:r>
              <a:rPr lang="en-US" dirty="0" smtClean="0"/>
              <a:t>, String </a:t>
            </a:r>
            <a:r>
              <a:rPr lang="en-US" dirty="0" err="1" smtClean="0"/>
              <a:t>apellido</a:t>
            </a:r>
            <a:r>
              <a:rPr lang="en-US" dirty="0" smtClean="0"/>
              <a:t>){</a:t>
            </a:r>
          </a:p>
          <a:p>
            <a:pPr marL="0" indent="0">
              <a:buNone/>
            </a:pPr>
            <a:r>
              <a:rPr lang="en-US" dirty="0" smtClean="0"/>
              <a:t>	   	this.id=id;</a:t>
            </a:r>
          </a:p>
          <a:p>
            <a:pPr marL="0" indent="0">
              <a:buNone/>
            </a:pPr>
            <a:r>
              <a:rPr lang="en-US" dirty="0"/>
              <a:t>	</a:t>
            </a:r>
            <a:r>
              <a:rPr lang="en-US" dirty="0" smtClean="0"/>
              <a:t>	</a:t>
            </a:r>
            <a:r>
              <a:rPr lang="en-US" dirty="0" err="1" smtClean="0"/>
              <a:t>this.nombre</a:t>
            </a:r>
            <a:r>
              <a:rPr lang="en-US" dirty="0" smtClean="0"/>
              <a:t>=</a:t>
            </a:r>
            <a:r>
              <a:rPr lang="en-US" dirty="0" err="1" smtClean="0"/>
              <a:t>nombre</a:t>
            </a:r>
            <a:r>
              <a:rPr lang="en-US" dirty="0" smtClean="0"/>
              <a:t>;</a:t>
            </a:r>
          </a:p>
          <a:p>
            <a:pPr marL="0" indent="0">
              <a:buNone/>
            </a:pPr>
            <a:r>
              <a:rPr lang="en-US" dirty="0"/>
              <a:t>	</a:t>
            </a:r>
            <a:r>
              <a:rPr lang="en-US" dirty="0" smtClean="0"/>
              <a:t>	</a:t>
            </a:r>
            <a:r>
              <a:rPr lang="en-US" dirty="0" err="1" smtClean="0"/>
              <a:t>this.apellido</a:t>
            </a:r>
            <a:r>
              <a:rPr lang="en-US" dirty="0" smtClean="0"/>
              <a:t>=</a:t>
            </a:r>
            <a:r>
              <a:rPr lang="en-US" dirty="0" err="1" smtClean="0"/>
              <a:t>apellido</a:t>
            </a:r>
            <a:r>
              <a:rPr lang="en-US" dirty="0" smtClean="0"/>
              <a:t>;</a:t>
            </a:r>
          </a:p>
          <a:p>
            <a:pPr marL="0" indent="0">
              <a:buNone/>
            </a:pPr>
            <a:r>
              <a:rPr lang="en-US" dirty="0"/>
              <a:t>	</a:t>
            </a:r>
            <a:r>
              <a:rPr lang="en-US" dirty="0" smtClean="0"/>
              <a:t>   }</a:t>
            </a:r>
          </a:p>
          <a:p>
            <a:pPr marL="0" indent="0">
              <a:buNone/>
            </a:pPr>
            <a:r>
              <a:rPr lang="en-US" dirty="0" smtClean="0"/>
              <a:t>	}</a:t>
            </a:r>
          </a:p>
          <a:p>
            <a:pPr marL="0" indent="0">
              <a:buNone/>
            </a:pPr>
            <a:endParaRPr lang="es-ES" dirty="0" smtClean="0"/>
          </a:p>
          <a:p>
            <a:endParaRPr lang="es-ES" dirty="0"/>
          </a:p>
        </p:txBody>
      </p:sp>
    </p:spTree>
    <p:extLst>
      <p:ext uri="{BB962C8B-B14F-4D97-AF65-F5344CB8AC3E}">
        <p14:creationId xmlns:p14="http://schemas.microsoft.com/office/powerpoint/2010/main" val="5203927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normAutofit/>
          </a:bodyPr>
          <a:lstStyle/>
          <a:p>
            <a:pPr marL="0" indent="0" algn="ctr">
              <a:buNone/>
            </a:pPr>
            <a:r>
              <a:rPr lang="es-AR" b="1" dirty="0" smtClean="0">
                <a:solidFill>
                  <a:srgbClr val="0070C0"/>
                </a:solidFill>
              </a:rPr>
              <a:t>Estructura Arreglo</a:t>
            </a:r>
          </a:p>
          <a:p>
            <a:r>
              <a:rPr lang="es-ES" dirty="0" smtClean="0"/>
              <a:t>Permite </a:t>
            </a:r>
            <a:r>
              <a:rPr lang="es-ES" dirty="0"/>
              <a:t>representar una secuencia lineal y finita de elementos del mismo tipo</a:t>
            </a:r>
            <a:endParaRPr lang="es-AR" dirty="0" smtClean="0"/>
          </a:p>
          <a:p>
            <a:r>
              <a:rPr lang="es-ES" dirty="0"/>
              <a:t>Estos elementos pueden ser de tipo primitivo o </a:t>
            </a:r>
            <a:r>
              <a:rPr lang="es-ES" dirty="0" smtClean="0"/>
              <a:t>de otros tipos</a:t>
            </a:r>
            <a:endParaRPr lang="es-AR" dirty="0" smtClean="0"/>
          </a:p>
          <a:p>
            <a:r>
              <a:rPr lang="es-AR" dirty="0" smtClean="0"/>
              <a:t>Es posible recuperar cada elemento del arreglo mediante un sub-</a:t>
            </a:r>
            <a:r>
              <a:rPr lang="es-AR" dirty="0" err="1" smtClean="0"/>
              <a:t>indice</a:t>
            </a:r>
            <a:endParaRPr lang="es-AR" dirty="0" smtClean="0"/>
          </a:p>
          <a:p>
            <a:pPr marL="0" indent="0">
              <a:buNone/>
            </a:pPr>
            <a:endParaRPr lang="es-AR" b="1" dirty="0" smtClean="0">
              <a:solidFill>
                <a:srgbClr val="0070C0"/>
              </a:solidFill>
            </a:endParaRPr>
          </a:p>
        </p:txBody>
      </p:sp>
    </p:spTree>
    <p:extLst>
      <p:ext uri="{BB962C8B-B14F-4D97-AF65-F5344CB8AC3E}">
        <p14:creationId xmlns:p14="http://schemas.microsoft.com/office/powerpoint/2010/main" val="20908334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lstStyle/>
          <a:p>
            <a:pPr marL="0" indent="0">
              <a:buNone/>
            </a:pPr>
            <a:r>
              <a:rPr lang="es-AR" b="1" dirty="0" smtClean="0"/>
              <a:t>Ejemplo</a:t>
            </a:r>
          </a:p>
          <a:p>
            <a:pPr marL="457200" lvl="1" indent="0">
              <a:buNone/>
            </a:pPr>
            <a:r>
              <a:rPr lang="es-AR" dirty="0"/>
              <a:t>	</a:t>
            </a:r>
            <a:r>
              <a:rPr lang="es-AR" dirty="0" err="1" smtClean="0"/>
              <a:t>Num</a:t>
            </a:r>
            <a:r>
              <a:rPr lang="es-AR" dirty="0" smtClean="0"/>
              <a:t> entero arreglo[10];</a:t>
            </a:r>
          </a:p>
          <a:p>
            <a:pPr marL="457200" lvl="1" indent="0">
              <a:buNone/>
            </a:pPr>
            <a:r>
              <a:rPr lang="es-AR" dirty="0"/>
              <a:t>	</a:t>
            </a:r>
            <a:r>
              <a:rPr lang="es-AR" dirty="0" err="1" smtClean="0"/>
              <a:t>Raiz</a:t>
            </a:r>
            <a:r>
              <a:rPr lang="es-AR" dirty="0" smtClean="0"/>
              <a:t> real arreglo[10];</a:t>
            </a:r>
          </a:p>
          <a:p>
            <a:pPr marL="457200" lvl="1" indent="0">
              <a:buNone/>
            </a:pPr>
            <a:r>
              <a:rPr lang="es-AR" dirty="0"/>
              <a:t>	</a:t>
            </a:r>
            <a:r>
              <a:rPr lang="es-AR" dirty="0" smtClean="0"/>
              <a:t>Para i=1 a 10</a:t>
            </a:r>
          </a:p>
          <a:p>
            <a:pPr marL="457200" lvl="1" indent="0">
              <a:buNone/>
            </a:pPr>
            <a:r>
              <a:rPr lang="es-AR" dirty="0"/>
              <a:t> </a:t>
            </a:r>
            <a:r>
              <a:rPr lang="es-AR" dirty="0" smtClean="0"/>
              <a:t>  	    </a:t>
            </a:r>
            <a:r>
              <a:rPr lang="es-AR" dirty="0" err="1" smtClean="0"/>
              <a:t>Num</a:t>
            </a:r>
            <a:r>
              <a:rPr lang="es-AR" dirty="0" smtClean="0"/>
              <a:t>[i] = i;</a:t>
            </a:r>
          </a:p>
          <a:p>
            <a:pPr marL="457200" lvl="1" indent="0">
              <a:buNone/>
            </a:pPr>
            <a:r>
              <a:rPr lang="es-AR" dirty="0"/>
              <a:t>	 </a:t>
            </a:r>
            <a:r>
              <a:rPr lang="es-AR" dirty="0" smtClean="0"/>
              <a:t>   </a:t>
            </a:r>
            <a:r>
              <a:rPr lang="es-AR" dirty="0" err="1" smtClean="0"/>
              <a:t>Raiz</a:t>
            </a:r>
            <a:r>
              <a:rPr lang="es-AR" dirty="0" smtClean="0"/>
              <a:t>[i]=</a:t>
            </a:r>
            <a:r>
              <a:rPr lang="es-AR" dirty="0" err="1" smtClean="0"/>
              <a:t>FuncionRaiz</a:t>
            </a:r>
            <a:r>
              <a:rPr lang="es-AR" dirty="0" smtClean="0"/>
              <a:t>(</a:t>
            </a:r>
            <a:r>
              <a:rPr lang="es-AR" dirty="0" err="1" smtClean="0"/>
              <a:t>Num</a:t>
            </a:r>
            <a:r>
              <a:rPr lang="es-AR" dirty="0" smtClean="0"/>
              <a:t>[i]);</a:t>
            </a:r>
          </a:p>
          <a:p>
            <a:pPr marL="457200" lvl="1" indent="0">
              <a:buNone/>
            </a:pPr>
            <a:r>
              <a:rPr lang="es-AR" dirty="0" smtClean="0"/>
              <a:t>	</a:t>
            </a:r>
            <a:r>
              <a:rPr lang="es-AR" dirty="0" err="1" smtClean="0"/>
              <a:t>Fpara</a:t>
            </a:r>
            <a:r>
              <a:rPr lang="es-AR" dirty="0" smtClean="0"/>
              <a:t> </a:t>
            </a:r>
            <a:endParaRPr lang="es-ES" dirty="0"/>
          </a:p>
        </p:txBody>
      </p:sp>
    </p:spTree>
    <p:extLst>
      <p:ext uri="{BB962C8B-B14F-4D97-AF65-F5344CB8AC3E}">
        <p14:creationId xmlns:p14="http://schemas.microsoft.com/office/powerpoint/2010/main" val="26118901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normAutofit fontScale="70000" lnSpcReduction="20000"/>
          </a:bodyPr>
          <a:lstStyle/>
          <a:p>
            <a:pPr marL="0" indent="0">
              <a:buNone/>
            </a:pPr>
            <a:r>
              <a:rPr lang="es-AR" b="1" dirty="0" smtClean="0"/>
              <a:t>Ejemplo Java</a:t>
            </a:r>
            <a:endParaRPr lang="es-ES" b="1" dirty="0" smtClean="0"/>
          </a:p>
          <a:p>
            <a:pPr marL="0" indent="0">
              <a:buNone/>
            </a:pPr>
            <a:r>
              <a:rPr lang="es-ES" dirty="0" err="1" smtClean="0"/>
              <a:t>public</a:t>
            </a:r>
            <a:r>
              <a:rPr lang="es-ES" dirty="0" smtClean="0"/>
              <a:t> </a:t>
            </a:r>
            <a:r>
              <a:rPr lang="es-ES" dirty="0" err="1"/>
              <a:t>class</a:t>
            </a:r>
            <a:r>
              <a:rPr lang="es-ES" dirty="0" smtClean="0"/>
              <a:t> </a:t>
            </a:r>
            <a:r>
              <a:rPr lang="es-ES" dirty="0" err="1" smtClean="0"/>
              <a:t>ArrayRaices</a:t>
            </a:r>
            <a:r>
              <a:rPr lang="es-ES" dirty="0" smtClean="0"/>
              <a:t> {</a:t>
            </a:r>
          </a:p>
          <a:p>
            <a:pPr marL="0" indent="0">
              <a:buNone/>
            </a:pPr>
            <a:r>
              <a:rPr lang="es-ES" dirty="0"/>
              <a:t> </a:t>
            </a:r>
            <a:r>
              <a:rPr lang="es-ES" dirty="0" smtClean="0"/>
              <a:t>   </a:t>
            </a:r>
            <a:r>
              <a:rPr lang="es-ES" dirty="0" err="1" smtClean="0"/>
              <a:t>public</a:t>
            </a:r>
            <a:r>
              <a:rPr lang="es-ES" dirty="0" smtClean="0"/>
              <a:t> </a:t>
            </a:r>
            <a:r>
              <a:rPr lang="es-ES" dirty="0" err="1"/>
              <a:t>static</a:t>
            </a:r>
            <a:r>
              <a:rPr lang="es-ES" dirty="0" smtClean="0"/>
              <a:t> </a:t>
            </a:r>
            <a:r>
              <a:rPr lang="es-ES" dirty="0" err="1"/>
              <a:t>void</a:t>
            </a:r>
            <a:r>
              <a:rPr lang="es-ES" dirty="0" smtClean="0"/>
              <a:t> </a:t>
            </a:r>
            <a:r>
              <a:rPr lang="es-ES" dirty="0" err="1" smtClean="0"/>
              <a:t>main</a:t>
            </a:r>
            <a:r>
              <a:rPr lang="es-ES" dirty="0" smtClean="0"/>
              <a:t> (</a:t>
            </a:r>
            <a:r>
              <a:rPr lang="es-ES" dirty="0" err="1"/>
              <a:t>String</a:t>
            </a:r>
            <a:r>
              <a:rPr lang="es-ES" dirty="0" smtClean="0"/>
              <a:t> [] </a:t>
            </a:r>
            <a:r>
              <a:rPr lang="es-ES" dirty="0" err="1" smtClean="0"/>
              <a:t>args</a:t>
            </a:r>
            <a:r>
              <a:rPr lang="es-ES" dirty="0" smtClean="0"/>
              <a:t> ) {</a:t>
            </a:r>
          </a:p>
          <a:p>
            <a:pPr marL="0" indent="0">
              <a:buNone/>
            </a:pPr>
            <a:r>
              <a:rPr lang="es-ES" dirty="0" smtClean="0"/>
              <a:t>        </a:t>
            </a:r>
            <a:r>
              <a:rPr lang="es-ES" dirty="0" err="1" smtClean="0"/>
              <a:t>int</a:t>
            </a:r>
            <a:r>
              <a:rPr lang="es-ES" dirty="0" smtClean="0"/>
              <a:t> [] numero </a:t>
            </a:r>
            <a:r>
              <a:rPr lang="es-ES" dirty="0"/>
              <a:t>=</a:t>
            </a:r>
            <a:r>
              <a:rPr lang="es-ES" dirty="0" smtClean="0"/>
              <a:t> </a:t>
            </a:r>
            <a:r>
              <a:rPr lang="es-ES" dirty="0"/>
              <a:t>new</a:t>
            </a:r>
            <a:r>
              <a:rPr lang="es-ES" dirty="0" smtClean="0"/>
              <a:t> </a:t>
            </a:r>
            <a:r>
              <a:rPr lang="es-ES" dirty="0" err="1"/>
              <a:t>int</a:t>
            </a:r>
            <a:r>
              <a:rPr lang="es-ES" dirty="0" smtClean="0"/>
              <a:t>[10]</a:t>
            </a:r>
            <a:r>
              <a:rPr lang="es-ES" dirty="0"/>
              <a:t>;</a:t>
            </a:r>
            <a:r>
              <a:rPr lang="es-ES" dirty="0" smtClean="0"/>
              <a:t> </a:t>
            </a:r>
            <a:r>
              <a:rPr lang="es-ES" dirty="0"/>
              <a:t>// </a:t>
            </a:r>
            <a:r>
              <a:rPr lang="es-ES" dirty="0" err="1"/>
              <a:t>Array</a:t>
            </a:r>
            <a:r>
              <a:rPr lang="es-ES" dirty="0"/>
              <a:t> de valores </a:t>
            </a:r>
            <a:r>
              <a:rPr lang="es-ES" dirty="0" smtClean="0"/>
              <a:t>enteros</a:t>
            </a:r>
          </a:p>
          <a:p>
            <a:pPr marL="0" indent="0">
              <a:buNone/>
            </a:pPr>
            <a:r>
              <a:rPr lang="es-ES" dirty="0" smtClean="0"/>
              <a:t>        </a:t>
            </a:r>
            <a:r>
              <a:rPr lang="es-ES" dirty="0" err="1" smtClean="0"/>
              <a:t>double</a:t>
            </a:r>
            <a:r>
              <a:rPr lang="es-ES" dirty="0" smtClean="0"/>
              <a:t> [] </a:t>
            </a:r>
            <a:r>
              <a:rPr lang="es-ES" dirty="0" err="1" smtClean="0"/>
              <a:t>raiz</a:t>
            </a:r>
            <a:r>
              <a:rPr lang="es-ES" dirty="0" smtClean="0"/>
              <a:t> </a:t>
            </a:r>
            <a:r>
              <a:rPr lang="es-ES" dirty="0"/>
              <a:t>=</a:t>
            </a:r>
            <a:r>
              <a:rPr lang="es-ES" dirty="0" smtClean="0"/>
              <a:t> </a:t>
            </a:r>
            <a:r>
              <a:rPr lang="es-ES" dirty="0"/>
              <a:t>new</a:t>
            </a:r>
            <a:r>
              <a:rPr lang="es-ES" dirty="0" smtClean="0"/>
              <a:t> </a:t>
            </a:r>
            <a:r>
              <a:rPr lang="es-ES" dirty="0" err="1"/>
              <a:t>double</a:t>
            </a:r>
            <a:r>
              <a:rPr lang="es-ES" dirty="0" smtClean="0"/>
              <a:t>[10]</a:t>
            </a:r>
            <a:r>
              <a:rPr lang="es-ES" dirty="0"/>
              <a:t>;</a:t>
            </a:r>
            <a:r>
              <a:rPr lang="es-ES" dirty="0" smtClean="0"/>
              <a:t> </a:t>
            </a:r>
            <a:r>
              <a:rPr lang="es-ES" dirty="0"/>
              <a:t>// </a:t>
            </a:r>
            <a:r>
              <a:rPr lang="es-ES" dirty="0" err="1"/>
              <a:t>Array</a:t>
            </a:r>
            <a:r>
              <a:rPr lang="es-ES" dirty="0"/>
              <a:t> de valores </a:t>
            </a:r>
            <a:r>
              <a:rPr lang="es-ES" dirty="0" smtClean="0"/>
              <a:t>reales</a:t>
            </a:r>
          </a:p>
          <a:p>
            <a:pPr marL="0" indent="0">
              <a:buNone/>
            </a:pPr>
            <a:r>
              <a:rPr lang="es-ES" dirty="0" smtClean="0"/>
              <a:t>        </a:t>
            </a:r>
            <a:r>
              <a:rPr lang="es-ES" dirty="0" err="1" smtClean="0"/>
              <a:t>for</a:t>
            </a:r>
            <a:r>
              <a:rPr lang="es-ES" dirty="0" smtClean="0"/>
              <a:t> (</a:t>
            </a:r>
            <a:r>
              <a:rPr lang="es-ES" dirty="0" err="1"/>
              <a:t>int</a:t>
            </a:r>
            <a:r>
              <a:rPr lang="es-ES" dirty="0" smtClean="0"/>
              <a:t> i</a:t>
            </a:r>
            <a:r>
              <a:rPr lang="es-ES" dirty="0"/>
              <a:t>=</a:t>
            </a:r>
            <a:r>
              <a:rPr lang="es-ES" dirty="0" smtClean="0"/>
              <a:t>0</a:t>
            </a:r>
            <a:r>
              <a:rPr lang="es-ES" dirty="0"/>
              <a:t>;</a:t>
            </a:r>
            <a:r>
              <a:rPr lang="es-ES" dirty="0" smtClean="0"/>
              <a:t> i</a:t>
            </a:r>
            <a:r>
              <a:rPr lang="es-ES" dirty="0"/>
              <a:t>&lt;</a:t>
            </a:r>
            <a:r>
              <a:rPr lang="es-ES" dirty="0" err="1" smtClean="0"/>
              <a:t>numero.length</a:t>
            </a:r>
            <a:r>
              <a:rPr lang="es-ES" dirty="0"/>
              <a:t>;</a:t>
            </a:r>
            <a:r>
              <a:rPr lang="es-ES" dirty="0" smtClean="0"/>
              <a:t> i</a:t>
            </a:r>
            <a:r>
              <a:rPr lang="es-ES" dirty="0"/>
              <a:t>++</a:t>
            </a:r>
            <a:r>
              <a:rPr lang="es-ES" dirty="0" smtClean="0"/>
              <a:t>) {</a:t>
            </a:r>
          </a:p>
          <a:p>
            <a:pPr marL="0" indent="0">
              <a:buNone/>
            </a:pPr>
            <a:r>
              <a:rPr lang="es-ES" dirty="0"/>
              <a:t> </a:t>
            </a:r>
            <a:r>
              <a:rPr lang="es-ES" dirty="0" smtClean="0"/>
              <a:t>           numero[i] </a:t>
            </a:r>
            <a:r>
              <a:rPr lang="es-ES" dirty="0"/>
              <a:t>=</a:t>
            </a:r>
            <a:r>
              <a:rPr lang="es-ES" dirty="0" smtClean="0"/>
              <a:t> i</a:t>
            </a:r>
            <a:r>
              <a:rPr lang="es-ES" dirty="0"/>
              <a:t>+</a:t>
            </a:r>
            <a:r>
              <a:rPr lang="es-ES" dirty="0" smtClean="0"/>
              <a:t>1;</a:t>
            </a:r>
          </a:p>
          <a:p>
            <a:pPr marL="0" indent="0">
              <a:buNone/>
            </a:pPr>
            <a:r>
              <a:rPr lang="es-ES" dirty="0" smtClean="0"/>
              <a:t>            </a:t>
            </a:r>
            <a:r>
              <a:rPr lang="es-ES" dirty="0" err="1" smtClean="0"/>
              <a:t>raiz</a:t>
            </a:r>
            <a:r>
              <a:rPr lang="es-ES" dirty="0" smtClean="0"/>
              <a:t>[i] </a:t>
            </a:r>
            <a:r>
              <a:rPr lang="es-ES" dirty="0"/>
              <a:t>=</a:t>
            </a:r>
            <a:r>
              <a:rPr lang="es-ES" dirty="0" smtClean="0"/>
              <a:t> </a:t>
            </a:r>
            <a:r>
              <a:rPr lang="es-ES" dirty="0" err="1"/>
              <a:t>Math</a:t>
            </a:r>
            <a:r>
              <a:rPr lang="es-ES" dirty="0" err="1" smtClean="0"/>
              <a:t>.sqrt</a:t>
            </a:r>
            <a:r>
              <a:rPr lang="es-ES" dirty="0" smtClean="0"/>
              <a:t>(numero[i]);</a:t>
            </a:r>
          </a:p>
          <a:p>
            <a:pPr marL="0" indent="0">
              <a:buNone/>
            </a:pPr>
            <a:r>
              <a:rPr lang="es-ES" dirty="0" smtClean="0"/>
              <a:t>            </a:t>
            </a:r>
            <a:r>
              <a:rPr lang="es-ES" dirty="0" err="1" smtClean="0"/>
              <a:t>System.out.println</a:t>
            </a:r>
            <a:r>
              <a:rPr lang="es-ES" dirty="0" smtClean="0"/>
              <a:t>(numero[i] </a:t>
            </a:r>
            <a:r>
              <a:rPr lang="es-ES" dirty="0"/>
              <a:t>+</a:t>
            </a:r>
            <a:r>
              <a:rPr lang="es-ES" dirty="0" smtClean="0"/>
              <a:t> </a:t>
            </a:r>
            <a:r>
              <a:rPr lang="es-ES" dirty="0"/>
              <a:t>" : "</a:t>
            </a:r>
            <a:r>
              <a:rPr lang="es-ES" dirty="0" smtClean="0"/>
              <a:t> </a:t>
            </a:r>
            <a:r>
              <a:rPr lang="es-ES" dirty="0"/>
              <a:t>+</a:t>
            </a:r>
            <a:r>
              <a:rPr lang="es-ES" dirty="0" smtClean="0"/>
              <a:t> </a:t>
            </a:r>
            <a:r>
              <a:rPr lang="es-ES" dirty="0" err="1" smtClean="0"/>
              <a:t>raiz</a:t>
            </a:r>
            <a:r>
              <a:rPr lang="es-ES" dirty="0" smtClean="0"/>
              <a:t>[i]);</a:t>
            </a:r>
          </a:p>
          <a:p>
            <a:pPr marL="0" indent="0">
              <a:buNone/>
            </a:pPr>
            <a:r>
              <a:rPr lang="es-ES" dirty="0"/>
              <a:t> </a:t>
            </a:r>
            <a:r>
              <a:rPr lang="es-ES" dirty="0" smtClean="0"/>
              <a:t>       }</a:t>
            </a:r>
          </a:p>
          <a:p>
            <a:pPr marL="0" indent="0">
              <a:buNone/>
            </a:pPr>
            <a:r>
              <a:rPr lang="es-ES" dirty="0" smtClean="0"/>
              <a:t>    }</a:t>
            </a:r>
          </a:p>
          <a:p>
            <a:pPr marL="0" indent="0">
              <a:buNone/>
            </a:pPr>
            <a:r>
              <a:rPr lang="es-ES" dirty="0" smtClean="0"/>
              <a:t>} </a:t>
            </a:r>
            <a:br>
              <a:rPr lang="es-ES" dirty="0" smtClean="0"/>
            </a:br>
            <a:endParaRPr lang="es-ES" dirty="0"/>
          </a:p>
        </p:txBody>
      </p:sp>
    </p:spTree>
    <p:extLst>
      <p:ext uri="{BB962C8B-B14F-4D97-AF65-F5344CB8AC3E}">
        <p14:creationId xmlns:p14="http://schemas.microsoft.com/office/powerpoint/2010/main" val="12442267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b="1" dirty="0">
                <a:solidFill>
                  <a:srgbClr val="0070C0"/>
                </a:solidFill>
              </a:rPr>
              <a:t>Estructuras de Datos</a:t>
            </a:r>
            <a:endParaRPr lang="es-AR" dirty="0"/>
          </a:p>
        </p:txBody>
      </p:sp>
      <p:sp>
        <p:nvSpPr>
          <p:cNvPr id="3" name="2 Marcador de contenido"/>
          <p:cNvSpPr>
            <a:spLocks noGrp="1"/>
          </p:cNvSpPr>
          <p:nvPr>
            <p:ph idx="1"/>
          </p:nvPr>
        </p:nvSpPr>
        <p:spPr/>
        <p:txBody>
          <a:bodyPr/>
          <a:lstStyle/>
          <a:p>
            <a:pPr marL="0" indent="0" algn="ctr">
              <a:buNone/>
            </a:pPr>
            <a:r>
              <a:rPr lang="es-AR" b="1" dirty="0" err="1" smtClean="0">
                <a:solidFill>
                  <a:srgbClr val="0070C0"/>
                </a:solidFill>
              </a:rPr>
              <a:t>Busqueda</a:t>
            </a:r>
            <a:r>
              <a:rPr lang="es-AR" b="1" dirty="0" smtClean="0">
                <a:solidFill>
                  <a:srgbClr val="0070C0"/>
                </a:solidFill>
              </a:rPr>
              <a:t> en Arreglos</a:t>
            </a:r>
          </a:p>
          <a:p>
            <a:r>
              <a:rPr lang="es-AR" dirty="0" smtClean="0"/>
              <a:t> La búsqueda en un arreglo consiste en buscar una dato determinado dentro de la estructura de un arreglo.</a:t>
            </a:r>
          </a:p>
          <a:p>
            <a:r>
              <a:rPr lang="es-AR" dirty="0" smtClean="0"/>
              <a:t>La búsqueda binaria consiste como su nombre lo indica en dividir el arreglo en dos partes de acuerdo a la relación entre el contenido del medio con el valor buscado</a:t>
            </a:r>
            <a:endParaRPr lang="es-AR" dirty="0"/>
          </a:p>
        </p:txBody>
      </p:sp>
    </p:spTree>
    <p:extLst>
      <p:ext uri="{BB962C8B-B14F-4D97-AF65-F5344CB8AC3E}">
        <p14:creationId xmlns:p14="http://schemas.microsoft.com/office/powerpoint/2010/main" val="20002042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a:solidFill>
                  <a:srgbClr val="0070C0"/>
                </a:solidFill>
              </a:rPr>
              <a:t>Estructuras de Datos</a:t>
            </a:r>
            <a:endParaRPr lang="es-AR" dirty="0"/>
          </a:p>
        </p:txBody>
      </p:sp>
      <p:sp>
        <p:nvSpPr>
          <p:cNvPr id="3" name="2 Marcador de contenido"/>
          <p:cNvSpPr>
            <a:spLocks noGrp="1"/>
          </p:cNvSpPr>
          <p:nvPr>
            <p:ph idx="1"/>
          </p:nvPr>
        </p:nvSpPr>
        <p:spPr/>
        <p:txBody>
          <a:bodyPr>
            <a:normAutofit fontScale="92500" lnSpcReduction="20000"/>
          </a:bodyPr>
          <a:lstStyle/>
          <a:p>
            <a:pPr marL="0" indent="0">
              <a:buNone/>
            </a:pPr>
            <a:r>
              <a:rPr lang="es-AR" dirty="0" smtClean="0"/>
              <a:t>Buscar la posición del número 36</a:t>
            </a:r>
          </a:p>
          <a:p>
            <a:pPr marL="0" indent="0">
              <a:buNone/>
            </a:pPr>
            <a:r>
              <a:rPr lang="es-AR" dirty="0" smtClean="0"/>
              <a:t>Búsqueda Lineal</a:t>
            </a:r>
          </a:p>
          <a:p>
            <a:pPr marL="0" indent="0">
              <a:buNone/>
            </a:pPr>
            <a:r>
              <a:rPr lang="es-AR" dirty="0" smtClean="0"/>
              <a:t>Pos  = 0</a:t>
            </a:r>
          </a:p>
          <a:p>
            <a:pPr marL="0" indent="0">
              <a:buNone/>
            </a:pPr>
            <a:r>
              <a:rPr lang="es-AR" dirty="0" smtClean="0"/>
              <a:t>Esta = 0</a:t>
            </a:r>
          </a:p>
          <a:p>
            <a:pPr marL="0" indent="0">
              <a:buNone/>
            </a:pPr>
            <a:r>
              <a:rPr lang="es-AR" dirty="0" smtClean="0"/>
              <a:t>Para i=1 a 50</a:t>
            </a:r>
          </a:p>
          <a:p>
            <a:pPr marL="0" indent="0">
              <a:buNone/>
            </a:pPr>
            <a:r>
              <a:rPr lang="es-AR" dirty="0" smtClean="0"/>
              <a:t>	SI </a:t>
            </a:r>
            <a:r>
              <a:rPr lang="es-AR" dirty="0" err="1" smtClean="0"/>
              <a:t>Num</a:t>
            </a:r>
            <a:r>
              <a:rPr lang="es-AR" dirty="0" smtClean="0"/>
              <a:t>(i) = 36</a:t>
            </a:r>
          </a:p>
          <a:p>
            <a:pPr marL="0" indent="0">
              <a:buNone/>
            </a:pPr>
            <a:r>
              <a:rPr lang="es-AR" dirty="0"/>
              <a:t> </a:t>
            </a:r>
            <a:r>
              <a:rPr lang="es-AR" dirty="0" smtClean="0"/>
              <a:t>             Pos = i</a:t>
            </a:r>
          </a:p>
          <a:p>
            <a:pPr marL="0" indent="0">
              <a:buNone/>
            </a:pPr>
            <a:r>
              <a:rPr lang="es-AR" dirty="0" smtClean="0"/>
              <a:t>         </a:t>
            </a:r>
            <a:r>
              <a:rPr lang="es-AR" dirty="0" err="1" smtClean="0"/>
              <a:t>Fsi</a:t>
            </a:r>
            <a:endParaRPr lang="es-AR" dirty="0" smtClean="0"/>
          </a:p>
          <a:p>
            <a:pPr marL="0" indent="0">
              <a:buNone/>
            </a:pPr>
            <a:r>
              <a:rPr lang="es-AR" dirty="0" err="1" smtClean="0"/>
              <a:t>Fpara</a:t>
            </a:r>
            <a:endParaRPr lang="es-AR" dirty="0"/>
          </a:p>
        </p:txBody>
      </p:sp>
    </p:spTree>
    <p:extLst>
      <p:ext uri="{BB962C8B-B14F-4D97-AF65-F5344CB8AC3E}">
        <p14:creationId xmlns:p14="http://schemas.microsoft.com/office/powerpoint/2010/main" val="20022273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a:solidFill>
                  <a:srgbClr val="0070C0"/>
                </a:solidFill>
              </a:rPr>
              <a:t>Estructuras de Datos</a:t>
            </a:r>
            <a:endParaRPr lang="es-AR" dirty="0"/>
          </a:p>
        </p:txBody>
      </p:sp>
      <p:sp>
        <p:nvSpPr>
          <p:cNvPr id="3" name="2 Marcador de contenido"/>
          <p:cNvSpPr>
            <a:spLocks noGrp="1"/>
          </p:cNvSpPr>
          <p:nvPr>
            <p:ph idx="1"/>
          </p:nvPr>
        </p:nvSpPr>
        <p:spPr/>
        <p:txBody>
          <a:bodyPr/>
          <a:lstStyle/>
          <a:p>
            <a:pPr marL="0" indent="0">
              <a:buNone/>
            </a:pPr>
            <a:r>
              <a:rPr lang="es-AR" dirty="0" smtClean="0"/>
              <a:t>Búsqueda Binaria</a:t>
            </a:r>
          </a:p>
          <a:p>
            <a:pPr marL="0" indent="0">
              <a:buNone/>
            </a:pPr>
            <a:r>
              <a:rPr lang="es-AR" dirty="0" smtClean="0"/>
              <a:t>   2    5     11     25     30   50    60   70   90    94  95</a:t>
            </a:r>
            <a:endParaRPr lang="es-AR" dirty="0"/>
          </a:p>
          <a:p>
            <a:pPr marL="0" indent="0">
              <a:buNone/>
            </a:pPr>
            <a:endParaRPr lang="es-AR" dirty="0"/>
          </a:p>
        </p:txBody>
      </p:sp>
      <p:sp>
        <p:nvSpPr>
          <p:cNvPr id="4" name="3 Rectángulo"/>
          <p:cNvSpPr/>
          <p:nvPr/>
        </p:nvSpPr>
        <p:spPr>
          <a:xfrm>
            <a:off x="611560" y="2204864"/>
            <a:ext cx="7992888"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9" name="8 Conector recto"/>
          <p:cNvCxnSpPr/>
          <p:nvPr/>
        </p:nvCxnSpPr>
        <p:spPr>
          <a:xfrm>
            <a:off x="4283968" y="2204864"/>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a:off x="2627784" y="2204864"/>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a:off x="6516216" y="2204864"/>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a:off x="1835696" y="2204864"/>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a:off x="3419872" y="2204864"/>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24 Conector recto"/>
          <p:cNvCxnSpPr/>
          <p:nvPr/>
        </p:nvCxnSpPr>
        <p:spPr>
          <a:xfrm>
            <a:off x="5076056" y="2204864"/>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a:off x="5796136" y="2204864"/>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28 Conector recto"/>
          <p:cNvCxnSpPr/>
          <p:nvPr/>
        </p:nvCxnSpPr>
        <p:spPr>
          <a:xfrm>
            <a:off x="7236296" y="2204864"/>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31 Conector recto"/>
          <p:cNvCxnSpPr/>
          <p:nvPr/>
        </p:nvCxnSpPr>
        <p:spPr>
          <a:xfrm>
            <a:off x="7884368" y="2204864"/>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33 Conector recto"/>
          <p:cNvCxnSpPr/>
          <p:nvPr/>
        </p:nvCxnSpPr>
        <p:spPr>
          <a:xfrm>
            <a:off x="1187624" y="2204864"/>
            <a:ext cx="0" cy="457200"/>
          </a:xfrm>
          <a:prstGeom prst="line">
            <a:avLst/>
          </a:prstGeom>
        </p:spPr>
        <p:style>
          <a:lnRef idx="1">
            <a:schemeClr val="accent1"/>
          </a:lnRef>
          <a:fillRef idx="0">
            <a:schemeClr val="accent1"/>
          </a:fillRef>
          <a:effectRef idx="0">
            <a:schemeClr val="accent1"/>
          </a:effectRef>
          <a:fontRef idx="minor">
            <a:schemeClr val="tx1"/>
          </a:fontRef>
        </p:style>
      </p:cxnSp>
      <p:sp>
        <p:nvSpPr>
          <p:cNvPr id="36" name="35 Rectángulo"/>
          <p:cNvSpPr/>
          <p:nvPr/>
        </p:nvSpPr>
        <p:spPr>
          <a:xfrm>
            <a:off x="611560" y="2708920"/>
            <a:ext cx="3672408" cy="1440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7" name="36 Rectángulo"/>
          <p:cNvSpPr/>
          <p:nvPr/>
        </p:nvSpPr>
        <p:spPr>
          <a:xfrm>
            <a:off x="2627784" y="2924944"/>
            <a:ext cx="1656184" cy="108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0216690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b="1" dirty="0">
                <a:solidFill>
                  <a:srgbClr val="0070C0"/>
                </a:solidFill>
              </a:rPr>
              <a:t>Estructuras de Datos</a:t>
            </a:r>
            <a:endParaRPr lang="es-AR" dirty="0"/>
          </a:p>
        </p:txBody>
      </p:sp>
      <p:sp>
        <p:nvSpPr>
          <p:cNvPr id="3" name="2 Marcador de contenido"/>
          <p:cNvSpPr>
            <a:spLocks noGrp="1"/>
          </p:cNvSpPr>
          <p:nvPr>
            <p:ph idx="1"/>
          </p:nvPr>
        </p:nvSpPr>
        <p:spPr/>
        <p:txBody>
          <a:bodyPr/>
          <a:lstStyle/>
          <a:p>
            <a:pPr marL="0" indent="0" algn="ctr">
              <a:buNone/>
            </a:pPr>
            <a:r>
              <a:rPr lang="es-AR" b="1" dirty="0" err="1" smtClean="0">
                <a:solidFill>
                  <a:srgbClr val="0070C0"/>
                </a:solidFill>
              </a:rPr>
              <a:t>Tecnicas</a:t>
            </a:r>
            <a:r>
              <a:rPr lang="es-AR" b="1" dirty="0" smtClean="0">
                <a:solidFill>
                  <a:srgbClr val="0070C0"/>
                </a:solidFill>
              </a:rPr>
              <a:t> de Ordenamiento</a:t>
            </a:r>
          </a:p>
          <a:p>
            <a:r>
              <a:rPr lang="es-AR" dirty="0" smtClean="0"/>
              <a:t>La carga de un arreglo no siempre es ordenada, por lo que en muchas </a:t>
            </a:r>
            <a:r>
              <a:rPr lang="es-AR" dirty="0" err="1" smtClean="0"/>
              <a:t>ocaciones</a:t>
            </a:r>
            <a:r>
              <a:rPr lang="es-AR" dirty="0" smtClean="0"/>
              <a:t> hay que proceder a ordenarlos.</a:t>
            </a:r>
          </a:p>
          <a:p>
            <a:r>
              <a:rPr lang="es-AR" dirty="0" err="1" smtClean="0"/>
              <a:t>Asi</a:t>
            </a:r>
            <a:r>
              <a:rPr lang="es-AR" dirty="0" smtClean="0"/>
              <a:t> existen varias técnicas:</a:t>
            </a:r>
          </a:p>
          <a:p>
            <a:pPr lvl="1"/>
            <a:r>
              <a:rPr lang="es-ES" dirty="0" smtClean="0"/>
              <a:t>Ordenamiento por inserción</a:t>
            </a:r>
          </a:p>
          <a:p>
            <a:pPr lvl="1"/>
            <a:r>
              <a:rPr lang="es-ES" dirty="0" smtClean="0"/>
              <a:t>Ordenamiento por burbuja</a:t>
            </a:r>
          </a:p>
          <a:p>
            <a:pPr lvl="1"/>
            <a:r>
              <a:rPr lang="es-ES" dirty="0" smtClean="0"/>
              <a:t>Ordenamiento por mezcla</a:t>
            </a:r>
            <a:endParaRPr lang="es-AR" dirty="0"/>
          </a:p>
        </p:txBody>
      </p:sp>
    </p:spTree>
    <p:extLst>
      <p:ext uri="{BB962C8B-B14F-4D97-AF65-F5344CB8AC3E}">
        <p14:creationId xmlns:p14="http://schemas.microsoft.com/office/powerpoint/2010/main" val="37776784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a:solidFill>
                  <a:srgbClr val="0070C0"/>
                </a:solidFill>
              </a:rPr>
              <a:t>Estructuras de Datos</a:t>
            </a:r>
            <a:endParaRPr lang="es-AR" dirty="0"/>
          </a:p>
        </p:txBody>
      </p:sp>
      <p:sp>
        <p:nvSpPr>
          <p:cNvPr id="3" name="2 Marcador de contenido"/>
          <p:cNvSpPr>
            <a:spLocks noGrp="1"/>
          </p:cNvSpPr>
          <p:nvPr>
            <p:ph idx="1"/>
          </p:nvPr>
        </p:nvSpPr>
        <p:spPr/>
        <p:txBody>
          <a:bodyPr>
            <a:normAutofit lnSpcReduction="10000"/>
          </a:bodyPr>
          <a:lstStyle/>
          <a:p>
            <a:pPr marL="0" indent="0" algn="ctr">
              <a:buNone/>
            </a:pPr>
            <a:r>
              <a:rPr lang="es-ES" b="1" dirty="0">
                <a:solidFill>
                  <a:srgbClr val="0070C0"/>
                </a:solidFill>
              </a:rPr>
              <a:t>Ordenamiento por </a:t>
            </a:r>
            <a:r>
              <a:rPr lang="es-ES" b="1" dirty="0" smtClean="0">
                <a:solidFill>
                  <a:srgbClr val="0070C0"/>
                </a:solidFill>
              </a:rPr>
              <a:t>burbuja</a:t>
            </a:r>
          </a:p>
          <a:p>
            <a:pPr marL="0" indent="0">
              <a:buNone/>
            </a:pPr>
            <a:r>
              <a:rPr lang="es-ES" sz="2400" i="1" dirty="0" smtClean="0"/>
              <a:t>Para i = 1 a n-1</a:t>
            </a:r>
          </a:p>
          <a:p>
            <a:pPr marL="0" indent="0">
              <a:buNone/>
            </a:pPr>
            <a:r>
              <a:rPr lang="es-ES" sz="2400" i="1" dirty="0"/>
              <a:t> </a:t>
            </a:r>
            <a:r>
              <a:rPr lang="es-ES" sz="2400" i="1" dirty="0" smtClean="0"/>
              <a:t>    Para j=0 a n-i-1</a:t>
            </a:r>
          </a:p>
          <a:p>
            <a:pPr marL="0" indent="0">
              <a:buNone/>
            </a:pPr>
            <a:r>
              <a:rPr lang="es-ES" sz="2400" i="1" dirty="0"/>
              <a:t> </a:t>
            </a:r>
            <a:r>
              <a:rPr lang="es-ES" sz="2400" i="1" dirty="0" smtClean="0"/>
              <a:t>          Si a[j] &gt; a[j+1]</a:t>
            </a:r>
          </a:p>
          <a:p>
            <a:pPr marL="0" indent="0">
              <a:buNone/>
            </a:pPr>
            <a:r>
              <a:rPr lang="es-ES" sz="2400" i="1" dirty="0"/>
              <a:t> </a:t>
            </a:r>
            <a:r>
              <a:rPr lang="es-ES" sz="2400" i="1" dirty="0" smtClean="0"/>
              <a:t>              </a:t>
            </a:r>
            <a:r>
              <a:rPr lang="es-ES" sz="2400" i="1" dirty="0" err="1" smtClean="0"/>
              <a:t>aux</a:t>
            </a:r>
            <a:r>
              <a:rPr lang="es-ES" sz="2400" i="1" dirty="0" smtClean="0"/>
              <a:t> := a[j]</a:t>
            </a:r>
          </a:p>
          <a:p>
            <a:pPr marL="0" indent="0">
              <a:buNone/>
            </a:pPr>
            <a:r>
              <a:rPr lang="es-ES" sz="2400" i="1" dirty="0"/>
              <a:t> </a:t>
            </a:r>
            <a:r>
              <a:rPr lang="es-ES" sz="2400" i="1" dirty="0" smtClean="0"/>
              <a:t>              a[j] := a[j+1]</a:t>
            </a:r>
          </a:p>
          <a:p>
            <a:pPr marL="0" indent="0">
              <a:buNone/>
            </a:pPr>
            <a:r>
              <a:rPr lang="es-ES" sz="2400" i="1" dirty="0"/>
              <a:t> </a:t>
            </a:r>
            <a:r>
              <a:rPr lang="es-ES" sz="2400" i="1" dirty="0" smtClean="0"/>
              <a:t>              a[j+1]:= </a:t>
            </a:r>
            <a:r>
              <a:rPr lang="es-ES" sz="2400" i="1" dirty="0" err="1" smtClean="0"/>
              <a:t>aux</a:t>
            </a:r>
            <a:endParaRPr lang="es-ES" sz="2400" i="1" dirty="0" smtClean="0"/>
          </a:p>
          <a:p>
            <a:pPr marL="0" indent="0">
              <a:buNone/>
            </a:pPr>
            <a:r>
              <a:rPr lang="es-ES" sz="2400" i="1" dirty="0"/>
              <a:t> </a:t>
            </a:r>
            <a:r>
              <a:rPr lang="es-ES" sz="2400" i="1" dirty="0" smtClean="0"/>
              <a:t>         </a:t>
            </a:r>
            <a:r>
              <a:rPr lang="es-ES" sz="2400" i="1" dirty="0" err="1" smtClean="0"/>
              <a:t>Fsi</a:t>
            </a:r>
            <a:endParaRPr lang="es-ES" sz="2400" i="1" dirty="0" smtClean="0"/>
          </a:p>
          <a:p>
            <a:pPr marL="0" indent="0">
              <a:buNone/>
            </a:pPr>
            <a:r>
              <a:rPr lang="es-ES" sz="2400" i="1" dirty="0"/>
              <a:t> </a:t>
            </a:r>
            <a:r>
              <a:rPr lang="es-ES" sz="2400" i="1" dirty="0" smtClean="0"/>
              <a:t>    </a:t>
            </a:r>
            <a:r>
              <a:rPr lang="es-ES" sz="2400" i="1" dirty="0" err="1" smtClean="0"/>
              <a:t>Fpara</a:t>
            </a:r>
            <a:endParaRPr lang="es-ES" sz="2400" i="1" dirty="0" smtClean="0"/>
          </a:p>
          <a:p>
            <a:pPr marL="0" indent="0">
              <a:buNone/>
            </a:pPr>
            <a:r>
              <a:rPr lang="es-ES" sz="2400" i="1" dirty="0" err="1" smtClean="0"/>
              <a:t>Fpara</a:t>
            </a:r>
            <a:endParaRPr lang="es-AR" sz="2400" i="1" dirty="0"/>
          </a:p>
        </p:txBody>
      </p:sp>
    </p:spTree>
    <p:extLst>
      <p:ext uri="{BB962C8B-B14F-4D97-AF65-F5344CB8AC3E}">
        <p14:creationId xmlns:p14="http://schemas.microsoft.com/office/powerpoint/2010/main" val="12712336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778098"/>
          </a:xfrm>
        </p:spPr>
        <p:txBody>
          <a:bodyPr/>
          <a:lstStyle/>
          <a:p>
            <a:r>
              <a:rPr lang="es-AR" b="1" dirty="0">
                <a:solidFill>
                  <a:srgbClr val="0070C0"/>
                </a:solidFill>
              </a:rPr>
              <a:t>Estructuras de Datos</a:t>
            </a:r>
            <a:endParaRPr lang="es-AR"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1838437"/>
            <a:ext cx="1844107"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3 Rectángulo"/>
          <p:cNvSpPr/>
          <p:nvPr/>
        </p:nvSpPr>
        <p:spPr>
          <a:xfrm>
            <a:off x="467544" y="1628800"/>
            <a:ext cx="8424936" cy="1754326"/>
          </a:xfrm>
          <a:prstGeom prst="rect">
            <a:avLst/>
          </a:prstGeom>
        </p:spPr>
        <p:txBody>
          <a:bodyPr wrap="square">
            <a:spAutoFit/>
          </a:bodyPr>
          <a:lstStyle/>
          <a:p>
            <a:r>
              <a:rPr lang="es-ES" dirty="0"/>
              <a:t>Comenzamos con una lista de elementos no ordenados</a:t>
            </a:r>
          </a:p>
          <a:p>
            <a:endParaRPr lang="es-ES" dirty="0" smtClean="0"/>
          </a:p>
          <a:p>
            <a:r>
              <a:rPr lang="es-ES" dirty="0"/>
              <a:t/>
            </a:r>
            <a:br>
              <a:rPr lang="es-ES" dirty="0"/>
            </a:br>
            <a:r>
              <a:rPr lang="es-ES" dirty="0"/>
              <a:t>Tomamos  los primeros dos números y si no están ordenados se intercambian los </a:t>
            </a:r>
            <a:r>
              <a:rPr lang="es-ES" dirty="0" smtClean="0"/>
              <a:t>lugares</a:t>
            </a:r>
          </a:p>
          <a:p>
            <a:r>
              <a:rPr lang="es-ES" dirty="0" smtClean="0"/>
              <a:t>Y </a:t>
            </a:r>
            <a:r>
              <a:rPr lang="es-ES" dirty="0" err="1" smtClean="0"/>
              <a:t>asi</a:t>
            </a:r>
            <a:r>
              <a:rPr lang="es-ES" dirty="0" smtClean="0"/>
              <a:t> sucesivamente con el 2 y el 3, el 3 y el 4, etc.</a:t>
            </a:r>
            <a:endParaRPr lang="es-ES" dirty="0"/>
          </a:p>
          <a:p>
            <a:endParaRPr lang="es-AR" dirty="0"/>
          </a:p>
        </p:txBody>
      </p:sp>
      <p:pic>
        <p:nvPicPr>
          <p:cNvPr id="1039" name="Picture 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552" y="3177048"/>
            <a:ext cx="2102400" cy="57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0"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85624" y="3177048"/>
            <a:ext cx="2102400" cy="57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1" name="Picture 1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0032" y="3174349"/>
            <a:ext cx="2102400" cy="57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2" name="Picture 1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76256" y="3177048"/>
            <a:ext cx="2102400" cy="57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3" name="Picture 1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987824" y="3861048"/>
            <a:ext cx="2628000" cy="7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2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267744" y="4869224"/>
            <a:ext cx="2102400" cy="57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5" name="Picture 2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473208" y="4869224"/>
            <a:ext cx="1971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Rectángulo"/>
          <p:cNvSpPr/>
          <p:nvPr/>
        </p:nvSpPr>
        <p:spPr>
          <a:xfrm>
            <a:off x="355952" y="5517232"/>
            <a:ext cx="8622704" cy="369332"/>
          </a:xfrm>
          <a:prstGeom prst="rect">
            <a:avLst/>
          </a:prstGeom>
        </p:spPr>
        <p:txBody>
          <a:bodyPr wrap="square">
            <a:spAutoFit/>
          </a:bodyPr>
          <a:lstStyle/>
          <a:p>
            <a:r>
              <a:rPr lang="es-ES" dirty="0"/>
              <a:t>En la tercera iteración no se evalúan los últimos dos valores</a:t>
            </a:r>
            <a:endParaRPr lang="es-AR" dirty="0"/>
          </a:p>
        </p:txBody>
      </p:sp>
      <p:pic>
        <p:nvPicPr>
          <p:cNvPr id="1046" name="Picture 2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203848" y="5949280"/>
            <a:ext cx="1971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6 Rectángulo"/>
          <p:cNvSpPr/>
          <p:nvPr/>
        </p:nvSpPr>
        <p:spPr>
          <a:xfrm>
            <a:off x="467544" y="1044025"/>
            <a:ext cx="8208912" cy="584775"/>
          </a:xfrm>
          <a:prstGeom prst="rect">
            <a:avLst/>
          </a:prstGeom>
        </p:spPr>
        <p:txBody>
          <a:bodyPr wrap="square">
            <a:spAutoFit/>
          </a:bodyPr>
          <a:lstStyle/>
          <a:p>
            <a:pPr algn="ctr"/>
            <a:r>
              <a:rPr lang="es-ES" sz="3200" b="1" dirty="0">
                <a:solidFill>
                  <a:srgbClr val="0070C0"/>
                </a:solidFill>
              </a:rPr>
              <a:t>Ordenamiento por </a:t>
            </a:r>
            <a:r>
              <a:rPr lang="es-ES" sz="3200" b="1" dirty="0" smtClean="0">
                <a:solidFill>
                  <a:srgbClr val="0070C0"/>
                </a:solidFill>
              </a:rPr>
              <a:t>burbuja</a:t>
            </a:r>
            <a:endParaRPr lang="es-ES" sz="3200" b="1" dirty="0">
              <a:solidFill>
                <a:srgbClr val="0070C0"/>
              </a:solidFill>
            </a:endParaRPr>
          </a:p>
        </p:txBody>
      </p:sp>
    </p:spTree>
    <p:extLst>
      <p:ext uri="{BB962C8B-B14F-4D97-AF65-F5344CB8AC3E}">
        <p14:creationId xmlns:p14="http://schemas.microsoft.com/office/powerpoint/2010/main" val="3930896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994122"/>
          </a:xfrm>
        </p:spPr>
        <p:txBody>
          <a:bodyPr/>
          <a:lstStyle/>
          <a:p>
            <a:r>
              <a:rPr lang="es-AR" b="1" dirty="0">
                <a:solidFill>
                  <a:srgbClr val="0070C0"/>
                </a:solidFill>
              </a:rPr>
              <a:t>Estructuras de Datos</a:t>
            </a:r>
            <a:endParaRPr lang="es-AR" dirty="0"/>
          </a:p>
        </p:txBody>
      </p:sp>
      <p:sp>
        <p:nvSpPr>
          <p:cNvPr id="3" name="2 Marcador de contenido"/>
          <p:cNvSpPr>
            <a:spLocks noGrp="1"/>
          </p:cNvSpPr>
          <p:nvPr>
            <p:ph idx="1"/>
          </p:nvPr>
        </p:nvSpPr>
        <p:spPr>
          <a:xfrm>
            <a:off x="457200" y="1412776"/>
            <a:ext cx="8229600" cy="5112568"/>
          </a:xfrm>
        </p:spPr>
        <p:txBody>
          <a:bodyPr>
            <a:normAutofit fontScale="40000" lnSpcReduction="20000"/>
          </a:bodyPr>
          <a:lstStyle/>
          <a:p>
            <a:pPr marL="0" indent="0" algn="ctr">
              <a:buNone/>
            </a:pPr>
            <a:r>
              <a:rPr lang="es-ES" sz="6700" b="1" dirty="0">
                <a:solidFill>
                  <a:srgbClr val="0070C0"/>
                </a:solidFill>
              </a:rPr>
              <a:t>Ordenamiento por </a:t>
            </a:r>
            <a:r>
              <a:rPr lang="es-ES" sz="6700" b="1" dirty="0" smtClean="0">
                <a:solidFill>
                  <a:srgbClr val="0070C0"/>
                </a:solidFill>
              </a:rPr>
              <a:t>burbuja en Java</a:t>
            </a:r>
          </a:p>
          <a:p>
            <a:pPr marL="0" indent="0" algn="ctr">
              <a:buNone/>
            </a:pPr>
            <a:endParaRPr lang="es-ES" b="1" dirty="0" smtClean="0">
              <a:solidFill>
                <a:srgbClr val="0070C0"/>
              </a:solidFill>
            </a:endParaRPr>
          </a:p>
          <a:p>
            <a:pPr marL="0" indent="0">
              <a:buNone/>
            </a:pPr>
            <a:r>
              <a:rPr lang="es-ES" sz="4500" i="1" dirty="0" err="1" smtClean="0"/>
              <a:t>Private</a:t>
            </a:r>
            <a:r>
              <a:rPr lang="es-ES" sz="4500" i="1" dirty="0" smtClean="0"/>
              <a:t>  </a:t>
            </a:r>
            <a:r>
              <a:rPr lang="es-ES" sz="4500" i="1" dirty="0" err="1" smtClean="0"/>
              <a:t>static</a:t>
            </a:r>
            <a:r>
              <a:rPr lang="es-ES" sz="4500" i="1" dirty="0" smtClean="0"/>
              <a:t>  </a:t>
            </a:r>
            <a:r>
              <a:rPr lang="es-ES" sz="4500" i="1" dirty="0" err="1" smtClean="0"/>
              <a:t>List</a:t>
            </a:r>
            <a:r>
              <a:rPr lang="es-ES" sz="4500" i="1" dirty="0" smtClean="0"/>
              <a:t>&lt;</a:t>
            </a:r>
            <a:r>
              <a:rPr lang="es-ES" sz="4500" i="1" dirty="0" err="1" smtClean="0"/>
              <a:t>Integer</a:t>
            </a:r>
            <a:r>
              <a:rPr lang="es-ES" sz="4500" i="1" dirty="0" smtClean="0"/>
              <a:t>&gt; </a:t>
            </a:r>
            <a:r>
              <a:rPr lang="es-ES" sz="4500" i="1" dirty="0" err="1"/>
              <a:t>bubble</a:t>
            </a:r>
            <a:r>
              <a:rPr lang="es-ES" sz="4500" i="1" dirty="0"/>
              <a:t>(</a:t>
            </a:r>
            <a:r>
              <a:rPr lang="es-ES" sz="4500" i="1" dirty="0" err="1"/>
              <a:t>List</a:t>
            </a:r>
            <a:r>
              <a:rPr lang="es-ES" sz="4500" i="1" dirty="0"/>
              <a:t>&lt;</a:t>
            </a:r>
            <a:r>
              <a:rPr lang="es-ES" sz="4500" i="1" dirty="0" err="1"/>
              <a:t>Integer</a:t>
            </a:r>
            <a:r>
              <a:rPr lang="es-ES" sz="4500" i="1" dirty="0"/>
              <a:t>&gt; </a:t>
            </a:r>
            <a:r>
              <a:rPr lang="es-ES" sz="4500" i="1" dirty="0" err="1"/>
              <a:t>list</a:t>
            </a:r>
            <a:r>
              <a:rPr lang="es-ES" sz="4500" i="1" dirty="0"/>
              <a:t>) {</a:t>
            </a:r>
          </a:p>
          <a:p>
            <a:pPr marL="0" indent="0">
              <a:buNone/>
            </a:pPr>
            <a:r>
              <a:rPr lang="es-ES" sz="4500" i="1" dirty="0"/>
              <a:t>        </a:t>
            </a:r>
            <a:r>
              <a:rPr lang="es-ES" sz="4500" i="1" dirty="0" err="1"/>
              <a:t>if</a:t>
            </a:r>
            <a:r>
              <a:rPr lang="es-ES" sz="4500" i="1" dirty="0"/>
              <a:t> (</a:t>
            </a:r>
            <a:r>
              <a:rPr lang="es-ES" sz="4500" i="1" dirty="0" err="1"/>
              <a:t>list.size</a:t>
            </a:r>
            <a:r>
              <a:rPr lang="es-ES" sz="4500" i="1" dirty="0"/>
              <a:t>() &gt; 1) {</a:t>
            </a:r>
          </a:p>
          <a:p>
            <a:pPr marL="0" indent="0">
              <a:buNone/>
            </a:pPr>
            <a:r>
              <a:rPr lang="es-ES" sz="4500" i="1" dirty="0"/>
              <a:t>            </a:t>
            </a:r>
            <a:r>
              <a:rPr lang="es-ES" sz="4500" i="1" dirty="0" err="1"/>
              <a:t>for</a:t>
            </a:r>
            <a:r>
              <a:rPr lang="es-ES" sz="4500" i="1" dirty="0"/>
              <a:t> (</a:t>
            </a:r>
            <a:r>
              <a:rPr lang="es-ES" sz="4500" i="1" dirty="0" err="1"/>
              <a:t>int</a:t>
            </a:r>
            <a:r>
              <a:rPr lang="es-ES" sz="4500" i="1" dirty="0"/>
              <a:t> </a:t>
            </a:r>
            <a:r>
              <a:rPr lang="es-ES" sz="4500" i="1" dirty="0" err="1"/>
              <a:t>limit</a:t>
            </a:r>
            <a:r>
              <a:rPr lang="es-ES" sz="4500" i="1" dirty="0"/>
              <a:t> = </a:t>
            </a:r>
            <a:r>
              <a:rPr lang="es-ES" sz="4500" i="1" dirty="0" err="1"/>
              <a:t>list.size</a:t>
            </a:r>
            <a:r>
              <a:rPr lang="es-ES" sz="4500" i="1" dirty="0"/>
              <a:t>() - 1; </a:t>
            </a:r>
            <a:r>
              <a:rPr lang="es-ES" sz="4500" i="1" dirty="0" err="1"/>
              <a:t>limit</a:t>
            </a:r>
            <a:r>
              <a:rPr lang="es-ES" sz="4500" i="1" dirty="0"/>
              <a:t> &gt; 0; </a:t>
            </a:r>
            <a:r>
              <a:rPr lang="es-ES" sz="4500" i="1" dirty="0" err="1"/>
              <a:t>limit</a:t>
            </a:r>
            <a:r>
              <a:rPr lang="es-ES" sz="4500" i="1" dirty="0"/>
              <a:t>--) {</a:t>
            </a:r>
          </a:p>
          <a:p>
            <a:pPr marL="0" indent="0">
              <a:buNone/>
            </a:pPr>
            <a:r>
              <a:rPr lang="es-ES" sz="4500" i="1" dirty="0"/>
              <a:t>                </a:t>
            </a:r>
            <a:r>
              <a:rPr lang="es-ES" sz="4500" i="1" dirty="0" err="1"/>
              <a:t>for</a:t>
            </a:r>
            <a:r>
              <a:rPr lang="es-ES" sz="4500" i="1" dirty="0"/>
              <a:t> (</a:t>
            </a:r>
            <a:r>
              <a:rPr lang="es-ES" sz="4500" i="1" dirty="0" err="1"/>
              <a:t>int</a:t>
            </a:r>
            <a:r>
              <a:rPr lang="es-ES" sz="4500" i="1" dirty="0"/>
              <a:t> </a:t>
            </a:r>
            <a:r>
              <a:rPr lang="es-ES" sz="4500" i="1" dirty="0" err="1"/>
              <a:t>firstIndex</a:t>
            </a:r>
            <a:r>
              <a:rPr lang="es-ES" sz="4500" i="1" dirty="0"/>
              <a:t> = 0; </a:t>
            </a:r>
            <a:r>
              <a:rPr lang="es-ES" sz="4500" i="1" dirty="0" err="1"/>
              <a:t>firstIndex</a:t>
            </a:r>
            <a:r>
              <a:rPr lang="es-ES" sz="4500" i="1" dirty="0"/>
              <a:t> &lt; </a:t>
            </a:r>
            <a:r>
              <a:rPr lang="es-ES" sz="4500" i="1" dirty="0" err="1"/>
              <a:t>limit</a:t>
            </a:r>
            <a:r>
              <a:rPr lang="es-ES" sz="4500" i="1" dirty="0"/>
              <a:t>; </a:t>
            </a:r>
            <a:r>
              <a:rPr lang="es-ES" sz="4500" i="1" dirty="0" err="1"/>
              <a:t>firstIndex</a:t>
            </a:r>
            <a:r>
              <a:rPr lang="es-ES" sz="4500" i="1" dirty="0"/>
              <a:t>++) {</a:t>
            </a:r>
          </a:p>
          <a:p>
            <a:pPr marL="0" indent="0">
              <a:buNone/>
            </a:pPr>
            <a:r>
              <a:rPr lang="es-ES" sz="4500" i="1" dirty="0"/>
              <a:t>                    </a:t>
            </a:r>
            <a:r>
              <a:rPr lang="es-ES" sz="4500" i="1" dirty="0" err="1"/>
              <a:t>int</a:t>
            </a:r>
            <a:r>
              <a:rPr lang="es-ES" sz="4500" i="1" dirty="0"/>
              <a:t> </a:t>
            </a:r>
            <a:r>
              <a:rPr lang="es-ES" sz="4500" i="1" dirty="0" err="1"/>
              <a:t>secondIndex</a:t>
            </a:r>
            <a:r>
              <a:rPr lang="es-ES" sz="4500" i="1" dirty="0"/>
              <a:t> = </a:t>
            </a:r>
            <a:r>
              <a:rPr lang="es-ES" sz="4500" i="1" dirty="0" err="1"/>
              <a:t>firstIndex</a:t>
            </a:r>
            <a:r>
              <a:rPr lang="es-ES" sz="4500" i="1" dirty="0"/>
              <a:t> + 1;</a:t>
            </a:r>
          </a:p>
          <a:p>
            <a:pPr marL="0" indent="0">
              <a:buNone/>
            </a:pPr>
            <a:r>
              <a:rPr lang="es-ES" sz="4500" i="1" dirty="0"/>
              <a:t>                    </a:t>
            </a:r>
            <a:r>
              <a:rPr lang="es-ES" sz="4500" i="1" dirty="0" err="1"/>
              <a:t>if</a:t>
            </a:r>
            <a:r>
              <a:rPr lang="es-ES" sz="4500" i="1" dirty="0"/>
              <a:t> (</a:t>
            </a:r>
            <a:r>
              <a:rPr lang="es-ES" sz="4500" i="1" dirty="0" err="1"/>
              <a:t>list.get</a:t>
            </a:r>
            <a:r>
              <a:rPr lang="es-ES" sz="4500" i="1" dirty="0"/>
              <a:t>(</a:t>
            </a:r>
            <a:r>
              <a:rPr lang="es-ES" sz="4500" i="1" dirty="0" err="1"/>
              <a:t>firstIndex</a:t>
            </a:r>
            <a:r>
              <a:rPr lang="es-ES" sz="4500" i="1" dirty="0"/>
              <a:t>) &gt; </a:t>
            </a:r>
            <a:r>
              <a:rPr lang="es-ES" sz="4500" i="1" dirty="0" err="1"/>
              <a:t>list.get</a:t>
            </a:r>
            <a:r>
              <a:rPr lang="es-ES" sz="4500" i="1" dirty="0"/>
              <a:t>(</a:t>
            </a:r>
            <a:r>
              <a:rPr lang="es-ES" sz="4500" i="1" dirty="0" err="1"/>
              <a:t>secondIndex</a:t>
            </a:r>
            <a:r>
              <a:rPr lang="es-ES" sz="4500" i="1" dirty="0"/>
              <a:t>)) {</a:t>
            </a:r>
          </a:p>
          <a:p>
            <a:pPr marL="0" indent="0">
              <a:buNone/>
            </a:pPr>
            <a:r>
              <a:rPr lang="es-ES" sz="4500" i="1" dirty="0"/>
              <a:t>                        </a:t>
            </a:r>
            <a:r>
              <a:rPr lang="es-ES" sz="4500" i="1" dirty="0" err="1"/>
              <a:t>int</a:t>
            </a:r>
            <a:r>
              <a:rPr lang="es-ES" sz="4500" i="1" dirty="0"/>
              <a:t> </a:t>
            </a:r>
            <a:r>
              <a:rPr lang="es-ES" sz="4500" i="1" dirty="0" err="1"/>
              <a:t>first</a:t>
            </a:r>
            <a:r>
              <a:rPr lang="es-ES" sz="4500" i="1" dirty="0"/>
              <a:t> = </a:t>
            </a:r>
            <a:r>
              <a:rPr lang="es-ES" sz="4500" i="1" dirty="0" err="1"/>
              <a:t>list.get</a:t>
            </a:r>
            <a:r>
              <a:rPr lang="es-ES" sz="4500" i="1" dirty="0"/>
              <a:t>(</a:t>
            </a:r>
            <a:r>
              <a:rPr lang="es-ES" sz="4500" i="1" dirty="0" err="1"/>
              <a:t>firstIndex</a:t>
            </a:r>
            <a:r>
              <a:rPr lang="es-ES" sz="4500" i="1" dirty="0"/>
              <a:t>);</a:t>
            </a:r>
          </a:p>
          <a:p>
            <a:pPr marL="0" indent="0">
              <a:buNone/>
            </a:pPr>
            <a:r>
              <a:rPr lang="es-ES" sz="4500" i="1" dirty="0"/>
              <a:t>                        </a:t>
            </a:r>
            <a:r>
              <a:rPr lang="es-ES" sz="4500" i="1" dirty="0" err="1"/>
              <a:t>int</a:t>
            </a:r>
            <a:r>
              <a:rPr lang="es-ES" sz="4500" i="1" dirty="0"/>
              <a:t> </a:t>
            </a:r>
            <a:r>
              <a:rPr lang="es-ES" sz="4500" i="1" dirty="0" err="1"/>
              <a:t>second</a:t>
            </a:r>
            <a:r>
              <a:rPr lang="es-ES" sz="4500" i="1" dirty="0"/>
              <a:t> = </a:t>
            </a:r>
            <a:r>
              <a:rPr lang="es-ES" sz="4500" i="1" dirty="0" err="1"/>
              <a:t>list.get</a:t>
            </a:r>
            <a:r>
              <a:rPr lang="es-ES" sz="4500" i="1" dirty="0"/>
              <a:t>(</a:t>
            </a:r>
            <a:r>
              <a:rPr lang="es-ES" sz="4500" i="1" dirty="0" err="1"/>
              <a:t>secondIndex</a:t>
            </a:r>
            <a:r>
              <a:rPr lang="es-ES" sz="4500" i="1" dirty="0"/>
              <a:t>);</a:t>
            </a:r>
          </a:p>
          <a:p>
            <a:pPr marL="0" indent="0">
              <a:buNone/>
            </a:pPr>
            <a:r>
              <a:rPr lang="es-ES" sz="4500" i="1" dirty="0"/>
              <a:t>                        </a:t>
            </a:r>
            <a:r>
              <a:rPr lang="es-ES" sz="4500" i="1" dirty="0" err="1"/>
              <a:t>list.set</a:t>
            </a:r>
            <a:r>
              <a:rPr lang="es-ES" sz="4500" i="1" dirty="0"/>
              <a:t>(</a:t>
            </a:r>
            <a:r>
              <a:rPr lang="es-ES" sz="4500" i="1" dirty="0" err="1"/>
              <a:t>firstIndex</a:t>
            </a:r>
            <a:r>
              <a:rPr lang="es-ES" sz="4500" i="1" dirty="0"/>
              <a:t>, </a:t>
            </a:r>
            <a:r>
              <a:rPr lang="es-ES" sz="4500" i="1" dirty="0" err="1"/>
              <a:t>second</a:t>
            </a:r>
            <a:r>
              <a:rPr lang="es-ES" sz="4500" i="1" dirty="0"/>
              <a:t>);</a:t>
            </a:r>
          </a:p>
          <a:p>
            <a:pPr marL="0" indent="0">
              <a:buNone/>
            </a:pPr>
            <a:r>
              <a:rPr lang="es-ES" sz="4500" i="1" dirty="0"/>
              <a:t>                        </a:t>
            </a:r>
            <a:r>
              <a:rPr lang="es-ES" sz="4500" i="1" dirty="0" err="1"/>
              <a:t>list.set</a:t>
            </a:r>
            <a:r>
              <a:rPr lang="es-ES" sz="4500" i="1" dirty="0"/>
              <a:t>(</a:t>
            </a:r>
            <a:r>
              <a:rPr lang="es-ES" sz="4500" i="1" dirty="0" err="1"/>
              <a:t>secondIndex</a:t>
            </a:r>
            <a:r>
              <a:rPr lang="es-ES" sz="4500" i="1" dirty="0"/>
              <a:t>, </a:t>
            </a:r>
            <a:r>
              <a:rPr lang="es-ES" sz="4500" i="1" dirty="0" err="1"/>
              <a:t>first</a:t>
            </a:r>
            <a:r>
              <a:rPr lang="es-ES" sz="4500" i="1" dirty="0"/>
              <a:t>);</a:t>
            </a:r>
          </a:p>
          <a:p>
            <a:pPr marL="0" indent="0">
              <a:buNone/>
            </a:pPr>
            <a:r>
              <a:rPr lang="es-ES" sz="4500" i="1" dirty="0"/>
              <a:t>                    }</a:t>
            </a:r>
          </a:p>
          <a:p>
            <a:pPr marL="0" indent="0">
              <a:buNone/>
            </a:pPr>
            <a:r>
              <a:rPr lang="es-ES" sz="4500" i="1" dirty="0"/>
              <a:t>                }</a:t>
            </a:r>
          </a:p>
          <a:p>
            <a:pPr marL="0" indent="0">
              <a:buNone/>
            </a:pPr>
            <a:r>
              <a:rPr lang="es-ES" sz="4500" i="1" dirty="0"/>
              <a:t>            }</a:t>
            </a:r>
          </a:p>
          <a:p>
            <a:pPr marL="0" indent="0">
              <a:buNone/>
            </a:pPr>
            <a:r>
              <a:rPr lang="es-ES" sz="4500" i="1" dirty="0"/>
              <a:t>        }</a:t>
            </a:r>
          </a:p>
          <a:p>
            <a:pPr marL="0" indent="0">
              <a:buNone/>
            </a:pPr>
            <a:r>
              <a:rPr lang="es-ES" sz="4500" i="1" dirty="0"/>
              <a:t>        </a:t>
            </a:r>
            <a:r>
              <a:rPr lang="es-ES" sz="4500" i="1" dirty="0" err="1"/>
              <a:t>return</a:t>
            </a:r>
            <a:r>
              <a:rPr lang="es-ES" sz="4500" i="1" dirty="0"/>
              <a:t> </a:t>
            </a:r>
            <a:r>
              <a:rPr lang="es-ES" sz="4500" i="1" dirty="0" err="1"/>
              <a:t>list</a:t>
            </a:r>
            <a:r>
              <a:rPr lang="es-ES" sz="4500" i="1" dirty="0"/>
              <a:t>;</a:t>
            </a:r>
          </a:p>
          <a:p>
            <a:pPr marL="0" indent="0">
              <a:buNone/>
            </a:pPr>
            <a:r>
              <a:rPr lang="es-ES" sz="4500" i="1" dirty="0"/>
              <a:t>    }</a:t>
            </a:r>
          </a:p>
          <a:p>
            <a:pPr marL="0" indent="0">
              <a:buNone/>
            </a:pPr>
            <a:endParaRPr lang="es-ES" dirty="0" smtClean="0">
              <a:solidFill>
                <a:srgbClr val="0070C0"/>
              </a:solidFill>
            </a:endParaRPr>
          </a:p>
        </p:txBody>
      </p:sp>
    </p:spTree>
    <p:extLst>
      <p:ext uri="{BB962C8B-B14F-4D97-AF65-F5344CB8AC3E}">
        <p14:creationId xmlns:p14="http://schemas.microsoft.com/office/powerpoint/2010/main" val="29649829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850106"/>
          </a:xfrm>
        </p:spPr>
        <p:txBody>
          <a:bodyPr/>
          <a:lstStyle/>
          <a:p>
            <a:r>
              <a:rPr lang="es-AR" b="1" dirty="0">
                <a:solidFill>
                  <a:srgbClr val="0070C0"/>
                </a:solidFill>
              </a:rPr>
              <a:t>Estructuras de Datos</a:t>
            </a:r>
            <a:endParaRPr lang="es-AR" dirty="0"/>
          </a:p>
        </p:txBody>
      </p:sp>
      <p:sp>
        <p:nvSpPr>
          <p:cNvPr id="3" name="2 Marcador de contenido"/>
          <p:cNvSpPr>
            <a:spLocks noGrp="1"/>
          </p:cNvSpPr>
          <p:nvPr>
            <p:ph idx="1"/>
          </p:nvPr>
        </p:nvSpPr>
        <p:spPr>
          <a:xfrm>
            <a:off x="457200" y="1124744"/>
            <a:ext cx="8229600" cy="5400600"/>
          </a:xfrm>
        </p:spPr>
        <p:txBody>
          <a:bodyPr>
            <a:normAutofit fontScale="62500" lnSpcReduction="20000"/>
          </a:bodyPr>
          <a:lstStyle/>
          <a:p>
            <a:pPr marL="0" indent="0" algn="ctr">
              <a:buNone/>
            </a:pPr>
            <a:r>
              <a:rPr lang="es-ES" sz="5100" b="1" dirty="0">
                <a:solidFill>
                  <a:srgbClr val="0070C0"/>
                </a:solidFill>
              </a:rPr>
              <a:t>Ordenamiento por </a:t>
            </a:r>
            <a:r>
              <a:rPr lang="es-ES" sz="5100" b="1" dirty="0" err="1" smtClean="0">
                <a:solidFill>
                  <a:srgbClr val="0070C0"/>
                </a:solidFill>
              </a:rPr>
              <a:t>Insercion</a:t>
            </a:r>
            <a:r>
              <a:rPr lang="es-ES" sz="5100" b="1" dirty="0" smtClean="0">
                <a:solidFill>
                  <a:srgbClr val="0070C0"/>
                </a:solidFill>
              </a:rPr>
              <a:t> </a:t>
            </a:r>
            <a:r>
              <a:rPr lang="es-ES" sz="5100" b="1" dirty="0">
                <a:solidFill>
                  <a:srgbClr val="0070C0"/>
                </a:solidFill>
              </a:rPr>
              <a:t>en Java</a:t>
            </a:r>
          </a:p>
          <a:p>
            <a:pPr marL="0" indent="0">
              <a:buNone/>
            </a:pPr>
            <a:endParaRPr lang="es-ES" dirty="0" smtClean="0"/>
          </a:p>
          <a:p>
            <a:pPr marL="0" indent="0">
              <a:buNone/>
            </a:pPr>
            <a:r>
              <a:rPr lang="es-ES" i="1" dirty="0" err="1"/>
              <a:t>public</a:t>
            </a:r>
            <a:r>
              <a:rPr lang="es-ES" i="1" dirty="0"/>
              <a:t> </a:t>
            </a:r>
            <a:r>
              <a:rPr lang="es-ES" i="1" dirty="0" err="1"/>
              <a:t>static</a:t>
            </a:r>
            <a:r>
              <a:rPr lang="es-ES" i="1" dirty="0"/>
              <a:t> </a:t>
            </a:r>
            <a:r>
              <a:rPr lang="es-ES" i="1" dirty="0" err="1"/>
              <a:t>void</a:t>
            </a:r>
            <a:r>
              <a:rPr lang="es-ES" i="1" dirty="0"/>
              <a:t> </a:t>
            </a:r>
            <a:r>
              <a:rPr lang="es-ES" i="1" dirty="0" err="1"/>
              <a:t>insercionDirecta</a:t>
            </a:r>
            <a:r>
              <a:rPr lang="es-ES" i="1" dirty="0"/>
              <a:t>(</a:t>
            </a:r>
            <a:r>
              <a:rPr lang="es-ES" i="1" dirty="0" err="1"/>
              <a:t>int</a:t>
            </a:r>
            <a:r>
              <a:rPr lang="es-ES" i="1" dirty="0"/>
              <a:t> A[]){                                            </a:t>
            </a:r>
          </a:p>
          <a:p>
            <a:pPr marL="0" indent="0">
              <a:buNone/>
            </a:pPr>
            <a:r>
              <a:rPr lang="es-ES" i="1" dirty="0"/>
              <a:t>    </a:t>
            </a:r>
            <a:r>
              <a:rPr lang="es-ES" i="1" dirty="0" err="1"/>
              <a:t>int</a:t>
            </a:r>
            <a:r>
              <a:rPr lang="es-ES" i="1" dirty="0"/>
              <a:t> p, j;</a:t>
            </a:r>
          </a:p>
          <a:p>
            <a:pPr marL="0" indent="0">
              <a:buNone/>
            </a:pPr>
            <a:r>
              <a:rPr lang="es-ES" i="1" dirty="0"/>
              <a:t>    </a:t>
            </a:r>
            <a:r>
              <a:rPr lang="es-ES" i="1" dirty="0" err="1"/>
              <a:t>int</a:t>
            </a:r>
            <a:r>
              <a:rPr lang="es-ES" i="1" dirty="0"/>
              <a:t> </a:t>
            </a:r>
            <a:r>
              <a:rPr lang="es-ES" i="1" dirty="0" err="1"/>
              <a:t>aux</a:t>
            </a:r>
            <a:r>
              <a:rPr lang="es-ES" i="1" dirty="0"/>
              <a:t>;</a:t>
            </a:r>
          </a:p>
          <a:p>
            <a:pPr marL="0" indent="0">
              <a:buNone/>
            </a:pPr>
            <a:r>
              <a:rPr lang="es-ES" i="1" dirty="0"/>
              <a:t>    </a:t>
            </a:r>
            <a:r>
              <a:rPr lang="es-ES" i="1" dirty="0" err="1"/>
              <a:t>for</a:t>
            </a:r>
            <a:r>
              <a:rPr lang="es-ES" i="1" dirty="0"/>
              <a:t> (p = 1; p &lt; </a:t>
            </a:r>
            <a:r>
              <a:rPr lang="es-ES" i="1" dirty="0" err="1"/>
              <a:t>A.length</a:t>
            </a:r>
            <a:r>
              <a:rPr lang="es-ES" i="1" dirty="0"/>
              <a:t>; p++){ // desde el segundo elemento hasta</a:t>
            </a:r>
          </a:p>
          <a:p>
            <a:pPr marL="0" indent="0">
              <a:buNone/>
            </a:pPr>
            <a:r>
              <a:rPr lang="es-ES" i="1" dirty="0"/>
              <a:t>              </a:t>
            </a:r>
            <a:r>
              <a:rPr lang="es-ES" i="1" dirty="0" err="1"/>
              <a:t>aux</a:t>
            </a:r>
            <a:r>
              <a:rPr lang="es-ES" i="1" dirty="0"/>
              <a:t> = A[p];           // el final, guardamos el elemento y</a:t>
            </a:r>
          </a:p>
          <a:p>
            <a:pPr marL="0" indent="0">
              <a:buNone/>
            </a:pPr>
            <a:r>
              <a:rPr lang="es-ES" i="1" dirty="0"/>
              <a:t>              j = p - 1;            // empezamos a comprobar con el anterior</a:t>
            </a:r>
          </a:p>
          <a:p>
            <a:pPr marL="0" indent="0">
              <a:buNone/>
            </a:pPr>
            <a:r>
              <a:rPr lang="es-ES" i="1" dirty="0"/>
              <a:t>              </a:t>
            </a:r>
            <a:r>
              <a:rPr lang="es-ES" i="1" dirty="0" err="1"/>
              <a:t>while</a:t>
            </a:r>
            <a:r>
              <a:rPr lang="es-ES" i="1" dirty="0"/>
              <a:t> ((j &gt;= 0) &amp;&amp; (</a:t>
            </a:r>
            <a:r>
              <a:rPr lang="es-ES" i="1" dirty="0" err="1"/>
              <a:t>aux</a:t>
            </a:r>
            <a:r>
              <a:rPr lang="es-ES" i="1" dirty="0"/>
              <a:t> &lt; A[j])){ // mientras queden posiciones y el </a:t>
            </a:r>
            <a:r>
              <a:rPr lang="es-ES" i="1" dirty="0" smtClean="0"/>
              <a:t>       </a:t>
            </a:r>
            <a:endParaRPr lang="es-ES" i="1" dirty="0"/>
          </a:p>
          <a:p>
            <a:pPr marL="0" indent="0">
              <a:buNone/>
            </a:pPr>
            <a:r>
              <a:rPr lang="es-ES" i="1" dirty="0"/>
              <a:t>                                                // valor de </a:t>
            </a:r>
            <a:r>
              <a:rPr lang="es-ES" i="1" dirty="0" err="1"/>
              <a:t>aux</a:t>
            </a:r>
            <a:r>
              <a:rPr lang="es-ES" i="1" dirty="0"/>
              <a:t> sea menor que los</a:t>
            </a:r>
          </a:p>
          <a:p>
            <a:pPr marL="0" indent="0">
              <a:buNone/>
            </a:pPr>
            <a:r>
              <a:rPr lang="es-ES" i="1" dirty="0"/>
              <a:t>                             A[j + 1] = A[j];   // de la izquierda, se desplaza a</a:t>
            </a:r>
          </a:p>
          <a:p>
            <a:pPr marL="0" indent="0">
              <a:buNone/>
            </a:pPr>
            <a:r>
              <a:rPr lang="es-ES" i="1" dirty="0"/>
              <a:t>                             j--;               // la derecha</a:t>
            </a:r>
          </a:p>
          <a:p>
            <a:pPr marL="0" indent="0">
              <a:buNone/>
            </a:pPr>
            <a:r>
              <a:rPr lang="es-ES" i="1" dirty="0"/>
              <a:t>              }</a:t>
            </a:r>
          </a:p>
          <a:p>
            <a:pPr marL="0" indent="0">
              <a:buNone/>
            </a:pPr>
            <a:r>
              <a:rPr lang="es-ES" i="1" dirty="0"/>
              <a:t>              A[j + 1] = </a:t>
            </a:r>
            <a:r>
              <a:rPr lang="es-ES" i="1" dirty="0" err="1"/>
              <a:t>aux</a:t>
            </a:r>
            <a:r>
              <a:rPr lang="es-ES" i="1" dirty="0"/>
              <a:t>;       // colocamos </a:t>
            </a:r>
            <a:r>
              <a:rPr lang="es-ES" i="1" dirty="0" err="1"/>
              <a:t>aux</a:t>
            </a:r>
            <a:r>
              <a:rPr lang="es-ES" i="1" dirty="0"/>
              <a:t> en su sitio</a:t>
            </a:r>
          </a:p>
          <a:p>
            <a:pPr marL="0" indent="0">
              <a:buNone/>
            </a:pPr>
            <a:r>
              <a:rPr lang="es-ES" i="1" dirty="0"/>
              <a:t>    }</a:t>
            </a:r>
          </a:p>
          <a:p>
            <a:pPr marL="0" indent="0">
              <a:buNone/>
            </a:pPr>
            <a:r>
              <a:rPr lang="es-ES" i="1" dirty="0"/>
              <a:t>}</a:t>
            </a:r>
            <a:endParaRPr lang="es-AR" i="1" dirty="0"/>
          </a:p>
        </p:txBody>
      </p:sp>
    </p:spTree>
    <p:extLst>
      <p:ext uri="{BB962C8B-B14F-4D97-AF65-F5344CB8AC3E}">
        <p14:creationId xmlns:p14="http://schemas.microsoft.com/office/powerpoint/2010/main" val="1011951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normAutofit fontScale="85000" lnSpcReduction="10000"/>
          </a:bodyPr>
          <a:lstStyle/>
          <a:p>
            <a:pPr marL="0" indent="0" algn="ctr">
              <a:buNone/>
            </a:pPr>
            <a:r>
              <a:rPr lang="es-AR" dirty="0" smtClean="0">
                <a:solidFill>
                  <a:srgbClr val="0070C0"/>
                </a:solidFill>
              </a:rPr>
              <a:t>El </a:t>
            </a:r>
            <a:r>
              <a:rPr lang="es-AR" dirty="0" err="1" smtClean="0">
                <a:solidFill>
                  <a:srgbClr val="0070C0"/>
                </a:solidFill>
              </a:rPr>
              <a:t>probema</a:t>
            </a:r>
            <a:r>
              <a:rPr lang="es-AR" dirty="0" smtClean="0">
                <a:solidFill>
                  <a:srgbClr val="0070C0"/>
                </a:solidFill>
              </a:rPr>
              <a:t> de los arreglos</a:t>
            </a:r>
            <a:endParaRPr lang="es-ES" dirty="0" smtClean="0">
              <a:solidFill>
                <a:srgbClr val="0070C0"/>
              </a:solidFill>
            </a:endParaRPr>
          </a:p>
          <a:p>
            <a:r>
              <a:rPr lang="es-ES" dirty="0" smtClean="0"/>
              <a:t>Tienen una capacidad de almacenamiento determinada y no modificable</a:t>
            </a:r>
          </a:p>
          <a:p>
            <a:r>
              <a:rPr lang="es-ES" dirty="0" smtClean="0"/>
              <a:t>Una solución sería utilizar arreglos “lo suficientemente grandes”, desperdiciando espacio de memoria</a:t>
            </a:r>
          </a:p>
          <a:p>
            <a:r>
              <a:rPr lang="es-ES" dirty="0" smtClean="0"/>
              <a:t> La inserción de un objeto al principio del arreglo, sin sobrescribir el primer espacio, se torna mas complicada, pues debemos correr en un espacio a la derecha a todo el resto de los datos</a:t>
            </a:r>
          </a:p>
          <a:p>
            <a:r>
              <a:rPr lang="es-ES" dirty="0" smtClean="0"/>
              <a:t> Es decir, los arreglos no manejan los datos de forma dinámica. </a:t>
            </a:r>
            <a:endParaRPr lang="es-ES" dirty="0"/>
          </a:p>
        </p:txBody>
      </p:sp>
    </p:spTree>
    <p:extLst>
      <p:ext uri="{BB962C8B-B14F-4D97-AF65-F5344CB8AC3E}">
        <p14:creationId xmlns:p14="http://schemas.microsoft.com/office/powerpoint/2010/main" val="7441799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normAutofit/>
          </a:bodyPr>
          <a:lstStyle/>
          <a:p>
            <a:pPr marL="0" indent="0" algn="ctr">
              <a:buNone/>
            </a:pPr>
            <a:r>
              <a:rPr lang="es-AR" dirty="0" smtClean="0">
                <a:solidFill>
                  <a:srgbClr val="0070C0"/>
                </a:solidFill>
              </a:rPr>
              <a:t>La Lista Enlazada</a:t>
            </a:r>
            <a:endParaRPr lang="es-ES" dirty="0" smtClean="0">
              <a:solidFill>
                <a:srgbClr val="0070C0"/>
              </a:solidFill>
            </a:endParaRPr>
          </a:p>
          <a:p>
            <a:pPr marL="0" indent="0" algn="ctr">
              <a:buNone/>
            </a:pPr>
            <a:endParaRPr lang="es-ES" dirty="0" smtClean="0"/>
          </a:p>
          <a:p>
            <a:pPr marL="0" indent="0" algn="ctr">
              <a:buNone/>
            </a:pPr>
            <a:r>
              <a:rPr lang="es-ES" dirty="0" smtClean="0"/>
              <a:t>Solución al problema de los arreglos</a:t>
            </a:r>
          </a:p>
          <a:p>
            <a:pPr algn="ctr"/>
            <a:endParaRPr lang="es-ES" dirty="0" smtClean="0"/>
          </a:p>
          <a:p>
            <a:pPr marL="0" indent="0" algn="ctr">
              <a:buNone/>
            </a:pPr>
            <a:r>
              <a:rPr lang="es-ES" dirty="0" smtClean="0"/>
              <a:t>Es una estructura de datos basadas en punteros</a:t>
            </a:r>
          </a:p>
          <a:p>
            <a:pPr marL="0" indent="0">
              <a:buNone/>
            </a:pPr>
            <a:r>
              <a:rPr lang="es-ES" dirty="0" smtClean="0"/>
              <a:t>	</a:t>
            </a:r>
            <a:endParaRPr lang="es-ES" dirty="0"/>
          </a:p>
        </p:txBody>
      </p:sp>
    </p:spTree>
    <p:extLst>
      <p:ext uri="{BB962C8B-B14F-4D97-AF65-F5344CB8AC3E}">
        <p14:creationId xmlns:p14="http://schemas.microsoft.com/office/powerpoint/2010/main" val="2681588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normAutofit fontScale="77500" lnSpcReduction="20000"/>
          </a:bodyPr>
          <a:lstStyle/>
          <a:p>
            <a:pPr marL="0" indent="0" algn="ctr">
              <a:buNone/>
            </a:pPr>
            <a:r>
              <a:rPr lang="es-ES" dirty="0" smtClean="0">
                <a:solidFill>
                  <a:srgbClr val="0070C0"/>
                </a:solidFill>
              </a:rPr>
              <a:t>Para entender este tipo de estructuras </a:t>
            </a:r>
          </a:p>
          <a:p>
            <a:r>
              <a:rPr lang="es-ES" b="1" dirty="0" smtClean="0"/>
              <a:t>puntero/apuntado</a:t>
            </a:r>
            <a:r>
              <a:rPr lang="es-ES" dirty="0" smtClean="0"/>
              <a:t>: es un espacio en la memoria que almacena una referencia o dirección de memoria. El valor de un puntero puede ser </a:t>
            </a:r>
            <a:r>
              <a:rPr lang="es-ES" dirty="0" err="1" smtClean="0"/>
              <a:t>null</a:t>
            </a:r>
            <a:r>
              <a:rPr lang="es-ES" dirty="0" smtClean="0"/>
              <a:t>, lo que significa actualmente no se refiere a ningún apuntado.</a:t>
            </a:r>
          </a:p>
          <a:p>
            <a:r>
              <a:rPr lang="es-ES" b="1" dirty="0" smtClean="0"/>
              <a:t>referencia</a:t>
            </a:r>
            <a:r>
              <a:rPr lang="es-ES" dirty="0" smtClean="0"/>
              <a:t>: la operación de referencia en un puntero sirve para tener acceso a su apuntado. </a:t>
            </a:r>
          </a:p>
          <a:p>
            <a:r>
              <a:rPr lang="es-ES" b="1" dirty="0" smtClean="0"/>
              <a:t>Asignación de puntero</a:t>
            </a:r>
            <a:r>
              <a:rPr lang="es-ES" dirty="0" smtClean="0"/>
              <a:t>: una operación de asignación entre dos punteros, como p=q, hace que los dos punteros se refieran (o apunten) al mismo apuntado. No se copia dos veces en la memoria al apuntado, sino que los dos punteros almacenan la dirección de memoria del apuntado. </a:t>
            </a:r>
          </a:p>
          <a:p>
            <a:endParaRPr lang="es-ES" dirty="0"/>
          </a:p>
        </p:txBody>
      </p:sp>
    </p:spTree>
    <p:extLst>
      <p:ext uri="{BB962C8B-B14F-4D97-AF65-F5344CB8AC3E}">
        <p14:creationId xmlns:p14="http://schemas.microsoft.com/office/powerpoint/2010/main" val="41092487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normAutofit fontScale="92500"/>
          </a:bodyPr>
          <a:lstStyle/>
          <a:p>
            <a:pPr marL="0" indent="0" algn="ctr">
              <a:buNone/>
            </a:pPr>
            <a:r>
              <a:rPr lang="es-ES" b="1" u="sng" dirty="0" smtClean="0">
                <a:solidFill>
                  <a:srgbClr val="0070C0"/>
                </a:solidFill>
              </a:rPr>
              <a:t>Lista Enlazada Simple</a:t>
            </a:r>
          </a:p>
          <a:p>
            <a:r>
              <a:rPr lang="es-ES" dirty="0" smtClean="0"/>
              <a:t>Es la más fundamental estructura de datos basada en punteros</a:t>
            </a:r>
          </a:p>
          <a:p>
            <a:r>
              <a:rPr lang="es-ES" dirty="0" smtClean="0"/>
              <a:t>Asigna espacio para cada elemento por separado, en su propio bloque de memoria, llamado </a:t>
            </a:r>
            <a:r>
              <a:rPr lang="es-ES" b="1" dirty="0" smtClean="0">
                <a:solidFill>
                  <a:srgbClr val="0070C0"/>
                </a:solidFill>
              </a:rPr>
              <a:t>nodo</a:t>
            </a:r>
          </a:p>
          <a:p>
            <a:r>
              <a:rPr lang="es-ES" dirty="0" smtClean="0"/>
              <a:t>Cada nodo tiene dos atributos: un atributo </a:t>
            </a:r>
            <a:r>
              <a:rPr lang="es-ES" i="1" dirty="0" smtClean="0">
                <a:solidFill>
                  <a:srgbClr val="0070C0"/>
                </a:solidFill>
              </a:rPr>
              <a:t>“contenido”, </a:t>
            </a:r>
            <a:r>
              <a:rPr lang="es-ES" dirty="0" smtClean="0"/>
              <a:t>usado para almacenar un objeto; y otro atributo </a:t>
            </a:r>
            <a:r>
              <a:rPr lang="es-ES" i="1" dirty="0" smtClean="0">
                <a:solidFill>
                  <a:srgbClr val="0070C0"/>
                </a:solidFill>
              </a:rPr>
              <a:t>“siguiente”</a:t>
            </a:r>
            <a:r>
              <a:rPr lang="es-ES" dirty="0" smtClean="0"/>
              <a:t>, usado para hacer referencia al siguiente nodo de la lista. </a:t>
            </a:r>
            <a:endParaRPr lang="es-ES" b="1" dirty="0" smtClean="0">
              <a:solidFill>
                <a:srgbClr val="0070C0"/>
              </a:solidFill>
            </a:endParaRPr>
          </a:p>
          <a:p>
            <a:endParaRPr lang="es-ES" dirty="0"/>
          </a:p>
        </p:txBody>
      </p:sp>
    </p:spTree>
    <p:extLst>
      <p:ext uri="{BB962C8B-B14F-4D97-AF65-F5344CB8AC3E}">
        <p14:creationId xmlns:p14="http://schemas.microsoft.com/office/powerpoint/2010/main" val="26882661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lstStyle/>
          <a:p>
            <a:pPr marL="0" indent="0">
              <a:buNone/>
            </a:pPr>
            <a:endParaRPr lang="es-AR" dirty="0" smtClean="0"/>
          </a:p>
          <a:p>
            <a:pPr marL="0" indent="0">
              <a:buNone/>
            </a:pPr>
            <a:endParaRPr lang="es-AR" dirty="0"/>
          </a:p>
          <a:p>
            <a:pPr marL="0" indent="0">
              <a:buNone/>
            </a:pPr>
            <a:r>
              <a:rPr lang="es-AR" dirty="0"/>
              <a:t>	 </a:t>
            </a:r>
            <a:r>
              <a:rPr lang="es-AR" dirty="0" smtClean="0"/>
              <a:t>   dato    </a:t>
            </a:r>
            <a:r>
              <a:rPr lang="es-AR" dirty="0" err="1" smtClean="0"/>
              <a:t>sig</a:t>
            </a:r>
            <a:endParaRPr lang="es-AR" dirty="0" smtClean="0"/>
          </a:p>
          <a:p>
            <a:pPr marL="0" indent="0">
              <a:buNone/>
            </a:pPr>
            <a:endParaRPr lang="es-AR" dirty="0"/>
          </a:p>
          <a:p>
            <a:pPr marL="0" indent="0">
              <a:buNone/>
            </a:pPr>
            <a:r>
              <a:rPr lang="es-AR" dirty="0" smtClean="0"/>
              <a:t>			    dato    </a:t>
            </a:r>
            <a:r>
              <a:rPr lang="es-AR" dirty="0" err="1" smtClean="0"/>
              <a:t>sig</a:t>
            </a:r>
            <a:endParaRPr lang="es-AR" dirty="0" smtClean="0"/>
          </a:p>
          <a:p>
            <a:pPr marL="0" indent="0">
              <a:buNone/>
            </a:pPr>
            <a:endParaRPr lang="es-AR" dirty="0"/>
          </a:p>
          <a:p>
            <a:pPr marL="0" indent="0">
              <a:buNone/>
            </a:pPr>
            <a:r>
              <a:rPr lang="es-AR" dirty="0" smtClean="0"/>
              <a:t>						dato    </a:t>
            </a:r>
            <a:r>
              <a:rPr lang="es-AR" dirty="0" err="1" smtClean="0"/>
              <a:t>sig</a:t>
            </a:r>
            <a:endParaRPr lang="es-AR" dirty="0" smtClean="0"/>
          </a:p>
          <a:p>
            <a:pPr marL="0" indent="0">
              <a:buNone/>
            </a:pPr>
            <a:endParaRPr lang="es-ES" dirty="0"/>
          </a:p>
        </p:txBody>
      </p:sp>
      <p:sp>
        <p:nvSpPr>
          <p:cNvPr id="4" name="3 Rectángulo redondeado"/>
          <p:cNvSpPr/>
          <p:nvPr/>
        </p:nvSpPr>
        <p:spPr>
          <a:xfrm>
            <a:off x="683568" y="1700808"/>
            <a:ext cx="9144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t>Lista</a:t>
            </a:r>
            <a:endParaRPr lang="es-ES" dirty="0"/>
          </a:p>
        </p:txBody>
      </p:sp>
      <p:sp>
        <p:nvSpPr>
          <p:cNvPr id="5" name="4 Rectángulo redondeado"/>
          <p:cNvSpPr/>
          <p:nvPr/>
        </p:nvSpPr>
        <p:spPr>
          <a:xfrm>
            <a:off x="1597968" y="2611760"/>
            <a:ext cx="1965920" cy="914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7" name="6 Conector recto"/>
          <p:cNvCxnSpPr/>
          <p:nvPr/>
        </p:nvCxnSpPr>
        <p:spPr>
          <a:xfrm>
            <a:off x="2843808" y="2615208"/>
            <a:ext cx="0" cy="914400"/>
          </a:xfrm>
          <a:prstGeom prst="line">
            <a:avLst/>
          </a:prstGeom>
        </p:spPr>
        <p:style>
          <a:lnRef idx="1">
            <a:schemeClr val="accent1"/>
          </a:lnRef>
          <a:fillRef idx="0">
            <a:schemeClr val="accent1"/>
          </a:fillRef>
          <a:effectRef idx="0">
            <a:schemeClr val="accent1"/>
          </a:effectRef>
          <a:fontRef idx="minor">
            <a:schemeClr val="tx1"/>
          </a:fontRef>
        </p:style>
      </p:cxnSp>
      <p:sp>
        <p:nvSpPr>
          <p:cNvPr id="9" name="8 Rectángulo redondeado"/>
          <p:cNvSpPr/>
          <p:nvPr/>
        </p:nvSpPr>
        <p:spPr>
          <a:xfrm>
            <a:off x="3347864" y="3809644"/>
            <a:ext cx="2232248" cy="914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1" name="10 Conector recto"/>
          <p:cNvCxnSpPr/>
          <p:nvPr/>
        </p:nvCxnSpPr>
        <p:spPr>
          <a:xfrm>
            <a:off x="4619034" y="3809644"/>
            <a:ext cx="0" cy="914400"/>
          </a:xfrm>
          <a:prstGeom prst="line">
            <a:avLst/>
          </a:prstGeom>
        </p:spPr>
        <p:style>
          <a:lnRef idx="1">
            <a:schemeClr val="accent1"/>
          </a:lnRef>
          <a:fillRef idx="0">
            <a:schemeClr val="accent1"/>
          </a:fillRef>
          <a:effectRef idx="0">
            <a:schemeClr val="accent1"/>
          </a:effectRef>
          <a:fontRef idx="minor">
            <a:schemeClr val="tx1"/>
          </a:fontRef>
        </p:style>
      </p:cxnSp>
      <p:sp>
        <p:nvSpPr>
          <p:cNvPr id="13" name="12 Rectángulo redondeado"/>
          <p:cNvSpPr/>
          <p:nvPr/>
        </p:nvSpPr>
        <p:spPr>
          <a:xfrm>
            <a:off x="5868144" y="4941168"/>
            <a:ext cx="1965920" cy="914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5" name="14 Conector recto"/>
          <p:cNvCxnSpPr/>
          <p:nvPr/>
        </p:nvCxnSpPr>
        <p:spPr>
          <a:xfrm>
            <a:off x="7020272" y="4941168"/>
            <a:ext cx="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de flecha"/>
          <p:cNvCxnSpPr>
            <a:stCxn id="4" idx="2"/>
            <a:endCxn id="5" idx="1"/>
          </p:cNvCxnSpPr>
          <p:nvPr/>
        </p:nvCxnSpPr>
        <p:spPr>
          <a:xfrm>
            <a:off x="1140768" y="2615208"/>
            <a:ext cx="457200" cy="45375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a:endCxn id="9" idx="1"/>
          </p:cNvCxnSpPr>
          <p:nvPr/>
        </p:nvCxnSpPr>
        <p:spPr>
          <a:xfrm>
            <a:off x="3131840" y="3529608"/>
            <a:ext cx="216024" cy="737236"/>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1" name="20 Conector recto de flecha"/>
          <p:cNvCxnSpPr/>
          <p:nvPr/>
        </p:nvCxnSpPr>
        <p:spPr>
          <a:xfrm>
            <a:off x="5076056" y="4724044"/>
            <a:ext cx="792088" cy="7931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12447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normAutofit fontScale="92500" lnSpcReduction="20000"/>
          </a:bodyPr>
          <a:lstStyle/>
          <a:p>
            <a:pPr marL="0" indent="0">
              <a:buNone/>
            </a:pPr>
            <a:r>
              <a:rPr lang="es-AR" b="1" dirty="0" smtClean="0"/>
              <a:t>Ejemplo</a:t>
            </a:r>
          </a:p>
          <a:p>
            <a:pPr marL="0" indent="0">
              <a:buNone/>
            </a:pPr>
            <a:r>
              <a:rPr lang="es-AR" b="1" dirty="0"/>
              <a:t>	</a:t>
            </a:r>
            <a:r>
              <a:rPr lang="en-US" dirty="0" smtClean="0"/>
              <a:t>CLASE </a:t>
            </a:r>
            <a:r>
              <a:rPr lang="en-US" dirty="0" err="1" smtClean="0"/>
              <a:t>Nodo</a:t>
            </a:r>
            <a:r>
              <a:rPr lang="en-US" dirty="0" smtClean="0"/>
              <a:t/>
            </a:r>
            <a:br>
              <a:rPr lang="en-US" dirty="0" smtClean="0"/>
            </a:br>
            <a:r>
              <a:rPr lang="en-US" dirty="0" smtClean="0"/>
              <a:t>              STRING </a:t>
            </a:r>
            <a:r>
              <a:rPr lang="en-US" dirty="0" err="1"/>
              <a:t>N</a:t>
            </a:r>
            <a:r>
              <a:rPr lang="en-US" dirty="0" err="1" smtClean="0"/>
              <a:t>ombre</a:t>
            </a:r>
            <a:r>
              <a:rPr lang="en-US" dirty="0" smtClean="0"/>
              <a:t/>
            </a:r>
            <a:br>
              <a:rPr lang="en-US" dirty="0" smtClean="0"/>
            </a:br>
            <a:r>
              <a:rPr lang="en-US" dirty="0" smtClean="0"/>
              <a:t>              </a:t>
            </a:r>
            <a:r>
              <a:rPr lang="en-US" dirty="0" err="1" smtClean="0"/>
              <a:t>Nodo</a:t>
            </a:r>
            <a:r>
              <a:rPr lang="en-US" dirty="0" smtClean="0"/>
              <a:t> Sig</a:t>
            </a:r>
            <a:br>
              <a:rPr lang="en-US" dirty="0" smtClean="0"/>
            </a:br>
            <a:r>
              <a:rPr lang="en-US" dirty="0" smtClean="0"/>
              <a:t>           Fin CLASE</a:t>
            </a:r>
            <a:br>
              <a:rPr lang="en-US" dirty="0" smtClean="0"/>
            </a:br>
            <a:r>
              <a:rPr lang="en-US" dirty="0" smtClean="0"/>
              <a:t>           </a:t>
            </a:r>
            <a:r>
              <a:rPr lang="en-US" dirty="0" err="1" smtClean="0"/>
              <a:t>Nodo</a:t>
            </a:r>
            <a:r>
              <a:rPr lang="en-US" dirty="0" smtClean="0"/>
              <a:t> </a:t>
            </a:r>
            <a:r>
              <a:rPr lang="en-US" dirty="0" err="1" smtClean="0"/>
              <a:t>Cliente</a:t>
            </a:r>
            <a:r>
              <a:rPr lang="en-US" dirty="0" smtClean="0"/>
              <a:t> </a:t>
            </a:r>
            <a:r>
              <a:rPr lang="en-US" dirty="0"/>
              <a:t>= </a:t>
            </a:r>
            <a:r>
              <a:rPr lang="en-US" dirty="0" smtClean="0"/>
              <a:t>NULL</a:t>
            </a:r>
          </a:p>
          <a:p>
            <a:pPr marL="0" indent="0">
              <a:buNone/>
            </a:pPr>
            <a:r>
              <a:rPr lang="en-US" b="1" dirty="0"/>
              <a:t>	</a:t>
            </a:r>
            <a:r>
              <a:rPr lang="en-US" b="1" dirty="0" smtClean="0"/>
              <a:t> </a:t>
            </a:r>
            <a:r>
              <a:rPr lang="en-US" dirty="0" err="1" smtClean="0"/>
              <a:t>Cliente</a:t>
            </a:r>
            <a:r>
              <a:rPr lang="en-US" dirty="0" smtClean="0"/>
              <a:t> = NEW </a:t>
            </a:r>
            <a:r>
              <a:rPr lang="en-US" dirty="0" err="1" smtClean="0"/>
              <a:t>Nodo</a:t>
            </a:r>
            <a:endParaRPr lang="en-US" dirty="0" smtClean="0"/>
          </a:p>
          <a:p>
            <a:pPr marL="0" indent="0">
              <a:buNone/>
            </a:pPr>
            <a:r>
              <a:rPr lang="en-US" dirty="0" smtClean="0"/>
              <a:t>            </a:t>
            </a:r>
            <a:r>
              <a:rPr lang="en-US" dirty="0" err="1" smtClean="0"/>
              <a:t>Cliente.Nombre</a:t>
            </a:r>
            <a:r>
              <a:rPr lang="en-US" dirty="0" smtClean="0"/>
              <a:t> = “</a:t>
            </a:r>
            <a:r>
              <a:rPr lang="en-US" dirty="0" err="1" smtClean="0"/>
              <a:t>Rafa</a:t>
            </a:r>
            <a:r>
              <a:rPr lang="en-US" dirty="0" smtClean="0"/>
              <a:t>“</a:t>
            </a:r>
          </a:p>
          <a:p>
            <a:pPr marL="0" indent="0">
              <a:buNone/>
            </a:pPr>
            <a:r>
              <a:rPr lang="en-US" dirty="0" smtClean="0"/>
              <a:t>            </a:t>
            </a:r>
            <a:r>
              <a:rPr lang="en-US" dirty="0" err="1" smtClean="0"/>
              <a:t>Cliente.Sig</a:t>
            </a:r>
            <a:r>
              <a:rPr lang="en-US" dirty="0" smtClean="0"/>
              <a:t> = NULL</a:t>
            </a:r>
            <a:br>
              <a:rPr lang="en-US" dirty="0" smtClean="0"/>
            </a:br>
            <a:endParaRPr lang="es-ES" b="1" dirty="0"/>
          </a:p>
        </p:txBody>
      </p:sp>
    </p:spTree>
    <p:extLst>
      <p:ext uri="{BB962C8B-B14F-4D97-AF65-F5344CB8AC3E}">
        <p14:creationId xmlns:p14="http://schemas.microsoft.com/office/powerpoint/2010/main" val="14603361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lstStyle/>
          <a:p>
            <a:pPr marL="0" indent="0">
              <a:buNone/>
            </a:pPr>
            <a:r>
              <a:rPr lang="es-AR" b="1" dirty="0" smtClean="0"/>
              <a:t>Ejemplo C</a:t>
            </a:r>
            <a:endParaRPr lang="es-ES" b="1" dirty="0" smtClean="0"/>
          </a:p>
          <a:p>
            <a:pPr marL="0" indent="0">
              <a:buNone/>
            </a:pPr>
            <a:r>
              <a:rPr lang="es-ES" dirty="0" err="1" smtClean="0"/>
              <a:t>struct</a:t>
            </a:r>
            <a:r>
              <a:rPr lang="es-ES" dirty="0" smtClean="0"/>
              <a:t> lista { /* lista simple enlazada */ </a:t>
            </a:r>
          </a:p>
          <a:p>
            <a:pPr marL="0" indent="0">
              <a:buNone/>
            </a:pPr>
            <a:r>
              <a:rPr lang="es-ES" dirty="0"/>
              <a:t> </a:t>
            </a:r>
            <a:r>
              <a:rPr lang="es-ES" dirty="0" smtClean="0"/>
              <a:t>  </a:t>
            </a:r>
            <a:r>
              <a:rPr lang="es-ES" dirty="0" err="1" smtClean="0"/>
              <a:t>struct</a:t>
            </a:r>
            <a:r>
              <a:rPr lang="es-ES" dirty="0" smtClean="0"/>
              <a:t> dato datos;</a:t>
            </a:r>
          </a:p>
          <a:p>
            <a:pPr marL="0" indent="0">
              <a:buNone/>
            </a:pPr>
            <a:r>
              <a:rPr lang="es-ES" dirty="0"/>
              <a:t> </a:t>
            </a:r>
            <a:r>
              <a:rPr lang="es-ES" dirty="0" smtClean="0"/>
              <a:t>  </a:t>
            </a:r>
            <a:r>
              <a:rPr lang="es-ES" dirty="0" err="1" smtClean="0"/>
              <a:t>struct</a:t>
            </a:r>
            <a:r>
              <a:rPr lang="es-ES" dirty="0" smtClean="0"/>
              <a:t> lista *</a:t>
            </a:r>
            <a:r>
              <a:rPr lang="es-ES" dirty="0" err="1" smtClean="0"/>
              <a:t>sig</a:t>
            </a:r>
            <a:r>
              <a:rPr lang="es-ES" dirty="0" smtClean="0"/>
              <a:t>;</a:t>
            </a:r>
          </a:p>
          <a:p>
            <a:pPr marL="0" indent="0">
              <a:buNone/>
            </a:pPr>
            <a:r>
              <a:rPr lang="es-ES" dirty="0" smtClean="0"/>
              <a:t>};</a:t>
            </a:r>
          </a:p>
          <a:p>
            <a:pPr marL="0" indent="0">
              <a:buNone/>
            </a:pPr>
            <a:r>
              <a:rPr lang="es-ES" dirty="0" err="1" smtClean="0"/>
              <a:t>struct</a:t>
            </a:r>
            <a:r>
              <a:rPr lang="es-ES" dirty="0" smtClean="0"/>
              <a:t> lista *L; /* declaración */</a:t>
            </a:r>
          </a:p>
          <a:p>
            <a:pPr marL="0" indent="0">
              <a:buNone/>
            </a:pPr>
            <a:r>
              <a:rPr lang="es-ES" dirty="0"/>
              <a:t>L</a:t>
            </a:r>
            <a:r>
              <a:rPr lang="es-ES" dirty="0" smtClean="0"/>
              <a:t> = NULL; /* inicialización */</a:t>
            </a:r>
            <a:endParaRPr lang="es-ES" dirty="0"/>
          </a:p>
        </p:txBody>
      </p:sp>
    </p:spTree>
    <p:extLst>
      <p:ext uri="{BB962C8B-B14F-4D97-AF65-F5344CB8AC3E}">
        <p14:creationId xmlns:p14="http://schemas.microsoft.com/office/powerpoint/2010/main" val="406332060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solidFill>
                  <a:srgbClr val="0070C0"/>
                </a:solidFill>
              </a:rPr>
              <a:t>Estructuras de Datos</a:t>
            </a:r>
            <a:endParaRPr lang="es-ES" dirty="0"/>
          </a:p>
        </p:txBody>
      </p:sp>
      <p:sp>
        <p:nvSpPr>
          <p:cNvPr id="3" name="2 Marcador de contenido"/>
          <p:cNvSpPr>
            <a:spLocks noGrp="1"/>
          </p:cNvSpPr>
          <p:nvPr>
            <p:ph idx="1"/>
          </p:nvPr>
        </p:nvSpPr>
        <p:spPr/>
        <p:txBody>
          <a:bodyPr>
            <a:normAutofit fontScale="92500"/>
          </a:bodyPr>
          <a:lstStyle/>
          <a:p>
            <a:pPr marL="0" indent="0" algn="ctr">
              <a:buNone/>
            </a:pPr>
            <a:r>
              <a:rPr lang="es-AR" b="1" dirty="0" smtClean="0">
                <a:solidFill>
                  <a:srgbClr val="0070C0"/>
                </a:solidFill>
              </a:rPr>
              <a:t>PILAS y COLAS</a:t>
            </a:r>
          </a:p>
          <a:p>
            <a:r>
              <a:rPr lang="es-ES" dirty="0" smtClean="0"/>
              <a:t>La Pila es una estructura de datos muy simple. Los datos se carga uno adelante del otro , el primer elemento a retirara será el último introducido. UEPS o LIFO</a:t>
            </a:r>
          </a:p>
          <a:p>
            <a:r>
              <a:rPr lang="es-ES" dirty="0" smtClean="0"/>
              <a:t>La idea de la cola es simular el funcionamiento de una cola de la vida real, así cada elemento se carga atrás del otro, el primer elemento a retirara será el primero introducido. PEPS o FIFO</a:t>
            </a:r>
          </a:p>
          <a:p>
            <a:endParaRPr lang="es-ES" b="1" dirty="0"/>
          </a:p>
        </p:txBody>
      </p:sp>
    </p:spTree>
    <p:extLst>
      <p:ext uri="{BB962C8B-B14F-4D97-AF65-F5344CB8AC3E}">
        <p14:creationId xmlns:p14="http://schemas.microsoft.com/office/powerpoint/2010/main" val="9390161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a:solidFill>
                  <a:srgbClr val="0070C0"/>
                </a:solidFill>
              </a:rPr>
              <a:t>Estructuras de Datos</a:t>
            </a:r>
            <a:endParaRPr lang="es-AR" dirty="0"/>
          </a:p>
        </p:txBody>
      </p:sp>
      <p:sp>
        <p:nvSpPr>
          <p:cNvPr id="3" name="2 Marcador de contenido"/>
          <p:cNvSpPr>
            <a:spLocks noGrp="1"/>
          </p:cNvSpPr>
          <p:nvPr>
            <p:ph idx="1"/>
          </p:nvPr>
        </p:nvSpPr>
        <p:spPr/>
        <p:txBody>
          <a:bodyPr/>
          <a:lstStyle/>
          <a:p>
            <a:pPr marL="0" indent="0" algn="ctr">
              <a:buNone/>
            </a:pPr>
            <a:r>
              <a:rPr lang="es-ES" b="1" dirty="0" err="1" smtClean="0">
                <a:solidFill>
                  <a:srgbClr val="0070C0"/>
                </a:solidFill>
              </a:rPr>
              <a:t>Arbol</a:t>
            </a:r>
            <a:r>
              <a:rPr lang="es-ES" b="1" dirty="0" smtClean="0">
                <a:solidFill>
                  <a:srgbClr val="0070C0"/>
                </a:solidFill>
              </a:rPr>
              <a:t> binario</a:t>
            </a:r>
          </a:p>
          <a:p>
            <a:r>
              <a:rPr lang="es-ES" dirty="0" smtClean="0"/>
              <a:t>Es una estructura de datos en la cual cada elemento apunta a dos nodos, llamados hijos.</a:t>
            </a:r>
          </a:p>
          <a:p>
            <a:r>
              <a:rPr lang="es-ES" dirty="0" smtClean="0"/>
              <a:t>No puede tener mas de dos hijos (de </a:t>
            </a:r>
            <a:r>
              <a:rPr lang="es-ES" dirty="0" err="1" smtClean="0"/>
              <a:t>alli</a:t>
            </a:r>
            <a:r>
              <a:rPr lang="es-ES" dirty="0" smtClean="0"/>
              <a:t> lo de binario)</a:t>
            </a:r>
          </a:p>
          <a:p>
            <a:r>
              <a:rPr lang="es-ES" dirty="0" smtClean="0"/>
              <a:t>Si el apuntador a alguno de los hijos es nulo se denomina nodo externo. Sino es un nodo interno.</a:t>
            </a:r>
            <a:endParaRPr lang="es-AR" dirty="0"/>
          </a:p>
        </p:txBody>
      </p:sp>
    </p:spTree>
    <p:extLst>
      <p:ext uri="{BB962C8B-B14F-4D97-AF65-F5344CB8AC3E}">
        <p14:creationId xmlns:p14="http://schemas.microsoft.com/office/powerpoint/2010/main" val="26244312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a:solidFill>
                  <a:srgbClr val="0070C0"/>
                </a:solidFill>
              </a:rPr>
              <a:t>Estructuras de Datos</a:t>
            </a:r>
            <a:endParaRPr lang="es-AR" dirty="0"/>
          </a:p>
        </p:txBody>
      </p:sp>
      <p:sp>
        <p:nvSpPr>
          <p:cNvPr id="3" name="2 Marcador de contenido"/>
          <p:cNvSpPr>
            <a:spLocks noGrp="1"/>
          </p:cNvSpPr>
          <p:nvPr>
            <p:ph idx="1"/>
          </p:nvPr>
        </p:nvSpPr>
        <p:spPr/>
        <p:txBody>
          <a:bodyPr>
            <a:normAutofit lnSpcReduction="10000"/>
          </a:bodyPr>
          <a:lstStyle/>
          <a:p>
            <a:pPr marL="0" indent="0" algn="ctr">
              <a:buNone/>
            </a:pPr>
            <a:r>
              <a:rPr lang="es-ES" b="1" dirty="0" err="1" smtClean="0">
                <a:solidFill>
                  <a:srgbClr val="0070C0"/>
                </a:solidFill>
              </a:rPr>
              <a:t>Arbol</a:t>
            </a:r>
            <a:r>
              <a:rPr lang="es-ES" b="1" smtClean="0">
                <a:solidFill>
                  <a:srgbClr val="0070C0"/>
                </a:solidFill>
              </a:rPr>
              <a:t> Binario </a:t>
            </a:r>
            <a:r>
              <a:rPr lang="es-ES" b="1" dirty="0" smtClean="0">
                <a:solidFill>
                  <a:srgbClr val="0070C0"/>
                </a:solidFill>
              </a:rPr>
              <a:t>de </a:t>
            </a:r>
            <a:r>
              <a:rPr lang="es-ES" b="1" dirty="0" err="1" smtClean="0">
                <a:solidFill>
                  <a:srgbClr val="0070C0"/>
                </a:solidFill>
              </a:rPr>
              <a:t>Busqueda</a:t>
            </a:r>
            <a:endParaRPr lang="es-ES" b="1" dirty="0" smtClean="0">
              <a:solidFill>
                <a:srgbClr val="0070C0"/>
              </a:solidFill>
            </a:endParaRPr>
          </a:p>
          <a:p>
            <a:r>
              <a:rPr lang="es-ES" dirty="0" smtClean="0"/>
              <a:t>Es un árbol binario donde los datos del subárbol izquierdo de cualquier nodo o está vacío o contiene valores menores que los que contiene dicho nodo.</a:t>
            </a:r>
          </a:p>
          <a:p>
            <a:r>
              <a:rPr lang="es-ES" dirty="0" smtClean="0"/>
              <a:t>De la misma maneras </a:t>
            </a:r>
            <a:r>
              <a:rPr lang="es-ES" dirty="0"/>
              <a:t>los datos del subárbol </a:t>
            </a:r>
            <a:r>
              <a:rPr lang="es-ES" dirty="0" smtClean="0"/>
              <a:t>derecho </a:t>
            </a:r>
            <a:r>
              <a:rPr lang="es-ES" dirty="0"/>
              <a:t>de cualquier nodo o está vacío o contiene valores </a:t>
            </a:r>
            <a:r>
              <a:rPr lang="es-ES" dirty="0" smtClean="0"/>
              <a:t>mayores los que </a:t>
            </a:r>
            <a:r>
              <a:rPr lang="es-ES" dirty="0"/>
              <a:t>contiene dicho nodo.</a:t>
            </a:r>
          </a:p>
        </p:txBody>
      </p:sp>
    </p:spTree>
    <p:extLst>
      <p:ext uri="{BB962C8B-B14F-4D97-AF65-F5344CB8AC3E}">
        <p14:creationId xmlns:p14="http://schemas.microsoft.com/office/powerpoint/2010/main" val="40270026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p:txBody>
          <a:bodyPr>
            <a:normAutofit fontScale="77500" lnSpcReduction="20000"/>
          </a:bodyPr>
          <a:lstStyle/>
          <a:p>
            <a:pPr marL="0" indent="0">
              <a:buNone/>
            </a:pPr>
            <a:r>
              <a:rPr lang="es-AR" dirty="0" err="1"/>
              <a:t>public</a:t>
            </a:r>
            <a:r>
              <a:rPr lang="es-AR" dirty="0"/>
              <a:t> </a:t>
            </a:r>
            <a:r>
              <a:rPr lang="es-AR" dirty="0" err="1"/>
              <a:t>class</a:t>
            </a:r>
            <a:r>
              <a:rPr lang="es-AR" dirty="0"/>
              <a:t> </a:t>
            </a:r>
            <a:r>
              <a:rPr lang="es-AR" dirty="0" err="1"/>
              <a:t>ArbolBinarioOrdenado</a:t>
            </a:r>
            <a:r>
              <a:rPr lang="es-AR" dirty="0"/>
              <a:t> {</a:t>
            </a:r>
          </a:p>
          <a:p>
            <a:pPr marL="0" indent="0">
              <a:buNone/>
            </a:pPr>
            <a:r>
              <a:rPr lang="es-AR" dirty="0" smtClean="0"/>
              <a:t>   </a:t>
            </a:r>
            <a:r>
              <a:rPr lang="es-AR" dirty="0" err="1"/>
              <a:t>class</a:t>
            </a:r>
            <a:r>
              <a:rPr lang="es-AR" dirty="0"/>
              <a:t> Nodo</a:t>
            </a:r>
          </a:p>
          <a:p>
            <a:pPr marL="0" indent="0">
              <a:buNone/>
            </a:pPr>
            <a:r>
              <a:rPr lang="es-AR" dirty="0"/>
              <a:t>      {</a:t>
            </a:r>
          </a:p>
          <a:p>
            <a:pPr marL="0" indent="0">
              <a:buNone/>
            </a:pPr>
            <a:r>
              <a:rPr lang="es-AR" dirty="0"/>
              <a:t>        </a:t>
            </a:r>
            <a:r>
              <a:rPr lang="es-AR" dirty="0" err="1"/>
              <a:t>int</a:t>
            </a:r>
            <a:r>
              <a:rPr lang="es-AR" dirty="0"/>
              <a:t> </a:t>
            </a:r>
            <a:r>
              <a:rPr lang="es-AR" dirty="0" err="1"/>
              <a:t>info</a:t>
            </a:r>
            <a:r>
              <a:rPr lang="es-AR" dirty="0"/>
              <a:t>;</a:t>
            </a:r>
          </a:p>
          <a:p>
            <a:pPr marL="0" indent="0">
              <a:buNone/>
            </a:pPr>
            <a:r>
              <a:rPr lang="es-AR" dirty="0"/>
              <a:t>        Nodo </a:t>
            </a:r>
            <a:r>
              <a:rPr lang="es-AR" dirty="0" err="1"/>
              <a:t>izq</a:t>
            </a:r>
            <a:r>
              <a:rPr lang="es-AR" dirty="0"/>
              <a:t>, der;</a:t>
            </a:r>
          </a:p>
          <a:p>
            <a:pPr marL="0" indent="0">
              <a:buNone/>
            </a:pPr>
            <a:r>
              <a:rPr lang="es-AR" dirty="0"/>
              <a:t>      }</a:t>
            </a:r>
          </a:p>
          <a:p>
            <a:pPr marL="0" indent="0">
              <a:buNone/>
            </a:pPr>
            <a:r>
              <a:rPr lang="es-AR" dirty="0"/>
              <a:t>      Nodo </a:t>
            </a:r>
            <a:r>
              <a:rPr lang="es-AR" dirty="0" err="1"/>
              <a:t>raiz</a:t>
            </a:r>
            <a:r>
              <a:rPr lang="es-AR" dirty="0"/>
              <a:t>;</a:t>
            </a:r>
          </a:p>
          <a:p>
            <a:pPr marL="0" indent="0">
              <a:buNone/>
            </a:pPr>
            <a:r>
              <a:rPr lang="es-AR" dirty="0"/>
              <a:t> </a:t>
            </a:r>
          </a:p>
          <a:p>
            <a:pPr marL="0" indent="0">
              <a:buNone/>
            </a:pPr>
            <a:r>
              <a:rPr lang="es-AR" dirty="0"/>
              <a:t>      </a:t>
            </a:r>
            <a:r>
              <a:rPr lang="es-AR" dirty="0" err="1"/>
              <a:t>public</a:t>
            </a:r>
            <a:r>
              <a:rPr lang="es-AR" dirty="0"/>
              <a:t> </a:t>
            </a:r>
            <a:r>
              <a:rPr lang="es-AR" dirty="0" err="1"/>
              <a:t>ArbolBinarioOrdenado</a:t>
            </a:r>
            <a:r>
              <a:rPr lang="es-AR" dirty="0"/>
              <a:t>() {</a:t>
            </a:r>
          </a:p>
          <a:p>
            <a:pPr marL="0" indent="0">
              <a:buNone/>
            </a:pPr>
            <a:r>
              <a:rPr lang="es-AR" dirty="0"/>
              <a:t>          </a:t>
            </a:r>
            <a:r>
              <a:rPr lang="es-AR" dirty="0" err="1"/>
              <a:t>raiz</a:t>
            </a:r>
            <a:r>
              <a:rPr lang="es-AR" dirty="0"/>
              <a:t>=</a:t>
            </a:r>
            <a:r>
              <a:rPr lang="es-AR" dirty="0" err="1"/>
              <a:t>null</a:t>
            </a:r>
            <a:r>
              <a:rPr lang="es-AR" dirty="0"/>
              <a:t>;</a:t>
            </a:r>
          </a:p>
          <a:p>
            <a:pPr marL="0" indent="0">
              <a:buNone/>
            </a:pPr>
            <a:r>
              <a:rPr lang="es-AR" dirty="0"/>
              <a:t>      }</a:t>
            </a:r>
          </a:p>
          <a:p>
            <a:endParaRPr lang="es-AR" dirty="0"/>
          </a:p>
        </p:txBody>
      </p:sp>
    </p:spTree>
    <p:extLst>
      <p:ext uri="{BB962C8B-B14F-4D97-AF65-F5344CB8AC3E}">
        <p14:creationId xmlns:p14="http://schemas.microsoft.com/office/powerpoint/2010/main" val="25822532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30026"/>
          </a:xfrm>
        </p:spPr>
        <p:txBody>
          <a:bodyPr>
            <a:normAutofit fontScale="90000"/>
          </a:bodyPr>
          <a:lstStyle/>
          <a:p>
            <a:endParaRPr lang="es-AR" dirty="0"/>
          </a:p>
        </p:txBody>
      </p:sp>
      <p:sp>
        <p:nvSpPr>
          <p:cNvPr id="3" name="2 Marcador de contenido"/>
          <p:cNvSpPr>
            <a:spLocks noGrp="1"/>
          </p:cNvSpPr>
          <p:nvPr>
            <p:ph idx="1"/>
          </p:nvPr>
        </p:nvSpPr>
        <p:spPr>
          <a:xfrm>
            <a:off x="457200" y="548680"/>
            <a:ext cx="8229600" cy="5577483"/>
          </a:xfrm>
        </p:spPr>
        <p:txBody>
          <a:bodyPr>
            <a:normAutofit fontScale="70000" lnSpcReduction="20000"/>
          </a:bodyPr>
          <a:lstStyle/>
          <a:p>
            <a:pPr marL="0" indent="0">
              <a:buNone/>
            </a:pPr>
            <a:r>
              <a:rPr lang="es-AR" dirty="0" err="1" smtClean="0"/>
              <a:t>public</a:t>
            </a:r>
            <a:r>
              <a:rPr lang="es-AR" dirty="0" smtClean="0"/>
              <a:t> </a:t>
            </a:r>
            <a:r>
              <a:rPr lang="es-AR" dirty="0" err="1"/>
              <a:t>static</a:t>
            </a:r>
            <a:r>
              <a:rPr lang="es-AR" dirty="0"/>
              <a:t> </a:t>
            </a:r>
            <a:r>
              <a:rPr lang="es-AR" dirty="0" err="1"/>
              <a:t>void</a:t>
            </a:r>
            <a:r>
              <a:rPr lang="es-AR" dirty="0"/>
              <a:t> </a:t>
            </a:r>
            <a:r>
              <a:rPr lang="es-AR" dirty="0" err="1"/>
              <a:t>main</a:t>
            </a:r>
            <a:r>
              <a:rPr lang="es-AR" dirty="0"/>
              <a:t> (</a:t>
            </a:r>
            <a:r>
              <a:rPr lang="es-AR" dirty="0" err="1"/>
              <a:t>String</a:t>
            </a:r>
            <a:r>
              <a:rPr lang="es-AR" dirty="0"/>
              <a:t> [] </a:t>
            </a:r>
            <a:r>
              <a:rPr lang="es-AR" dirty="0" err="1"/>
              <a:t>ar</a:t>
            </a:r>
            <a:r>
              <a:rPr lang="es-AR" dirty="0"/>
              <a:t>)</a:t>
            </a:r>
          </a:p>
          <a:p>
            <a:pPr marL="0" indent="0">
              <a:buNone/>
            </a:pPr>
            <a:r>
              <a:rPr lang="es-AR" dirty="0"/>
              <a:t>      {</a:t>
            </a:r>
          </a:p>
          <a:p>
            <a:pPr marL="0" indent="0">
              <a:buNone/>
            </a:pPr>
            <a:r>
              <a:rPr lang="es-AR" dirty="0"/>
              <a:t>          </a:t>
            </a:r>
            <a:r>
              <a:rPr lang="es-AR" dirty="0" err="1"/>
              <a:t>ArbolBinarioOrdenado</a:t>
            </a:r>
            <a:r>
              <a:rPr lang="es-AR" dirty="0"/>
              <a:t> </a:t>
            </a:r>
            <a:r>
              <a:rPr lang="es-AR" dirty="0" err="1"/>
              <a:t>abo</a:t>
            </a:r>
            <a:r>
              <a:rPr lang="es-AR" dirty="0"/>
              <a:t> = new </a:t>
            </a:r>
            <a:r>
              <a:rPr lang="es-AR" dirty="0" err="1"/>
              <a:t>ArbolBinarioOrdenado</a:t>
            </a:r>
            <a:r>
              <a:rPr lang="es-AR" dirty="0"/>
              <a:t> ();</a:t>
            </a:r>
          </a:p>
          <a:p>
            <a:pPr marL="0" indent="0">
              <a:buNone/>
            </a:pPr>
            <a:r>
              <a:rPr lang="es-AR" dirty="0"/>
              <a:t>          </a:t>
            </a:r>
            <a:r>
              <a:rPr lang="es-AR" dirty="0" err="1"/>
              <a:t>abo.insertar</a:t>
            </a:r>
            <a:r>
              <a:rPr lang="es-AR" dirty="0"/>
              <a:t> (100);</a:t>
            </a:r>
          </a:p>
          <a:p>
            <a:pPr marL="0" indent="0">
              <a:buNone/>
            </a:pPr>
            <a:r>
              <a:rPr lang="es-AR" dirty="0"/>
              <a:t>          </a:t>
            </a:r>
            <a:r>
              <a:rPr lang="es-AR" dirty="0" err="1"/>
              <a:t>abo.insertar</a:t>
            </a:r>
            <a:r>
              <a:rPr lang="es-AR" dirty="0"/>
              <a:t> (50);</a:t>
            </a:r>
          </a:p>
          <a:p>
            <a:pPr marL="0" indent="0">
              <a:buNone/>
            </a:pPr>
            <a:r>
              <a:rPr lang="es-AR" dirty="0"/>
              <a:t>          </a:t>
            </a:r>
            <a:r>
              <a:rPr lang="es-AR" dirty="0" err="1"/>
              <a:t>abo.insertar</a:t>
            </a:r>
            <a:r>
              <a:rPr lang="es-AR" dirty="0"/>
              <a:t> (25);</a:t>
            </a:r>
          </a:p>
          <a:p>
            <a:pPr marL="0" indent="0">
              <a:buNone/>
            </a:pPr>
            <a:r>
              <a:rPr lang="es-AR" dirty="0"/>
              <a:t>          </a:t>
            </a:r>
            <a:r>
              <a:rPr lang="es-AR" dirty="0" err="1"/>
              <a:t>abo.insertar</a:t>
            </a:r>
            <a:r>
              <a:rPr lang="es-AR" dirty="0"/>
              <a:t> (75);</a:t>
            </a:r>
          </a:p>
          <a:p>
            <a:pPr marL="0" indent="0">
              <a:buNone/>
            </a:pPr>
            <a:r>
              <a:rPr lang="es-AR" dirty="0"/>
              <a:t>          </a:t>
            </a:r>
            <a:r>
              <a:rPr lang="es-AR" dirty="0" err="1"/>
              <a:t>abo.insertar</a:t>
            </a:r>
            <a:r>
              <a:rPr lang="es-AR" dirty="0"/>
              <a:t> (150);</a:t>
            </a:r>
          </a:p>
          <a:p>
            <a:pPr marL="0" indent="0">
              <a:buNone/>
            </a:pPr>
            <a:r>
              <a:rPr lang="es-AR" dirty="0"/>
              <a:t>          </a:t>
            </a:r>
            <a:r>
              <a:rPr lang="es-AR" dirty="0" err="1"/>
              <a:t>System.out.println</a:t>
            </a:r>
            <a:r>
              <a:rPr lang="es-AR" dirty="0"/>
              <a:t> ("</a:t>
            </a:r>
            <a:r>
              <a:rPr lang="es-AR" dirty="0" err="1"/>
              <a:t>Impresion</a:t>
            </a:r>
            <a:r>
              <a:rPr lang="es-AR" dirty="0"/>
              <a:t> </a:t>
            </a:r>
            <a:r>
              <a:rPr lang="es-AR" dirty="0" err="1"/>
              <a:t>preorden</a:t>
            </a:r>
            <a:r>
              <a:rPr lang="es-AR" dirty="0"/>
              <a:t>: ");</a:t>
            </a:r>
          </a:p>
          <a:p>
            <a:pPr marL="0" indent="0">
              <a:buNone/>
            </a:pPr>
            <a:r>
              <a:rPr lang="es-AR" dirty="0"/>
              <a:t>          </a:t>
            </a:r>
            <a:r>
              <a:rPr lang="es-AR" dirty="0" err="1"/>
              <a:t>abo.imprimirPre</a:t>
            </a:r>
            <a:r>
              <a:rPr lang="es-AR" dirty="0"/>
              <a:t> ();</a:t>
            </a:r>
          </a:p>
          <a:p>
            <a:pPr marL="0" indent="0">
              <a:buNone/>
            </a:pPr>
            <a:r>
              <a:rPr lang="es-AR" dirty="0"/>
              <a:t>          </a:t>
            </a:r>
            <a:r>
              <a:rPr lang="es-AR" dirty="0" err="1"/>
              <a:t>System.out.println</a:t>
            </a:r>
            <a:r>
              <a:rPr lang="es-AR" dirty="0"/>
              <a:t> ("</a:t>
            </a:r>
            <a:r>
              <a:rPr lang="es-AR" dirty="0" err="1"/>
              <a:t>Impresion</a:t>
            </a:r>
            <a:r>
              <a:rPr lang="es-AR" dirty="0"/>
              <a:t> </a:t>
            </a:r>
            <a:r>
              <a:rPr lang="es-AR" dirty="0" err="1"/>
              <a:t>entreorden</a:t>
            </a:r>
            <a:r>
              <a:rPr lang="es-AR" dirty="0"/>
              <a:t>: ");</a:t>
            </a:r>
          </a:p>
          <a:p>
            <a:pPr marL="0" indent="0">
              <a:buNone/>
            </a:pPr>
            <a:r>
              <a:rPr lang="es-AR" dirty="0"/>
              <a:t>          </a:t>
            </a:r>
            <a:r>
              <a:rPr lang="es-AR" dirty="0" err="1"/>
              <a:t>abo.imprimirEntre</a:t>
            </a:r>
            <a:r>
              <a:rPr lang="es-AR" dirty="0"/>
              <a:t> ();</a:t>
            </a:r>
          </a:p>
          <a:p>
            <a:pPr marL="0" indent="0">
              <a:buNone/>
            </a:pPr>
            <a:r>
              <a:rPr lang="es-AR" dirty="0"/>
              <a:t>          </a:t>
            </a:r>
            <a:r>
              <a:rPr lang="es-AR" dirty="0" err="1"/>
              <a:t>System.out.println</a:t>
            </a:r>
            <a:r>
              <a:rPr lang="es-AR" dirty="0"/>
              <a:t> ("</a:t>
            </a:r>
            <a:r>
              <a:rPr lang="es-AR" dirty="0" err="1"/>
              <a:t>Impresion</a:t>
            </a:r>
            <a:r>
              <a:rPr lang="es-AR" dirty="0"/>
              <a:t> </a:t>
            </a:r>
            <a:r>
              <a:rPr lang="es-AR" dirty="0" err="1"/>
              <a:t>postorden</a:t>
            </a:r>
            <a:r>
              <a:rPr lang="es-AR" dirty="0"/>
              <a:t>: ");</a:t>
            </a:r>
          </a:p>
          <a:p>
            <a:pPr marL="0" indent="0">
              <a:buNone/>
            </a:pPr>
            <a:r>
              <a:rPr lang="es-AR" dirty="0"/>
              <a:t>          </a:t>
            </a:r>
            <a:r>
              <a:rPr lang="es-AR" dirty="0" err="1"/>
              <a:t>abo.imprimirPost</a:t>
            </a:r>
            <a:r>
              <a:rPr lang="es-AR" dirty="0"/>
              <a:t> ();        </a:t>
            </a:r>
          </a:p>
          <a:p>
            <a:pPr marL="0" indent="0">
              <a:buNone/>
            </a:pPr>
            <a:r>
              <a:rPr lang="es-AR" dirty="0"/>
              <a:t>      }      </a:t>
            </a:r>
          </a:p>
          <a:p>
            <a:pPr marL="0" indent="0">
              <a:buNone/>
            </a:pPr>
            <a:r>
              <a:rPr lang="es-AR" dirty="0"/>
              <a:t>}</a:t>
            </a:r>
          </a:p>
        </p:txBody>
      </p:sp>
    </p:spTree>
    <p:extLst>
      <p:ext uri="{BB962C8B-B14F-4D97-AF65-F5344CB8AC3E}">
        <p14:creationId xmlns:p14="http://schemas.microsoft.com/office/powerpoint/2010/main" val="33165474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30026"/>
          </a:xfrm>
        </p:spPr>
        <p:txBody>
          <a:bodyPr>
            <a:normAutofit fontScale="90000"/>
          </a:bodyPr>
          <a:lstStyle/>
          <a:p>
            <a:endParaRPr lang="es-AR" dirty="0"/>
          </a:p>
        </p:txBody>
      </p:sp>
      <p:sp>
        <p:nvSpPr>
          <p:cNvPr id="3" name="2 Marcador de contenido"/>
          <p:cNvSpPr>
            <a:spLocks noGrp="1"/>
          </p:cNvSpPr>
          <p:nvPr>
            <p:ph idx="1"/>
          </p:nvPr>
        </p:nvSpPr>
        <p:spPr>
          <a:xfrm>
            <a:off x="457200" y="548680"/>
            <a:ext cx="8229600" cy="5577483"/>
          </a:xfrm>
        </p:spPr>
        <p:txBody>
          <a:bodyPr>
            <a:normAutofit fontScale="40000" lnSpcReduction="20000"/>
          </a:bodyPr>
          <a:lstStyle/>
          <a:p>
            <a:pPr marL="0" indent="0">
              <a:buNone/>
            </a:pPr>
            <a:r>
              <a:rPr lang="es-AR" dirty="0"/>
              <a:t> </a:t>
            </a:r>
            <a:r>
              <a:rPr lang="es-AR" dirty="0" err="1"/>
              <a:t>public</a:t>
            </a:r>
            <a:r>
              <a:rPr lang="es-AR" dirty="0"/>
              <a:t> </a:t>
            </a:r>
            <a:r>
              <a:rPr lang="es-AR" dirty="0" err="1"/>
              <a:t>void</a:t>
            </a:r>
            <a:r>
              <a:rPr lang="es-AR" dirty="0"/>
              <a:t> insertar (</a:t>
            </a:r>
            <a:r>
              <a:rPr lang="es-AR" dirty="0" err="1"/>
              <a:t>int</a:t>
            </a:r>
            <a:r>
              <a:rPr lang="es-AR" dirty="0"/>
              <a:t> </a:t>
            </a:r>
            <a:r>
              <a:rPr lang="es-AR" dirty="0" err="1"/>
              <a:t>info</a:t>
            </a:r>
            <a:r>
              <a:rPr lang="es-AR" dirty="0"/>
              <a:t>)</a:t>
            </a:r>
          </a:p>
          <a:p>
            <a:pPr marL="0" indent="0">
              <a:buNone/>
            </a:pPr>
            <a:r>
              <a:rPr lang="es-AR" dirty="0"/>
              <a:t>      {</a:t>
            </a:r>
          </a:p>
          <a:p>
            <a:pPr marL="0" indent="0">
              <a:buNone/>
            </a:pPr>
            <a:r>
              <a:rPr lang="es-AR" dirty="0"/>
              <a:t>          Nodo nuevo;</a:t>
            </a:r>
          </a:p>
          <a:p>
            <a:pPr marL="0" indent="0">
              <a:buNone/>
            </a:pPr>
            <a:r>
              <a:rPr lang="es-AR" dirty="0"/>
              <a:t>          nuevo = new Nodo ();</a:t>
            </a:r>
          </a:p>
          <a:p>
            <a:pPr marL="0" indent="0">
              <a:buNone/>
            </a:pPr>
            <a:r>
              <a:rPr lang="es-AR" dirty="0"/>
              <a:t>          nuevo.info = </a:t>
            </a:r>
            <a:r>
              <a:rPr lang="es-AR" dirty="0" err="1"/>
              <a:t>info</a:t>
            </a:r>
            <a:r>
              <a:rPr lang="es-AR" dirty="0"/>
              <a:t>;</a:t>
            </a:r>
          </a:p>
          <a:p>
            <a:pPr marL="0" indent="0">
              <a:buNone/>
            </a:pPr>
            <a:r>
              <a:rPr lang="es-AR" dirty="0"/>
              <a:t>          </a:t>
            </a:r>
            <a:r>
              <a:rPr lang="es-AR" dirty="0" err="1"/>
              <a:t>nuevo.izq</a:t>
            </a:r>
            <a:r>
              <a:rPr lang="es-AR" dirty="0"/>
              <a:t> = </a:t>
            </a:r>
            <a:r>
              <a:rPr lang="es-AR" dirty="0" err="1"/>
              <a:t>null</a:t>
            </a:r>
            <a:r>
              <a:rPr lang="es-AR" dirty="0"/>
              <a:t>;</a:t>
            </a:r>
          </a:p>
          <a:p>
            <a:pPr marL="0" indent="0">
              <a:buNone/>
            </a:pPr>
            <a:r>
              <a:rPr lang="es-AR" dirty="0"/>
              <a:t>          </a:t>
            </a:r>
            <a:r>
              <a:rPr lang="es-AR" dirty="0" err="1"/>
              <a:t>nuevo.der</a:t>
            </a:r>
            <a:r>
              <a:rPr lang="es-AR" dirty="0"/>
              <a:t> = </a:t>
            </a:r>
            <a:r>
              <a:rPr lang="es-AR" dirty="0" err="1"/>
              <a:t>null</a:t>
            </a:r>
            <a:r>
              <a:rPr lang="es-AR" dirty="0"/>
              <a:t>;</a:t>
            </a:r>
          </a:p>
          <a:p>
            <a:pPr marL="0" indent="0">
              <a:buNone/>
            </a:pPr>
            <a:r>
              <a:rPr lang="es-AR" dirty="0"/>
              <a:t>          </a:t>
            </a:r>
            <a:r>
              <a:rPr lang="es-AR" dirty="0" err="1"/>
              <a:t>if</a:t>
            </a:r>
            <a:r>
              <a:rPr lang="es-AR" dirty="0"/>
              <a:t> (</a:t>
            </a:r>
            <a:r>
              <a:rPr lang="es-AR" dirty="0" err="1"/>
              <a:t>raiz</a:t>
            </a:r>
            <a:r>
              <a:rPr lang="es-AR" dirty="0"/>
              <a:t> == </a:t>
            </a:r>
            <a:r>
              <a:rPr lang="es-AR" dirty="0" err="1"/>
              <a:t>null</a:t>
            </a:r>
            <a:r>
              <a:rPr lang="es-AR" dirty="0"/>
              <a:t>)</a:t>
            </a:r>
          </a:p>
          <a:p>
            <a:pPr marL="0" indent="0">
              <a:buNone/>
            </a:pPr>
            <a:r>
              <a:rPr lang="es-AR" dirty="0"/>
              <a:t>              </a:t>
            </a:r>
            <a:r>
              <a:rPr lang="es-AR" dirty="0" err="1"/>
              <a:t>raiz</a:t>
            </a:r>
            <a:r>
              <a:rPr lang="es-AR" dirty="0"/>
              <a:t> = nuevo;</a:t>
            </a:r>
          </a:p>
          <a:p>
            <a:pPr marL="0" indent="0">
              <a:buNone/>
            </a:pPr>
            <a:r>
              <a:rPr lang="es-AR" dirty="0"/>
              <a:t>          </a:t>
            </a:r>
            <a:r>
              <a:rPr lang="es-AR" dirty="0" err="1"/>
              <a:t>else</a:t>
            </a:r>
            <a:endParaRPr lang="es-AR" dirty="0"/>
          </a:p>
          <a:p>
            <a:pPr marL="0" indent="0">
              <a:buNone/>
            </a:pPr>
            <a:r>
              <a:rPr lang="es-AR" dirty="0"/>
              <a:t>          {</a:t>
            </a:r>
          </a:p>
          <a:p>
            <a:pPr marL="0" indent="0">
              <a:buNone/>
            </a:pPr>
            <a:r>
              <a:rPr lang="es-AR" dirty="0"/>
              <a:t>              Nodo anterior = </a:t>
            </a:r>
            <a:r>
              <a:rPr lang="es-AR" dirty="0" err="1"/>
              <a:t>null</a:t>
            </a:r>
            <a:r>
              <a:rPr lang="es-AR" dirty="0"/>
              <a:t>, </a:t>
            </a:r>
            <a:r>
              <a:rPr lang="es-AR" dirty="0" err="1"/>
              <a:t>reco</a:t>
            </a:r>
            <a:r>
              <a:rPr lang="es-AR" dirty="0"/>
              <a:t>;</a:t>
            </a:r>
          </a:p>
          <a:p>
            <a:pPr marL="0" indent="0">
              <a:buNone/>
            </a:pPr>
            <a:r>
              <a:rPr lang="es-AR" dirty="0"/>
              <a:t>              </a:t>
            </a:r>
            <a:r>
              <a:rPr lang="es-AR" dirty="0" err="1"/>
              <a:t>reco</a:t>
            </a:r>
            <a:r>
              <a:rPr lang="es-AR" dirty="0"/>
              <a:t> = </a:t>
            </a:r>
            <a:r>
              <a:rPr lang="es-AR" dirty="0" err="1"/>
              <a:t>raiz</a:t>
            </a:r>
            <a:r>
              <a:rPr lang="es-AR" dirty="0"/>
              <a:t>;</a:t>
            </a:r>
          </a:p>
          <a:p>
            <a:pPr marL="0" indent="0">
              <a:buNone/>
            </a:pPr>
            <a:r>
              <a:rPr lang="es-AR" dirty="0"/>
              <a:t>              </a:t>
            </a:r>
            <a:r>
              <a:rPr lang="es-AR" dirty="0" err="1"/>
              <a:t>while</a:t>
            </a:r>
            <a:r>
              <a:rPr lang="es-AR" dirty="0"/>
              <a:t> (</a:t>
            </a:r>
            <a:r>
              <a:rPr lang="es-AR" dirty="0" err="1"/>
              <a:t>reco</a:t>
            </a:r>
            <a:r>
              <a:rPr lang="es-AR" dirty="0"/>
              <a:t> != </a:t>
            </a:r>
            <a:r>
              <a:rPr lang="es-AR" dirty="0" err="1"/>
              <a:t>null</a:t>
            </a:r>
            <a:r>
              <a:rPr lang="es-AR" dirty="0"/>
              <a:t>)</a:t>
            </a:r>
          </a:p>
          <a:p>
            <a:pPr marL="0" indent="0">
              <a:buNone/>
            </a:pPr>
            <a:r>
              <a:rPr lang="es-AR" dirty="0"/>
              <a:t>              {</a:t>
            </a:r>
          </a:p>
          <a:p>
            <a:pPr marL="0" indent="0">
              <a:buNone/>
            </a:pPr>
            <a:r>
              <a:rPr lang="es-AR" dirty="0"/>
              <a:t>                  anterior = </a:t>
            </a:r>
            <a:r>
              <a:rPr lang="es-AR" dirty="0" err="1"/>
              <a:t>reco</a:t>
            </a:r>
            <a:r>
              <a:rPr lang="es-AR" dirty="0"/>
              <a:t>;</a:t>
            </a:r>
          </a:p>
          <a:p>
            <a:pPr marL="0" indent="0">
              <a:buNone/>
            </a:pPr>
            <a:r>
              <a:rPr lang="es-AR" dirty="0"/>
              <a:t>                  </a:t>
            </a:r>
            <a:r>
              <a:rPr lang="es-AR" dirty="0" err="1"/>
              <a:t>if</a:t>
            </a:r>
            <a:r>
              <a:rPr lang="es-AR" dirty="0"/>
              <a:t> (</a:t>
            </a:r>
            <a:r>
              <a:rPr lang="es-AR" dirty="0" err="1"/>
              <a:t>info</a:t>
            </a:r>
            <a:r>
              <a:rPr lang="es-AR" dirty="0"/>
              <a:t> &lt; reco.info)</a:t>
            </a:r>
          </a:p>
          <a:p>
            <a:pPr marL="0" indent="0">
              <a:buNone/>
            </a:pPr>
            <a:r>
              <a:rPr lang="es-AR" dirty="0"/>
              <a:t>                      </a:t>
            </a:r>
            <a:r>
              <a:rPr lang="es-AR" dirty="0" err="1"/>
              <a:t>reco</a:t>
            </a:r>
            <a:r>
              <a:rPr lang="es-AR" dirty="0"/>
              <a:t> = </a:t>
            </a:r>
            <a:r>
              <a:rPr lang="es-AR" dirty="0" err="1"/>
              <a:t>reco.izq</a:t>
            </a:r>
            <a:r>
              <a:rPr lang="es-AR" dirty="0"/>
              <a:t>;</a:t>
            </a:r>
          </a:p>
          <a:p>
            <a:pPr marL="0" indent="0">
              <a:buNone/>
            </a:pPr>
            <a:r>
              <a:rPr lang="es-AR" dirty="0"/>
              <a:t>                  </a:t>
            </a:r>
            <a:r>
              <a:rPr lang="es-AR" dirty="0" err="1"/>
              <a:t>else</a:t>
            </a:r>
            <a:endParaRPr lang="es-AR" dirty="0"/>
          </a:p>
          <a:p>
            <a:pPr marL="0" indent="0">
              <a:buNone/>
            </a:pPr>
            <a:r>
              <a:rPr lang="es-AR" dirty="0"/>
              <a:t>                      </a:t>
            </a:r>
            <a:r>
              <a:rPr lang="es-AR" dirty="0" err="1"/>
              <a:t>reco</a:t>
            </a:r>
            <a:r>
              <a:rPr lang="es-AR" dirty="0"/>
              <a:t> = </a:t>
            </a:r>
            <a:r>
              <a:rPr lang="es-AR" dirty="0" err="1"/>
              <a:t>reco.der</a:t>
            </a:r>
            <a:r>
              <a:rPr lang="es-AR" dirty="0"/>
              <a:t>;</a:t>
            </a:r>
          </a:p>
          <a:p>
            <a:pPr marL="0" indent="0">
              <a:buNone/>
            </a:pPr>
            <a:r>
              <a:rPr lang="es-AR" dirty="0"/>
              <a:t>              }</a:t>
            </a:r>
          </a:p>
          <a:p>
            <a:pPr marL="0" indent="0">
              <a:buNone/>
            </a:pPr>
            <a:r>
              <a:rPr lang="es-AR" dirty="0"/>
              <a:t>              </a:t>
            </a:r>
            <a:r>
              <a:rPr lang="es-AR" dirty="0" err="1"/>
              <a:t>if</a:t>
            </a:r>
            <a:r>
              <a:rPr lang="es-AR" dirty="0"/>
              <a:t> (</a:t>
            </a:r>
            <a:r>
              <a:rPr lang="es-AR" dirty="0" err="1"/>
              <a:t>info</a:t>
            </a:r>
            <a:r>
              <a:rPr lang="es-AR" dirty="0"/>
              <a:t> &lt; anterior.info)</a:t>
            </a:r>
          </a:p>
          <a:p>
            <a:pPr marL="0" indent="0">
              <a:buNone/>
            </a:pPr>
            <a:r>
              <a:rPr lang="es-AR" dirty="0"/>
              <a:t>                  </a:t>
            </a:r>
            <a:r>
              <a:rPr lang="es-AR" dirty="0" err="1"/>
              <a:t>anterior.izq</a:t>
            </a:r>
            <a:r>
              <a:rPr lang="es-AR" dirty="0"/>
              <a:t> = nuevo;</a:t>
            </a:r>
          </a:p>
          <a:p>
            <a:pPr marL="0" indent="0">
              <a:buNone/>
            </a:pPr>
            <a:r>
              <a:rPr lang="es-AR" dirty="0"/>
              <a:t>              </a:t>
            </a:r>
            <a:r>
              <a:rPr lang="es-AR" dirty="0" err="1"/>
              <a:t>else</a:t>
            </a:r>
            <a:endParaRPr lang="es-AR" dirty="0"/>
          </a:p>
          <a:p>
            <a:pPr marL="0" indent="0">
              <a:buNone/>
            </a:pPr>
            <a:r>
              <a:rPr lang="es-AR" dirty="0"/>
              <a:t>                  </a:t>
            </a:r>
            <a:r>
              <a:rPr lang="es-AR" dirty="0" err="1"/>
              <a:t>anterior.der</a:t>
            </a:r>
            <a:r>
              <a:rPr lang="es-AR" dirty="0"/>
              <a:t> = nuevo;</a:t>
            </a:r>
          </a:p>
          <a:p>
            <a:pPr marL="0" indent="0">
              <a:buNone/>
            </a:pPr>
            <a:r>
              <a:rPr lang="es-AR" dirty="0"/>
              <a:t>          }</a:t>
            </a:r>
          </a:p>
          <a:p>
            <a:pPr marL="0" indent="0">
              <a:buNone/>
            </a:pPr>
            <a:r>
              <a:rPr lang="es-AR" dirty="0"/>
              <a:t>      }</a:t>
            </a:r>
          </a:p>
        </p:txBody>
      </p:sp>
      <p:sp>
        <p:nvSpPr>
          <p:cNvPr id="4" name="3 CuadroTexto"/>
          <p:cNvSpPr txBox="1"/>
          <p:nvPr/>
        </p:nvSpPr>
        <p:spPr>
          <a:xfrm>
            <a:off x="4355976" y="836712"/>
            <a:ext cx="4320480" cy="4247317"/>
          </a:xfrm>
          <a:prstGeom prst="rect">
            <a:avLst/>
          </a:prstGeom>
          <a:noFill/>
        </p:spPr>
        <p:txBody>
          <a:bodyPr wrap="square" rtlCol="0">
            <a:spAutoFit/>
          </a:bodyPr>
          <a:lstStyle/>
          <a:p>
            <a:r>
              <a:rPr lang="es-AR" dirty="0"/>
              <a:t>Creamos un nodo y disponemos los punteros </a:t>
            </a:r>
            <a:r>
              <a:rPr lang="es-AR" dirty="0" err="1"/>
              <a:t>izq</a:t>
            </a:r>
            <a:r>
              <a:rPr lang="es-AR" dirty="0"/>
              <a:t> y der a </a:t>
            </a:r>
            <a:r>
              <a:rPr lang="es-AR" dirty="0" err="1"/>
              <a:t>null</a:t>
            </a:r>
            <a:r>
              <a:rPr lang="es-AR" dirty="0"/>
              <a:t>, guardamos la información que llega al método en el nodo.</a:t>
            </a:r>
            <a:br>
              <a:rPr lang="es-AR" dirty="0"/>
            </a:br>
            <a:r>
              <a:rPr lang="es-AR" dirty="0"/>
              <a:t>Si el árbol está vacío, apuntamos raíz al nodo creado; en caso de no estar vacío, dentro de una estructura repetitiva vamos comparando </a:t>
            </a:r>
            <a:r>
              <a:rPr lang="es-AR" dirty="0" err="1"/>
              <a:t>info</a:t>
            </a:r>
            <a:r>
              <a:rPr lang="es-AR" dirty="0"/>
              <a:t> con la información del nodo, si </a:t>
            </a:r>
            <a:r>
              <a:rPr lang="es-AR" dirty="0" err="1"/>
              <a:t>info</a:t>
            </a:r>
            <a:r>
              <a:rPr lang="es-AR" dirty="0"/>
              <a:t> es mayor a la del nodo descendemos por el subárbol derecho en caso contrario descendemos por el subárbol izquierdo.</a:t>
            </a:r>
            <a:br>
              <a:rPr lang="es-AR" dirty="0"/>
            </a:br>
            <a:r>
              <a:rPr lang="es-AR" dirty="0"/>
              <a:t>Cuando se encuentra un subárbol vacío insertar el nodo en dicho subárbol. Para esto llevamos un puntero anterior dentro del </a:t>
            </a:r>
            <a:r>
              <a:rPr lang="es-AR" dirty="0" err="1"/>
              <a:t>while</a:t>
            </a:r>
            <a:r>
              <a:rPr lang="es-AR" dirty="0"/>
              <a:t>.</a:t>
            </a:r>
          </a:p>
        </p:txBody>
      </p:sp>
    </p:spTree>
    <p:extLst>
      <p:ext uri="{BB962C8B-B14F-4D97-AF65-F5344CB8AC3E}">
        <p14:creationId xmlns:p14="http://schemas.microsoft.com/office/powerpoint/2010/main" val="37943292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202034"/>
          </a:xfrm>
        </p:spPr>
        <p:txBody>
          <a:bodyPr>
            <a:normAutofit fontScale="90000"/>
          </a:bodyPr>
          <a:lstStyle/>
          <a:p>
            <a:endParaRPr lang="es-AR" dirty="0"/>
          </a:p>
        </p:txBody>
      </p:sp>
      <p:sp>
        <p:nvSpPr>
          <p:cNvPr id="3" name="2 Marcador de contenido"/>
          <p:cNvSpPr>
            <a:spLocks noGrp="1"/>
          </p:cNvSpPr>
          <p:nvPr>
            <p:ph idx="1"/>
          </p:nvPr>
        </p:nvSpPr>
        <p:spPr>
          <a:xfrm>
            <a:off x="457200" y="548680"/>
            <a:ext cx="8229600" cy="5577483"/>
          </a:xfrm>
        </p:spPr>
        <p:txBody>
          <a:bodyPr>
            <a:normAutofit fontScale="70000" lnSpcReduction="20000"/>
          </a:bodyPr>
          <a:lstStyle/>
          <a:p>
            <a:pPr marL="0" indent="0">
              <a:buNone/>
            </a:pPr>
            <a:r>
              <a:rPr lang="es-AR" dirty="0"/>
              <a:t> </a:t>
            </a:r>
            <a:r>
              <a:rPr lang="es-AR" dirty="0" err="1"/>
              <a:t>private</a:t>
            </a:r>
            <a:r>
              <a:rPr lang="es-AR" dirty="0"/>
              <a:t> </a:t>
            </a:r>
            <a:r>
              <a:rPr lang="es-AR" dirty="0" err="1"/>
              <a:t>void</a:t>
            </a:r>
            <a:r>
              <a:rPr lang="es-AR" dirty="0"/>
              <a:t> </a:t>
            </a:r>
            <a:r>
              <a:rPr lang="es-AR" dirty="0" err="1"/>
              <a:t>imprimirPre</a:t>
            </a:r>
            <a:r>
              <a:rPr lang="es-AR" dirty="0"/>
              <a:t> (Nodo </a:t>
            </a:r>
            <a:r>
              <a:rPr lang="es-AR" dirty="0" err="1"/>
              <a:t>reco</a:t>
            </a:r>
            <a:r>
              <a:rPr lang="es-AR" dirty="0"/>
              <a:t>)</a:t>
            </a:r>
          </a:p>
          <a:p>
            <a:pPr marL="0" indent="0">
              <a:buNone/>
            </a:pPr>
            <a:r>
              <a:rPr lang="es-AR" dirty="0"/>
              <a:t>      {</a:t>
            </a:r>
          </a:p>
          <a:p>
            <a:pPr marL="0" indent="0">
              <a:buNone/>
            </a:pPr>
            <a:r>
              <a:rPr lang="es-AR" dirty="0"/>
              <a:t>          </a:t>
            </a:r>
            <a:r>
              <a:rPr lang="es-AR" dirty="0" err="1"/>
              <a:t>if</a:t>
            </a:r>
            <a:r>
              <a:rPr lang="es-AR" dirty="0"/>
              <a:t> (</a:t>
            </a:r>
            <a:r>
              <a:rPr lang="es-AR" dirty="0" err="1"/>
              <a:t>reco</a:t>
            </a:r>
            <a:r>
              <a:rPr lang="es-AR" dirty="0"/>
              <a:t> != </a:t>
            </a:r>
            <a:r>
              <a:rPr lang="es-AR" dirty="0" err="1"/>
              <a:t>null</a:t>
            </a:r>
            <a:r>
              <a:rPr lang="es-AR" dirty="0"/>
              <a:t>)</a:t>
            </a:r>
          </a:p>
          <a:p>
            <a:pPr marL="0" indent="0">
              <a:buNone/>
            </a:pPr>
            <a:r>
              <a:rPr lang="es-AR" dirty="0"/>
              <a:t>          {</a:t>
            </a:r>
          </a:p>
          <a:p>
            <a:pPr marL="0" indent="0">
              <a:buNone/>
            </a:pPr>
            <a:r>
              <a:rPr lang="es-AR" dirty="0"/>
              <a:t>              </a:t>
            </a:r>
            <a:r>
              <a:rPr lang="es-AR" dirty="0" err="1"/>
              <a:t>System.out.print</a:t>
            </a:r>
            <a:r>
              <a:rPr lang="es-AR" dirty="0"/>
              <a:t>(reco.info + " ");</a:t>
            </a:r>
          </a:p>
          <a:p>
            <a:pPr marL="0" indent="0">
              <a:buNone/>
            </a:pPr>
            <a:r>
              <a:rPr lang="es-AR" dirty="0"/>
              <a:t>              </a:t>
            </a:r>
            <a:r>
              <a:rPr lang="es-AR" dirty="0" err="1"/>
              <a:t>imprimirPre</a:t>
            </a:r>
            <a:r>
              <a:rPr lang="es-AR" dirty="0"/>
              <a:t> (</a:t>
            </a:r>
            <a:r>
              <a:rPr lang="es-AR" dirty="0" err="1"/>
              <a:t>reco.izq</a:t>
            </a:r>
            <a:r>
              <a:rPr lang="es-AR" dirty="0"/>
              <a:t>);</a:t>
            </a:r>
          </a:p>
          <a:p>
            <a:pPr marL="0" indent="0">
              <a:buNone/>
            </a:pPr>
            <a:r>
              <a:rPr lang="es-AR" dirty="0"/>
              <a:t>              </a:t>
            </a:r>
            <a:r>
              <a:rPr lang="es-AR" dirty="0" err="1"/>
              <a:t>imprimirPre</a:t>
            </a:r>
            <a:r>
              <a:rPr lang="es-AR" dirty="0"/>
              <a:t> (</a:t>
            </a:r>
            <a:r>
              <a:rPr lang="es-AR" dirty="0" err="1"/>
              <a:t>reco.der</a:t>
            </a:r>
            <a:r>
              <a:rPr lang="es-AR" dirty="0"/>
              <a:t>);</a:t>
            </a:r>
          </a:p>
          <a:p>
            <a:pPr marL="0" indent="0">
              <a:buNone/>
            </a:pPr>
            <a:r>
              <a:rPr lang="es-AR" dirty="0"/>
              <a:t>          }</a:t>
            </a:r>
          </a:p>
          <a:p>
            <a:pPr marL="0" indent="0">
              <a:buNone/>
            </a:pPr>
            <a:r>
              <a:rPr lang="es-AR" dirty="0"/>
              <a:t>      }</a:t>
            </a:r>
          </a:p>
          <a:p>
            <a:pPr marL="0" indent="0">
              <a:buNone/>
            </a:pPr>
            <a:r>
              <a:rPr lang="es-AR" dirty="0"/>
              <a:t> </a:t>
            </a:r>
          </a:p>
          <a:p>
            <a:pPr marL="0" indent="0">
              <a:buNone/>
            </a:pPr>
            <a:r>
              <a:rPr lang="es-AR" dirty="0"/>
              <a:t>      </a:t>
            </a:r>
            <a:r>
              <a:rPr lang="es-AR" dirty="0" err="1"/>
              <a:t>public</a:t>
            </a:r>
            <a:r>
              <a:rPr lang="es-AR" dirty="0"/>
              <a:t> </a:t>
            </a:r>
            <a:r>
              <a:rPr lang="es-AR" dirty="0" err="1"/>
              <a:t>void</a:t>
            </a:r>
            <a:r>
              <a:rPr lang="es-AR" dirty="0"/>
              <a:t> </a:t>
            </a:r>
            <a:r>
              <a:rPr lang="es-AR" dirty="0" err="1"/>
              <a:t>imprimirPre</a:t>
            </a:r>
            <a:r>
              <a:rPr lang="es-AR" dirty="0"/>
              <a:t> ()</a:t>
            </a:r>
          </a:p>
          <a:p>
            <a:pPr marL="0" indent="0">
              <a:buNone/>
            </a:pPr>
            <a:r>
              <a:rPr lang="es-AR" dirty="0"/>
              <a:t>      {</a:t>
            </a:r>
          </a:p>
          <a:p>
            <a:pPr marL="0" indent="0">
              <a:buNone/>
            </a:pPr>
            <a:r>
              <a:rPr lang="es-AR" dirty="0"/>
              <a:t>          </a:t>
            </a:r>
            <a:r>
              <a:rPr lang="es-AR" dirty="0" err="1"/>
              <a:t>imprimirPre</a:t>
            </a:r>
            <a:r>
              <a:rPr lang="es-AR" dirty="0"/>
              <a:t> (</a:t>
            </a:r>
            <a:r>
              <a:rPr lang="es-AR" dirty="0" err="1"/>
              <a:t>raiz</a:t>
            </a:r>
            <a:r>
              <a:rPr lang="es-AR" dirty="0"/>
              <a:t>);</a:t>
            </a:r>
          </a:p>
          <a:p>
            <a:pPr marL="0" indent="0">
              <a:buNone/>
            </a:pPr>
            <a:r>
              <a:rPr lang="es-AR" dirty="0"/>
              <a:t>          </a:t>
            </a:r>
            <a:r>
              <a:rPr lang="es-AR" dirty="0" err="1"/>
              <a:t>System.out.println</a:t>
            </a:r>
            <a:r>
              <a:rPr lang="es-AR" dirty="0"/>
              <a:t>();</a:t>
            </a:r>
          </a:p>
          <a:p>
            <a:pPr marL="0" indent="0">
              <a:buNone/>
            </a:pPr>
            <a:r>
              <a:rPr lang="es-AR" dirty="0"/>
              <a:t>      }</a:t>
            </a:r>
          </a:p>
        </p:txBody>
      </p:sp>
      <p:sp>
        <p:nvSpPr>
          <p:cNvPr id="4" name="3 CuadroTexto"/>
          <p:cNvSpPr txBox="1"/>
          <p:nvPr/>
        </p:nvSpPr>
        <p:spPr>
          <a:xfrm>
            <a:off x="5364088" y="1124744"/>
            <a:ext cx="3312368" cy="4801314"/>
          </a:xfrm>
          <a:prstGeom prst="rect">
            <a:avLst/>
          </a:prstGeom>
          <a:noFill/>
        </p:spPr>
        <p:txBody>
          <a:bodyPr wrap="square" rtlCol="0">
            <a:spAutoFit/>
          </a:bodyPr>
          <a:lstStyle/>
          <a:p>
            <a:r>
              <a:rPr lang="es-AR" dirty="0"/>
              <a:t>El método </a:t>
            </a:r>
            <a:r>
              <a:rPr lang="es-AR" dirty="0" err="1"/>
              <a:t>imprimirPre</a:t>
            </a:r>
            <a:r>
              <a:rPr lang="es-AR" dirty="0"/>
              <a:t>(), es decir el no recursivo se encarga de llamar al método recursivo pasando la dirección del nodo </a:t>
            </a:r>
            <a:r>
              <a:rPr lang="es-AR" dirty="0" err="1"/>
              <a:t>raiz</a:t>
            </a:r>
            <a:r>
              <a:rPr lang="es-AR" dirty="0"/>
              <a:t>.</a:t>
            </a:r>
          </a:p>
          <a:p>
            <a:r>
              <a:rPr lang="es-AR" dirty="0"/>
              <a:t>El método recursivo </a:t>
            </a:r>
            <a:r>
              <a:rPr lang="es-AR" dirty="0" err="1"/>
              <a:t>void</a:t>
            </a:r>
            <a:r>
              <a:rPr lang="es-AR" dirty="0"/>
              <a:t> </a:t>
            </a:r>
            <a:r>
              <a:rPr lang="es-AR" dirty="0" err="1"/>
              <a:t>imprimirPre</a:t>
            </a:r>
            <a:r>
              <a:rPr lang="es-AR" dirty="0"/>
              <a:t> (Nodo </a:t>
            </a:r>
            <a:r>
              <a:rPr lang="es-AR" dirty="0" err="1"/>
              <a:t>reco</a:t>
            </a:r>
            <a:r>
              <a:rPr lang="es-AR" dirty="0"/>
              <a:t>) lo primero que verifica con un </a:t>
            </a:r>
            <a:r>
              <a:rPr lang="es-AR" dirty="0" err="1"/>
              <a:t>if</a:t>
            </a:r>
            <a:r>
              <a:rPr lang="es-AR" dirty="0"/>
              <a:t> si </a:t>
            </a:r>
            <a:r>
              <a:rPr lang="es-AR" dirty="0" err="1"/>
              <a:t>reco</a:t>
            </a:r>
            <a:r>
              <a:rPr lang="es-AR" dirty="0"/>
              <a:t> está apuntando a un nodo (esto es verdad si </a:t>
            </a:r>
            <a:r>
              <a:rPr lang="es-AR" dirty="0" err="1"/>
              <a:t>reco</a:t>
            </a:r>
            <a:r>
              <a:rPr lang="es-AR" dirty="0"/>
              <a:t> es distinto a </a:t>
            </a:r>
            <a:r>
              <a:rPr lang="es-AR" dirty="0" err="1"/>
              <a:t>null</a:t>
            </a:r>
            <a:r>
              <a:rPr lang="es-AR" dirty="0"/>
              <a:t>), en caso afirmativo ingresa al bloque del </a:t>
            </a:r>
            <a:r>
              <a:rPr lang="es-AR" dirty="0" err="1"/>
              <a:t>if</a:t>
            </a:r>
            <a:r>
              <a:rPr lang="es-AR" dirty="0"/>
              <a:t> y realiza</a:t>
            </a:r>
            <a:r>
              <a:rPr lang="es-AR" dirty="0" smtClean="0"/>
              <a:t>:</a:t>
            </a:r>
          </a:p>
          <a:p>
            <a:r>
              <a:rPr lang="es-AR" dirty="0" smtClean="0"/>
              <a:t> </a:t>
            </a:r>
            <a:r>
              <a:rPr lang="es-AR" dirty="0"/>
              <a:t>- Visitar la </a:t>
            </a:r>
            <a:r>
              <a:rPr lang="es-AR" dirty="0" err="1"/>
              <a:t>raiz</a:t>
            </a:r>
            <a:r>
              <a:rPr lang="es-AR" dirty="0"/>
              <a:t>.</a:t>
            </a:r>
          </a:p>
          <a:p>
            <a:r>
              <a:rPr lang="es-AR" dirty="0" smtClean="0"/>
              <a:t> </a:t>
            </a:r>
            <a:r>
              <a:rPr lang="es-AR" dirty="0"/>
              <a:t>- Recorrer el subárbol izquierdo en pre-orden.</a:t>
            </a:r>
          </a:p>
          <a:p>
            <a:r>
              <a:rPr lang="es-AR" smtClean="0"/>
              <a:t> </a:t>
            </a:r>
            <a:r>
              <a:rPr lang="es-AR" dirty="0"/>
              <a:t>- Recorrer el subárbol derecho en pre-orden.</a:t>
            </a:r>
          </a:p>
        </p:txBody>
      </p:sp>
    </p:spTree>
    <p:extLst>
      <p:ext uri="{BB962C8B-B14F-4D97-AF65-F5344CB8AC3E}">
        <p14:creationId xmlns:p14="http://schemas.microsoft.com/office/powerpoint/2010/main" val="1936111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202034"/>
          </a:xfrm>
        </p:spPr>
        <p:txBody>
          <a:bodyPr>
            <a:normAutofit fontScale="90000"/>
          </a:bodyPr>
          <a:lstStyle/>
          <a:p>
            <a:endParaRPr lang="es-AR" dirty="0"/>
          </a:p>
        </p:txBody>
      </p:sp>
      <p:sp>
        <p:nvSpPr>
          <p:cNvPr id="3" name="2 Marcador de contenido"/>
          <p:cNvSpPr>
            <a:spLocks noGrp="1"/>
          </p:cNvSpPr>
          <p:nvPr>
            <p:ph idx="1"/>
          </p:nvPr>
        </p:nvSpPr>
        <p:spPr>
          <a:xfrm>
            <a:off x="457200" y="764704"/>
            <a:ext cx="8229600" cy="5361459"/>
          </a:xfrm>
        </p:spPr>
        <p:txBody>
          <a:bodyPr>
            <a:normAutofit fontScale="70000" lnSpcReduction="20000"/>
          </a:bodyPr>
          <a:lstStyle/>
          <a:p>
            <a:pPr marL="0" indent="0">
              <a:buNone/>
            </a:pPr>
            <a:r>
              <a:rPr lang="es-AR" dirty="0"/>
              <a:t> </a:t>
            </a:r>
            <a:r>
              <a:rPr lang="es-AR" dirty="0" err="1"/>
              <a:t>private</a:t>
            </a:r>
            <a:r>
              <a:rPr lang="es-AR" dirty="0"/>
              <a:t> </a:t>
            </a:r>
            <a:r>
              <a:rPr lang="es-AR" dirty="0" err="1"/>
              <a:t>void</a:t>
            </a:r>
            <a:r>
              <a:rPr lang="es-AR" dirty="0"/>
              <a:t> </a:t>
            </a:r>
            <a:r>
              <a:rPr lang="es-AR" dirty="0" err="1"/>
              <a:t>imprimirEntre</a:t>
            </a:r>
            <a:r>
              <a:rPr lang="es-AR" dirty="0"/>
              <a:t> (Nodo </a:t>
            </a:r>
            <a:r>
              <a:rPr lang="es-AR" dirty="0" err="1"/>
              <a:t>reco</a:t>
            </a:r>
            <a:r>
              <a:rPr lang="es-AR" dirty="0"/>
              <a:t>)</a:t>
            </a:r>
          </a:p>
          <a:p>
            <a:pPr marL="0" indent="0">
              <a:buNone/>
            </a:pPr>
            <a:r>
              <a:rPr lang="es-AR" dirty="0"/>
              <a:t>      {</a:t>
            </a:r>
          </a:p>
          <a:p>
            <a:pPr marL="0" indent="0">
              <a:buNone/>
            </a:pPr>
            <a:r>
              <a:rPr lang="es-AR" dirty="0"/>
              <a:t>          </a:t>
            </a:r>
            <a:r>
              <a:rPr lang="es-AR" dirty="0" err="1"/>
              <a:t>if</a:t>
            </a:r>
            <a:r>
              <a:rPr lang="es-AR" dirty="0"/>
              <a:t> (</a:t>
            </a:r>
            <a:r>
              <a:rPr lang="es-AR" dirty="0" err="1"/>
              <a:t>reco</a:t>
            </a:r>
            <a:r>
              <a:rPr lang="es-AR" dirty="0"/>
              <a:t> != </a:t>
            </a:r>
            <a:r>
              <a:rPr lang="es-AR" dirty="0" err="1"/>
              <a:t>null</a:t>
            </a:r>
            <a:r>
              <a:rPr lang="es-AR" dirty="0"/>
              <a:t>)</a:t>
            </a:r>
          </a:p>
          <a:p>
            <a:pPr marL="0" indent="0">
              <a:buNone/>
            </a:pPr>
            <a:r>
              <a:rPr lang="es-AR" dirty="0"/>
              <a:t>          {    </a:t>
            </a:r>
          </a:p>
          <a:p>
            <a:pPr marL="0" indent="0">
              <a:buNone/>
            </a:pPr>
            <a:r>
              <a:rPr lang="es-AR" dirty="0"/>
              <a:t>              </a:t>
            </a:r>
            <a:r>
              <a:rPr lang="es-AR" dirty="0" err="1"/>
              <a:t>imprimirEntre</a:t>
            </a:r>
            <a:r>
              <a:rPr lang="es-AR" dirty="0"/>
              <a:t> (</a:t>
            </a:r>
            <a:r>
              <a:rPr lang="es-AR" dirty="0" err="1"/>
              <a:t>reco.izq</a:t>
            </a:r>
            <a:r>
              <a:rPr lang="es-AR" dirty="0"/>
              <a:t>);</a:t>
            </a:r>
          </a:p>
          <a:p>
            <a:pPr marL="0" indent="0">
              <a:buNone/>
            </a:pPr>
            <a:r>
              <a:rPr lang="es-AR" dirty="0"/>
              <a:t>              </a:t>
            </a:r>
            <a:r>
              <a:rPr lang="es-AR" dirty="0" err="1"/>
              <a:t>System.out.print</a:t>
            </a:r>
            <a:r>
              <a:rPr lang="es-AR" dirty="0"/>
              <a:t>(reco.info + " ");</a:t>
            </a:r>
          </a:p>
          <a:p>
            <a:pPr marL="0" indent="0">
              <a:buNone/>
            </a:pPr>
            <a:r>
              <a:rPr lang="es-AR" dirty="0"/>
              <a:t>              </a:t>
            </a:r>
            <a:r>
              <a:rPr lang="es-AR" dirty="0" err="1"/>
              <a:t>imprimirEntre</a:t>
            </a:r>
            <a:r>
              <a:rPr lang="es-AR" dirty="0"/>
              <a:t> (</a:t>
            </a:r>
            <a:r>
              <a:rPr lang="es-AR" dirty="0" err="1"/>
              <a:t>reco.der</a:t>
            </a:r>
            <a:r>
              <a:rPr lang="es-AR" dirty="0"/>
              <a:t>);</a:t>
            </a:r>
          </a:p>
          <a:p>
            <a:pPr marL="0" indent="0">
              <a:buNone/>
            </a:pPr>
            <a:r>
              <a:rPr lang="es-AR" dirty="0"/>
              <a:t>          }</a:t>
            </a:r>
          </a:p>
          <a:p>
            <a:pPr marL="0" indent="0">
              <a:buNone/>
            </a:pPr>
            <a:r>
              <a:rPr lang="es-AR" dirty="0"/>
              <a:t>      }</a:t>
            </a:r>
          </a:p>
          <a:p>
            <a:pPr marL="0" indent="0">
              <a:buNone/>
            </a:pPr>
            <a:r>
              <a:rPr lang="es-AR" dirty="0"/>
              <a:t> </a:t>
            </a:r>
          </a:p>
          <a:p>
            <a:pPr marL="0" indent="0">
              <a:buNone/>
            </a:pPr>
            <a:r>
              <a:rPr lang="es-AR" dirty="0"/>
              <a:t>      </a:t>
            </a:r>
            <a:r>
              <a:rPr lang="es-AR" dirty="0" err="1"/>
              <a:t>public</a:t>
            </a:r>
            <a:r>
              <a:rPr lang="es-AR" dirty="0"/>
              <a:t> </a:t>
            </a:r>
            <a:r>
              <a:rPr lang="es-AR" dirty="0" err="1"/>
              <a:t>void</a:t>
            </a:r>
            <a:r>
              <a:rPr lang="es-AR" dirty="0"/>
              <a:t> </a:t>
            </a:r>
            <a:r>
              <a:rPr lang="es-AR" dirty="0" err="1"/>
              <a:t>imprimirEntre</a:t>
            </a:r>
            <a:r>
              <a:rPr lang="es-AR" dirty="0"/>
              <a:t> ()</a:t>
            </a:r>
          </a:p>
          <a:p>
            <a:pPr marL="0" indent="0">
              <a:buNone/>
            </a:pPr>
            <a:r>
              <a:rPr lang="es-AR" dirty="0"/>
              <a:t>      {</a:t>
            </a:r>
          </a:p>
          <a:p>
            <a:pPr marL="0" indent="0">
              <a:buNone/>
            </a:pPr>
            <a:r>
              <a:rPr lang="es-AR" dirty="0"/>
              <a:t>          </a:t>
            </a:r>
            <a:r>
              <a:rPr lang="es-AR" dirty="0" err="1"/>
              <a:t>imprimirEntre</a:t>
            </a:r>
            <a:r>
              <a:rPr lang="es-AR" dirty="0"/>
              <a:t> (</a:t>
            </a:r>
            <a:r>
              <a:rPr lang="es-AR" dirty="0" err="1"/>
              <a:t>raiz</a:t>
            </a:r>
            <a:r>
              <a:rPr lang="es-AR" dirty="0"/>
              <a:t>);</a:t>
            </a:r>
          </a:p>
          <a:p>
            <a:pPr marL="0" indent="0">
              <a:buNone/>
            </a:pPr>
            <a:r>
              <a:rPr lang="es-AR" dirty="0"/>
              <a:t>          </a:t>
            </a:r>
            <a:r>
              <a:rPr lang="es-AR" dirty="0" err="1"/>
              <a:t>System.out.println</a:t>
            </a:r>
            <a:r>
              <a:rPr lang="es-AR" dirty="0"/>
              <a:t>();</a:t>
            </a:r>
          </a:p>
          <a:p>
            <a:pPr marL="0" indent="0">
              <a:buNone/>
            </a:pPr>
            <a:r>
              <a:rPr lang="es-AR" dirty="0"/>
              <a:t>      }</a:t>
            </a:r>
          </a:p>
        </p:txBody>
      </p:sp>
    </p:spTree>
    <p:extLst>
      <p:ext uri="{BB962C8B-B14F-4D97-AF65-F5344CB8AC3E}">
        <p14:creationId xmlns:p14="http://schemas.microsoft.com/office/powerpoint/2010/main" val="14271858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30026"/>
          </a:xfrm>
        </p:spPr>
        <p:txBody>
          <a:bodyPr>
            <a:normAutofit fontScale="90000"/>
          </a:bodyPr>
          <a:lstStyle/>
          <a:p>
            <a:endParaRPr lang="es-AR" dirty="0"/>
          </a:p>
        </p:txBody>
      </p:sp>
      <p:sp>
        <p:nvSpPr>
          <p:cNvPr id="3" name="2 Marcador de contenido"/>
          <p:cNvSpPr>
            <a:spLocks noGrp="1"/>
          </p:cNvSpPr>
          <p:nvPr>
            <p:ph idx="1"/>
          </p:nvPr>
        </p:nvSpPr>
        <p:spPr>
          <a:xfrm>
            <a:off x="457200" y="620688"/>
            <a:ext cx="8229600" cy="5505475"/>
          </a:xfrm>
        </p:spPr>
        <p:txBody>
          <a:bodyPr>
            <a:normAutofit fontScale="70000" lnSpcReduction="20000"/>
          </a:bodyPr>
          <a:lstStyle/>
          <a:p>
            <a:pPr marL="0" indent="0">
              <a:buNone/>
            </a:pPr>
            <a:r>
              <a:rPr lang="es-AR" dirty="0"/>
              <a:t> </a:t>
            </a:r>
            <a:r>
              <a:rPr lang="es-AR" dirty="0" err="1"/>
              <a:t>private</a:t>
            </a:r>
            <a:r>
              <a:rPr lang="es-AR" dirty="0"/>
              <a:t> </a:t>
            </a:r>
            <a:r>
              <a:rPr lang="es-AR" dirty="0" err="1"/>
              <a:t>void</a:t>
            </a:r>
            <a:r>
              <a:rPr lang="es-AR" dirty="0"/>
              <a:t> </a:t>
            </a:r>
            <a:r>
              <a:rPr lang="es-AR" dirty="0" err="1"/>
              <a:t>imprimirPost</a:t>
            </a:r>
            <a:r>
              <a:rPr lang="es-AR" dirty="0"/>
              <a:t> (Nodo </a:t>
            </a:r>
            <a:r>
              <a:rPr lang="es-AR" dirty="0" err="1"/>
              <a:t>reco</a:t>
            </a:r>
            <a:r>
              <a:rPr lang="es-AR" dirty="0"/>
              <a:t>)</a:t>
            </a:r>
          </a:p>
          <a:p>
            <a:pPr marL="0" indent="0">
              <a:buNone/>
            </a:pPr>
            <a:r>
              <a:rPr lang="es-AR" dirty="0"/>
              <a:t>      {</a:t>
            </a:r>
          </a:p>
          <a:p>
            <a:pPr marL="0" indent="0">
              <a:buNone/>
            </a:pPr>
            <a:r>
              <a:rPr lang="es-AR" dirty="0"/>
              <a:t>          </a:t>
            </a:r>
            <a:r>
              <a:rPr lang="es-AR" dirty="0" err="1"/>
              <a:t>if</a:t>
            </a:r>
            <a:r>
              <a:rPr lang="es-AR" dirty="0"/>
              <a:t> (</a:t>
            </a:r>
            <a:r>
              <a:rPr lang="es-AR" dirty="0" err="1"/>
              <a:t>reco</a:t>
            </a:r>
            <a:r>
              <a:rPr lang="es-AR" dirty="0"/>
              <a:t> != </a:t>
            </a:r>
            <a:r>
              <a:rPr lang="es-AR" dirty="0" err="1"/>
              <a:t>null</a:t>
            </a:r>
            <a:r>
              <a:rPr lang="es-AR" dirty="0"/>
              <a:t>)</a:t>
            </a:r>
          </a:p>
          <a:p>
            <a:pPr marL="0" indent="0">
              <a:buNone/>
            </a:pPr>
            <a:r>
              <a:rPr lang="es-AR" dirty="0"/>
              <a:t>          {</a:t>
            </a:r>
          </a:p>
          <a:p>
            <a:pPr marL="0" indent="0">
              <a:buNone/>
            </a:pPr>
            <a:r>
              <a:rPr lang="es-AR" dirty="0"/>
              <a:t>              </a:t>
            </a:r>
            <a:r>
              <a:rPr lang="es-AR" dirty="0" err="1"/>
              <a:t>imprimirPost</a:t>
            </a:r>
            <a:r>
              <a:rPr lang="es-AR" dirty="0"/>
              <a:t> (</a:t>
            </a:r>
            <a:r>
              <a:rPr lang="es-AR" dirty="0" err="1"/>
              <a:t>reco.izq</a:t>
            </a:r>
            <a:r>
              <a:rPr lang="es-AR" dirty="0"/>
              <a:t>);</a:t>
            </a:r>
          </a:p>
          <a:p>
            <a:pPr marL="0" indent="0">
              <a:buNone/>
            </a:pPr>
            <a:r>
              <a:rPr lang="es-AR" dirty="0"/>
              <a:t>              </a:t>
            </a:r>
            <a:r>
              <a:rPr lang="es-AR" dirty="0" err="1"/>
              <a:t>imprimirPost</a:t>
            </a:r>
            <a:r>
              <a:rPr lang="es-AR" dirty="0"/>
              <a:t> (</a:t>
            </a:r>
            <a:r>
              <a:rPr lang="es-AR" dirty="0" err="1"/>
              <a:t>reco.der</a:t>
            </a:r>
            <a:r>
              <a:rPr lang="es-AR" dirty="0"/>
              <a:t>);</a:t>
            </a:r>
          </a:p>
          <a:p>
            <a:pPr marL="0" indent="0">
              <a:buNone/>
            </a:pPr>
            <a:r>
              <a:rPr lang="es-AR" dirty="0"/>
              <a:t>              </a:t>
            </a:r>
            <a:r>
              <a:rPr lang="es-AR" dirty="0" err="1"/>
              <a:t>System.out.print</a:t>
            </a:r>
            <a:r>
              <a:rPr lang="es-AR" dirty="0"/>
              <a:t>(reco.info + " ");</a:t>
            </a:r>
          </a:p>
          <a:p>
            <a:pPr marL="0" indent="0">
              <a:buNone/>
            </a:pPr>
            <a:r>
              <a:rPr lang="es-AR" dirty="0"/>
              <a:t>          }</a:t>
            </a:r>
          </a:p>
          <a:p>
            <a:pPr marL="0" indent="0">
              <a:buNone/>
            </a:pPr>
            <a:r>
              <a:rPr lang="es-AR" dirty="0"/>
              <a:t>      }</a:t>
            </a:r>
          </a:p>
          <a:p>
            <a:pPr marL="0" indent="0">
              <a:buNone/>
            </a:pPr>
            <a:r>
              <a:rPr lang="es-AR" dirty="0"/>
              <a:t> </a:t>
            </a:r>
          </a:p>
          <a:p>
            <a:pPr marL="0" indent="0">
              <a:buNone/>
            </a:pPr>
            <a:r>
              <a:rPr lang="es-AR" dirty="0"/>
              <a:t> </a:t>
            </a:r>
          </a:p>
          <a:p>
            <a:pPr marL="0" indent="0">
              <a:buNone/>
            </a:pPr>
            <a:r>
              <a:rPr lang="es-AR" dirty="0"/>
              <a:t>      </a:t>
            </a:r>
            <a:r>
              <a:rPr lang="es-AR" dirty="0" err="1"/>
              <a:t>public</a:t>
            </a:r>
            <a:r>
              <a:rPr lang="es-AR" dirty="0"/>
              <a:t> </a:t>
            </a:r>
            <a:r>
              <a:rPr lang="es-AR" dirty="0" err="1"/>
              <a:t>void</a:t>
            </a:r>
            <a:r>
              <a:rPr lang="es-AR" dirty="0"/>
              <a:t> </a:t>
            </a:r>
            <a:r>
              <a:rPr lang="es-AR" dirty="0" err="1"/>
              <a:t>imprimirPost</a:t>
            </a:r>
            <a:r>
              <a:rPr lang="es-AR" dirty="0"/>
              <a:t> ()</a:t>
            </a:r>
          </a:p>
          <a:p>
            <a:pPr marL="0" indent="0">
              <a:buNone/>
            </a:pPr>
            <a:r>
              <a:rPr lang="es-AR" dirty="0"/>
              <a:t>      {</a:t>
            </a:r>
          </a:p>
          <a:p>
            <a:pPr marL="0" indent="0">
              <a:buNone/>
            </a:pPr>
            <a:r>
              <a:rPr lang="es-AR" dirty="0"/>
              <a:t>          </a:t>
            </a:r>
            <a:r>
              <a:rPr lang="es-AR" dirty="0" err="1"/>
              <a:t>imprimirPost</a:t>
            </a:r>
            <a:r>
              <a:rPr lang="es-AR" dirty="0"/>
              <a:t> (</a:t>
            </a:r>
            <a:r>
              <a:rPr lang="es-AR" dirty="0" err="1"/>
              <a:t>raiz</a:t>
            </a:r>
            <a:r>
              <a:rPr lang="es-AR" dirty="0"/>
              <a:t>);</a:t>
            </a:r>
          </a:p>
          <a:p>
            <a:pPr marL="0" indent="0">
              <a:buNone/>
            </a:pPr>
            <a:r>
              <a:rPr lang="es-AR" dirty="0"/>
              <a:t>          </a:t>
            </a:r>
            <a:r>
              <a:rPr lang="es-AR" dirty="0" err="1"/>
              <a:t>System.out.println</a:t>
            </a:r>
            <a:r>
              <a:rPr lang="es-AR" dirty="0"/>
              <a:t>();</a:t>
            </a:r>
          </a:p>
          <a:p>
            <a:pPr marL="0" indent="0">
              <a:buNone/>
            </a:pPr>
            <a:r>
              <a:rPr lang="es-AR" dirty="0"/>
              <a:t>      }</a:t>
            </a:r>
          </a:p>
        </p:txBody>
      </p:sp>
    </p:spTree>
    <p:extLst>
      <p:ext uri="{BB962C8B-B14F-4D97-AF65-F5344CB8AC3E}">
        <p14:creationId xmlns:p14="http://schemas.microsoft.com/office/powerpoint/2010/main" val="372899599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381</TotalTime>
  <Words>1617</Words>
  <Application>Microsoft Office PowerPoint</Application>
  <PresentationFormat>Presentación en pantalla (4:3)</PresentationFormat>
  <Paragraphs>313</Paragraphs>
  <Slides>33</Slides>
  <Notes>0</Notes>
  <HiddenSlides>0</HiddenSlides>
  <MMClips>0</MMClips>
  <ScaleCrop>false</ScaleCrop>
  <HeadingPairs>
    <vt:vector size="4" baseType="variant">
      <vt:variant>
        <vt:lpstr>Tema</vt:lpstr>
      </vt:variant>
      <vt:variant>
        <vt:i4>1</vt:i4>
      </vt:variant>
      <vt:variant>
        <vt:lpstr>Títulos de diapositiva</vt:lpstr>
      </vt:variant>
      <vt:variant>
        <vt:i4>33</vt:i4>
      </vt:variant>
    </vt:vector>
  </HeadingPairs>
  <TitlesOfParts>
    <vt:vector size="34" baseType="lpstr">
      <vt:lpstr>Tema de Office</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Estructuras de Datos</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Luffi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Rafael</dc:creator>
  <cp:lastModifiedBy>Planificacion</cp:lastModifiedBy>
  <cp:revision>28</cp:revision>
  <dcterms:created xsi:type="dcterms:W3CDTF">2021-04-16T14:44:59Z</dcterms:created>
  <dcterms:modified xsi:type="dcterms:W3CDTF">2022-04-19T15:45:08Z</dcterms:modified>
</cp:coreProperties>
</file>