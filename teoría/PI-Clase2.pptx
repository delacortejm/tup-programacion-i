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embeddedFontLst>
    <p:embeddedFont>
      <p:font typeface="Palatino Linotyp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iL4XFfgaOqFV+KyZ95Gicf1Zp/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latinoLinotype-bold.fntdata"/><Relationship Id="rId11" Type="http://schemas.openxmlformats.org/officeDocument/2006/relationships/slide" Target="slides/slide6.xml"/><Relationship Id="rId22" Type="http://schemas.openxmlformats.org/officeDocument/2006/relationships/font" Target="fonts/PalatinoLinotype-boldItalic.fntdata"/><Relationship Id="rId10" Type="http://schemas.openxmlformats.org/officeDocument/2006/relationships/slide" Target="slides/slide5.xml"/><Relationship Id="rId21" Type="http://schemas.openxmlformats.org/officeDocument/2006/relationships/font" Target="fonts/PalatinoLinotype-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alatinoLinotype-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5" name="Shape 45"/>
        <p:cNvGrpSpPr/>
        <p:nvPr/>
      </p:nvGrpSpPr>
      <p:grpSpPr>
        <a:xfrm>
          <a:off x="0" y="0"/>
          <a:ext cx="0" cy="0"/>
          <a:chOff x="0" y="0"/>
          <a:chExt cx="0" cy="0"/>
        </a:xfrm>
      </p:grpSpPr>
      <p:sp>
        <p:nvSpPr>
          <p:cNvPr id="46" name="Google Shape;4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s-AR"/>
              <a:t>LOS TIPOS DE DATOS</a:t>
            </a: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Calibri"/>
              <a:buNone/>
            </a:pPr>
            <a:r>
              <a:rPr b="1" lang="es-AR">
                <a:solidFill>
                  <a:srgbClr val="C00000"/>
                </a:solidFill>
              </a:rPr>
              <a:t>Tipos de Datos</a:t>
            </a:r>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0000"/>
              </a:buClr>
              <a:buSzPts val="3200"/>
              <a:buChar char="•"/>
            </a:pPr>
            <a:r>
              <a:rPr b="0" i="0" lang="es-AR">
                <a:solidFill>
                  <a:srgbClr val="000000"/>
                </a:solidFill>
                <a:latin typeface="Palatino Linotype"/>
                <a:ea typeface="Palatino Linotype"/>
                <a:cs typeface="Palatino Linotype"/>
                <a:sym typeface="Palatino Linotype"/>
              </a:rPr>
              <a:t>Un </a:t>
            </a:r>
            <a:r>
              <a:rPr b="1" i="0" lang="es-AR">
                <a:solidFill>
                  <a:srgbClr val="000000"/>
                </a:solidFill>
                <a:latin typeface="Palatino Linotype"/>
                <a:ea typeface="Palatino Linotype"/>
                <a:cs typeface="Palatino Linotype"/>
                <a:sym typeface="Palatino Linotype"/>
              </a:rPr>
              <a:t>tipo de datos</a:t>
            </a:r>
            <a:r>
              <a:rPr b="0" i="0" lang="es-AR">
                <a:solidFill>
                  <a:srgbClr val="000000"/>
                </a:solidFill>
                <a:latin typeface="Palatino Linotype"/>
                <a:ea typeface="Palatino Linotype"/>
                <a:cs typeface="Palatino Linotype"/>
                <a:sym typeface="Palatino Linotype"/>
              </a:rPr>
              <a:t> es la propiedad de un valor que determina su dominio (qué valores puede tomar), qué operaciones se le pueden aplicar y cómo es representado internamente por el computador.</a:t>
            </a:r>
            <a:endParaRPr/>
          </a:p>
          <a:p>
            <a:pPr indent="-342900" lvl="0" marL="342900" rtl="0" algn="l">
              <a:spcBef>
                <a:spcPts val="640"/>
              </a:spcBef>
              <a:spcAft>
                <a:spcPts val="0"/>
              </a:spcAft>
              <a:buClr>
                <a:srgbClr val="000000"/>
              </a:buClr>
              <a:buSzPts val="3200"/>
              <a:buChar char="•"/>
            </a:pPr>
            <a:r>
              <a:rPr b="0" i="0" lang="es-AR">
                <a:solidFill>
                  <a:srgbClr val="000000"/>
                </a:solidFill>
                <a:latin typeface="Palatino Linotype"/>
                <a:ea typeface="Palatino Linotype"/>
                <a:cs typeface="Palatino Linotype"/>
                <a:sym typeface="Palatino Linotype"/>
              </a:rPr>
              <a:t>Todos los valores que aparecen en un programa tienen un tipo.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C00000"/>
              </a:buClr>
              <a:buSzPts val="4400"/>
              <a:buFont typeface="Verdana"/>
              <a:buNone/>
            </a:pPr>
            <a:r>
              <a:rPr b="1" lang="es-AR">
                <a:solidFill>
                  <a:srgbClr val="C00000"/>
                </a:solidFill>
                <a:latin typeface="Verdana"/>
                <a:ea typeface="Verdana"/>
                <a:cs typeface="Verdana"/>
                <a:sym typeface="Verdana"/>
              </a:rPr>
              <a:t>Diferentes datos</a:t>
            </a:r>
            <a:endParaRPr/>
          </a:p>
        </p:txBody>
      </p:sp>
      <p:sp>
        <p:nvSpPr>
          <p:cNvPr id="97" name="Google Shape;9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None/>
            </a:pPr>
            <a:r>
              <a:rPr lang="es-AR"/>
              <a:t>“Rafael”</a:t>
            </a:r>
            <a:endParaRPr/>
          </a:p>
          <a:p>
            <a:pPr indent="0" lvl="0" marL="0" rtl="0" algn="ctr">
              <a:spcBef>
                <a:spcPts val="640"/>
              </a:spcBef>
              <a:spcAft>
                <a:spcPts val="0"/>
              </a:spcAft>
              <a:buClr>
                <a:schemeClr val="dk1"/>
              </a:buClr>
              <a:buSzPts val="3200"/>
              <a:buNone/>
            </a:pPr>
            <a:r>
              <a:rPr lang="es-AR"/>
              <a:t>256</a:t>
            </a:r>
            <a:endParaRPr/>
          </a:p>
          <a:p>
            <a:pPr indent="0" lvl="0" marL="0" rtl="0" algn="ctr">
              <a:spcBef>
                <a:spcPts val="640"/>
              </a:spcBef>
              <a:spcAft>
                <a:spcPts val="0"/>
              </a:spcAft>
              <a:buClr>
                <a:schemeClr val="dk1"/>
              </a:buClr>
              <a:buSzPts val="3200"/>
              <a:buNone/>
            </a:pPr>
            <a:r>
              <a:rPr lang="es-AR"/>
              <a:t>1234</a:t>
            </a:r>
            <a:endParaRPr/>
          </a:p>
          <a:p>
            <a:pPr indent="0" lvl="0" marL="0" rtl="0" algn="ctr">
              <a:spcBef>
                <a:spcPts val="640"/>
              </a:spcBef>
              <a:spcAft>
                <a:spcPts val="0"/>
              </a:spcAft>
              <a:buClr>
                <a:schemeClr val="dk1"/>
              </a:buClr>
              <a:buSzPts val="3200"/>
              <a:buNone/>
            </a:pPr>
            <a:r>
              <a:rPr lang="es-AR"/>
              <a:t>45000000</a:t>
            </a:r>
            <a:endParaRPr/>
          </a:p>
          <a:p>
            <a:pPr indent="0" lvl="0" marL="0" rtl="0" algn="ctr">
              <a:spcBef>
                <a:spcPts val="640"/>
              </a:spcBef>
              <a:spcAft>
                <a:spcPts val="0"/>
              </a:spcAft>
              <a:buClr>
                <a:schemeClr val="dk1"/>
              </a:buClr>
              <a:buSzPts val="3200"/>
              <a:buNone/>
            </a:pPr>
            <a:r>
              <a:rPr lang="es-AR"/>
              <a:t>42,35</a:t>
            </a:r>
            <a:endParaRPr/>
          </a:p>
          <a:p>
            <a:pPr indent="0" lvl="0" marL="0" rtl="0" algn="ctr">
              <a:spcBef>
                <a:spcPts val="640"/>
              </a:spcBef>
              <a:spcAft>
                <a:spcPts val="0"/>
              </a:spcAft>
              <a:buClr>
                <a:schemeClr val="dk1"/>
              </a:buClr>
              <a:buSzPts val="3200"/>
              <a:buNone/>
            </a:pPr>
            <a:r>
              <a:rPr lang="es-AR"/>
              <a:t>“Algoritmos y Estructuras de Datos</a:t>
            </a:r>
            <a:endParaRPr/>
          </a:p>
          <a:p>
            <a:pPr indent="0" lvl="0" marL="0" rtl="0" algn="ctr">
              <a:spcBef>
                <a:spcPts val="640"/>
              </a:spcBef>
              <a:spcAft>
                <a:spcPts val="0"/>
              </a:spcAft>
              <a:buClr>
                <a:schemeClr val="dk1"/>
              </a:buClr>
              <a:buSzPts val="32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Verdana"/>
              <a:buNone/>
            </a:pPr>
            <a:r>
              <a:rPr b="1" lang="es-AR">
                <a:solidFill>
                  <a:srgbClr val="00B050"/>
                </a:solidFill>
                <a:latin typeface="Verdana"/>
                <a:ea typeface="Verdana"/>
                <a:cs typeface="Verdana"/>
                <a:sym typeface="Verdana"/>
              </a:rPr>
              <a:t>Tipos de Datos</a:t>
            </a:r>
            <a:endParaRPr/>
          </a:p>
        </p:txBody>
      </p:sp>
      <p:sp>
        <p:nvSpPr>
          <p:cNvPr id="103" name="Google Shape;10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s-AR"/>
              <a:t>Un tipo define que valores puede tomar (Su Dominio)</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s-AR"/>
              <a:t>Que operaciones son válidas</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s-AR"/>
              <a:t>Que espacio de memoria ocupa</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Verdana"/>
              <a:buNone/>
            </a:pPr>
            <a:r>
              <a:rPr b="1" lang="es-AR">
                <a:solidFill>
                  <a:srgbClr val="00B050"/>
                </a:solidFill>
                <a:latin typeface="Verdana"/>
                <a:ea typeface="Verdana"/>
                <a:cs typeface="Verdana"/>
                <a:sym typeface="Verdana"/>
              </a:rPr>
              <a:t>Tipos Primitivos de Datos</a:t>
            </a:r>
            <a:endParaRPr/>
          </a:p>
        </p:txBody>
      </p:sp>
      <p:sp>
        <p:nvSpPr>
          <p:cNvPr id="109" name="Google Shape;10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s-AR"/>
              <a:t> Representan un único dato simple.</a:t>
            </a:r>
            <a:endParaRPr/>
          </a:p>
          <a:p>
            <a:pPr indent="-342900" lvl="0" marL="342900" rtl="0" algn="l">
              <a:spcBef>
                <a:spcPts val="640"/>
              </a:spcBef>
              <a:spcAft>
                <a:spcPts val="0"/>
              </a:spcAft>
              <a:buClr>
                <a:schemeClr val="dk1"/>
              </a:buClr>
              <a:buSzPts val="3200"/>
              <a:buChar char="•"/>
            </a:pPr>
            <a:r>
              <a:rPr lang="es-AR"/>
              <a:t>Puede ser de tipo caracter, byte, entero corto, entero, entero largo, flotante, doble, booleano.</a:t>
            </a:r>
            <a:endParaRPr/>
          </a:p>
          <a:p>
            <a:pPr indent="-342900" lvl="0" marL="342900" rtl="0" algn="l">
              <a:spcBef>
                <a:spcPts val="640"/>
              </a:spcBef>
              <a:spcAft>
                <a:spcPts val="0"/>
              </a:spcAft>
              <a:buClr>
                <a:schemeClr val="dk1"/>
              </a:buClr>
              <a:buSzPts val="3200"/>
              <a:buChar char="•"/>
            </a:pPr>
            <a:r>
              <a:rPr lang="es-AR"/>
              <a:t>Por ejemplo: ‘a’, 12345, 750.68, Falso,... Cada tipo de dato presenta un conjunto de valores o constantes literales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Verdana"/>
              <a:buNone/>
            </a:pPr>
            <a:r>
              <a:rPr b="1" lang="es-AR">
                <a:solidFill>
                  <a:srgbClr val="00B050"/>
                </a:solidFill>
                <a:latin typeface="Verdana"/>
                <a:ea typeface="Verdana"/>
                <a:cs typeface="Verdana"/>
                <a:sym typeface="Verdana"/>
              </a:rPr>
              <a:t>Valores De Tipos en Java</a:t>
            </a:r>
            <a:endParaRPr/>
          </a:p>
        </p:txBody>
      </p:sp>
      <p:pic>
        <p:nvPicPr>
          <p:cNvPr id="115" name="Google Shape;115;p6"/>
          <p:cNvPicPr preferRelativeResize="0"/>
          <p:nvPr>
            <p:ph idx="1" type="body"/>
          </p:nvPr>
        </p:nvPicPr>
        <p:blipFill rotWithShape="1">
          <a:blip r:embed="rId3">
            <a:alphaModFix/>
          </a:blip>
          <a:srcRect b="0" l="0" r="0" t="0"/>
          <a:stretch/>
        </p:blipFill>
        <p:spPr>
          <a:xfrm>
            <a:off x="395536" y="1412776"/>
            <a:ext cx="8328857" cy="3816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B050"/>
              </a:buClr>
              <a:buSzPct val="100000"/>
              <a:buFont typeface="Verdana"/>
              <a:buNone/>
            </a:pPr>
            <a:r>
              <a:rPr b="1" lang="es-AR">
                <a:solidFill>
                  <a:srgbClr val="00B050"/>
                </a:solidFill>
                <a:latin typeface="Verdana"/>
                <a:ea typeface="Verdana"/>
                <a:cs typeface="Verdana"/>
                <a:sym typeface="Verdana"/>
              </a:rPr>
              <a:t>Tipos de Datos Numéricos SQL</a:t>
            </a:r>
            <a:endParaRPr/>
          </a:p>
        </p:txBody>
      </p:sp>
      <p:sp>
        <p:nvSpPr>
          <p:cNvPr id="121" name="Google Shape;121;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spcBef>
                <a:spcPts val="0"/>
              </a:spcBef>
              <a:spcAft>
                <a:spcPts val="0"/>
              </a:spcAft>
              <a:buClr>
                <a:schemeClr val="dk1"/>
              </a:buClr>
              <a:buSzPct val="100000"/>
              <a:buNone/>
            </a:pPr>
            <a:r>
              <a:t/>
            </a:r>
            <a:endParaRPr/>
          </a:p>
          <a:p>
            <a:pPr indent="-342900" lvl="0" marL="342900" rtl="0" algn="l">
              <a:spcBef>
                <a:spcPts val="304"/>
              </a:spcBef>
              <a:spcAft>
                <a:spcPts val="0"/>
              </a:spcAft>
              <a:buClr>
                <a:schemeClr val="dk1"/>
              </a:buClr>
              <a:buSzPct val="100000"/>
              <a:buChar char="•"/>
            </a:pPr>
            <a:r>
              <a:rPr lang="es-AR"/>
              <a:t>TINYINT (tamaño)	-128 a 127 normal. 0 a 255 SIN FIRMAR *. La cantidad máxima de dígitos se puede especificar entre paréntesis</a:t>
            </a:r>
            <a:endParaRPr/>
          </a:p>
          <a:p>
            <a:pPr indent="-342900" lvl="0" marL="342900" rtl="0" algn="l">
              <a:spcBef>
                <a:spcPts val="304"/>
              </a:spcBef>
              <a:spcAft>
                <a:spcPts val="0"/>
              </a:spcAft>
              <a:buClr>
                <a:schemeClr val="dk1"/>
              </a:buClr>
              <a:buSzPct val="100000"/>
              <a:buChar char="•"/>
            </a:pPr>
            <a:r>
              <a:rPr lang="es-AR"/>
              <a:t>SMALLINT (tamaño)	-32768 a 32767 normal. 0 a 65535 SIN FIRMAR *. La cantidad máxima de dígitos se puede especificar entre paréntesis</a:t>
            </a:r>
            <a:endParaRPr/>
          </a:p>
          <a:p>
            <a:pPr indent="-342900" lvl="0" marL="342900" rtl="0" algn="l">
              <a:spcBef>
                <a:spcPts val="304"/>
              </a:spcBef>
              <a:spcAft>
                <a:spcPts val="0"/>
              </a:spcAft>
              <a:buClr>
                <a:schemeClr val="dk1"/>
              </a:buClr>
              <a:buSzPct val="100000"/>
              <a:buChar char="•"/>
            </a:pPr>
            <a:r>
              <a:rPr lang="es-AR"/>
              <a:t>MEDIUMINT (tamaño)	-8388608 a 8388607 normal. 0 a 16777215 SIN FIRMAR *. La cantidad máxima de dígitos se puede especificar entre paréntesis</a:t>
            </a:r>
            <a:endParaRPr/>
          </a:p>
          <a:p>
            <a:pPr indent="-342900" lvl="0" marL="342900" rtl="0" algn="l">
              <a:spcBef>
                <a:spcPts val="304"/>
              </a:spcBef>
              <a:spcAft>
                <a:spcPts val="0"/>
              </a:spcAft>
              <a:buClr>
                <a:schemeClr val="dk1"/>
              </a:buClr>
              <a:buSzPct val="100000"/>
              <a:buChar char="•"/>
            </a:pPr>
            <a:r>
              <a:rPr lang="es-AR"/>
              <a:t>INT (tamaño)	-2147483648 a 2147483647 normal. 0 a 4294967295 SIN FIRMAR *. La cantidad máxima de dígitos se puede especificar entre paréntesis</a:t>
            </a:r>
            <a:endParaRPr/>
          </a:p>
          <a:p>
            <a:pPr indent="-342900" lvl="0" marL="342900" rtl="0" algn="l">
              <a:spcBef>
                <a:spcPts val="304"/>
              </a:spcBef>
              <a:spcAft>
                <a:spcPts val="0"/>
              </a:spcAft>
              <a:buClr>
                <a:schemeClr val="dk1"/>
              </a:buClr>
              <a:buSzPct val="100000"/>
              <a:buChar char="•"/>
            </a:pPr>
            <a:r>
              <a:rPr lang="es-AR"/>
              <a:t>BIGINT (tamaño)	-9223372036854775808 a 9223372036854775807 normal. 0 a 18446744073709551615 SIN FIRMAR *. La cantidad máxima de dígitos se puede especificar entre paréntesis</a:t>
            </a:r>
            <a:endParaRPr/>
          </a:p>
          <a:p>
            <a:pPr indent="-342900" lvl="0" marL="342900" rtl="0" algn="l">
              <a:spcBef>
                <a:spcPts val="304"/>
              </a:spcBef>
              <a:spcAft>
                <a:spcPts val="0"/>
              </a:spcAft>
              <a:buClr>
                <a:schemeClr val="dk1"/>
              </a:buClr>
              <a:buSzPct val="100000"/>
              <a:buChar char="•"/>
            </a:pPr>
            <a:r>
              <a:rPr lang="es-AR"/>
              <a:t>FLOAT (tamaño, d)	Un pequeño número con un punto decimal flotante. La cantidad máxima de dígitos se puede especificar en el parámetro de tamaño. El número máximo de dígitos a la derecha del punto decimal se especifica en el parámetro d</a:t>
            </a:r>
            <a:endParaRPr/>
          </a:p>
          <a:p>
            <a:pPr indent="-342900" lvl="0" marL="342900" rtl="0" algn="l">
              <a:spcBef>
                <a:spcPts val="304"/>
              </a:spcBef>
              <a:spcAft>
                <a:spcPts val="0"/>
              </a:spcAft>
              <a:buClr>
                <a:schemeClr val="dk1"/>
              </a:buClr>
              <a:buSzPct val="100000"/>
              <a:buChar char="•"/>
            </a:pPr>
            <a:r>
              <a:rPr lang="es-AR"/>
              <a:t>DOBLE (tamaño, d)	Un número grande con un punto decimal flotante. La cantidad máxima de dígitos se puede especificar en el parámetro de tamaño. El número máximo de dígitos a la derecha del punto decimal se especifica en el parámetro d</a:t>
            </a:r>
            <a:endParaRPr/>
          </a:p>
          <a:p>
            <a:pPr indent="-342900" lvl="0" marL="342900" rtl="0" algn="l">
              <a:spcBef>
                <a:spcPts val="304"/>
              </a:spcBef>
              <a:spcAft>
                <a:spcPts val="0"/>
              </a:spcAft>
              <a:buClr>
                <a:schemeClr val="dk1"/>
              </a:buClr>
              <a:buSzPct val="100000"/>
              <a:buChar char="•"/>
            </a:pPr>
            <a:r>
              <a:rPr lang="es-AR"/>
              <a:t>DECIMAL (tamaño, d)	Un DOBLE almacenado como una cadena, lo que permite un punto decimal fijo. La cantidad máxima de dígitos se puede especificar en el parámetro de tamaño. El número máximo de dígitos a la derecha del punto decimal se especifica en el parámetro 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Verdana"/>
              <a:buNone/>
            </a:pPr>
            <a:r>
              <a:rPr b="1" lang="es-AR">
                <a:solidFill>
                  <a:srgbClr val="00B050"/>
                </a:solidFill>
                <a:latin typeface="Verdana"/>
                <a:ea typeface="Verdana"/>
                <a:cs typeface="Verdana"/>
                <a:sym typeface="Verdana"/>
              </a:rPr>
              <a:t>Tipos de Datos en Python</a:t>
            </a:r>
            <a:endParaRPr b="1">
              <a:solidFill>
                <a:srgbClr val="00B050"/>
              </a:solidFill>
              <a:latin typeface="Verdana"/>
              <a:ea typeface="Verdana"/>
              <a:cs typeface="Verdana"/>
              <a:sym typeface="Verdana"/>
            </a:endParaRPr>
          </a:p>
        </p:txBody>
      </p:sp>
      <p:sp>
        <p:nvSpPr>
          <p:cNvPr id="127" name="Google Shape;12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s-AR"/>
              <a:t>INT</a:t>
            </a:r>
            <a:r>
              <a:rPr lang="es-AR"/>
              <a:t>: </a:t>
            </a:r>
            <a:r>
              <a:rPr b="0" i="0" lang="es-AR">
                <a:solidFill>
                  <a:srgbClr val="000000"/>
                </a:solidFill>
                <a:latin typeface="Palatino Linotype"/>
                <a:ea typeface="Palatino Linotype"/>
                <a:cs typeface="Palatino Linotype"/>
                <a:sym typeface="Palatino Linotype"/>
              </a:rPr>
              <a:t>permite representar números reales </a:t>
            </a:r>
            <a:r>
              <a:rPr lang="es-AR"/>
              <a:t>Enteros)</a:t>
            </a:r>
            <a:endParaRPr/>
          </a:p>
          <a:p>
            <a:pPr indent="-342900" lvl="0" marL="342900" rtl="0" algn="l">
              <a:spcBef>
                <a:spcPts val="640"/>
              </a:spcBef>
              <a:spcAft>
                <a:spcPts val="0"/>
              </a:spcAft>
              <a:buClr>
                <a:schemeClr val="dk1"/>
              </a:buClr>
              <a:buSzPts val="3200"/>
              <a:buChar char="•"/>
            </a:pPr>
            <a:r>
              <a:rPr b="1" lang="es-AR"/>
              <a:t>FLOAT:</a:t>
            </a:r>
            <a:r>
              <a:rPr lang="es-AR"/>
              <a:t> </a:t>
            </a:r>
            <a:r>
              <a:rPr b="0" i="0" lang="es-AR">
                <a:solidFill>
                  <a:srgbClr val="000000"/>
                </a:solidFill>
                <a:latin typeface="Palatino Linotype"/>
                <a:ea typeface="Palatino Linotype"/>
                <a:cs typeface="Palatino Linotype"/>
                <a:sym typeface="Palatino Linotype"/>
              </a:rPr>
              <a:t>permite representar números reales.</a:t>
            </a:r>
            <a:endParaRPr/>
          </a:p>
          <a:p>
            <a:pPr indent="-342900" lvl="0" marL="342900" rtl="0" algn="l">
              <a:spcBef>
                <a:spcPts val="640"/>
              </a:spcBef>
              <a:spcAft>
                <a:spcPts val="0"/>
              </a:spcAft>
              <a:buClr>
                <a:srgbClr val="000000"/>
              </a:buClr>
              <a:buSzPts val="3200"/>
              <a:buChar char="•"/>
            </a:pPr>
            <a:r>
              <a:rPr b="1" lang="es-AR">
                <a:solidFill>
                  <a:srgbClr val="000000"/>
                </a:solidFill>
              </a:rPr>
              <a:t>COMPLEX:</a:t>
            </a:r>
            <a:r>
              <a:rPr b="0" i="0" lang="es-AR">
                <a:solidFill>
                  <a:srgbClr val="000000"/>
                </a:solidFill>
              </a:rPr>
              <a:t> permite representar números complejos. </a:t>
            </a:r>
            <a:endParaRPr/>
          </a:p>
          <a:p>
            <a:pPr indent="-342900" lvl="0" marL="342900" rtl="0" algn="l">
              <a:spcBef>
                <a:spcPts val="640"/>
              </a:spcBef>
              <a:spcAft>
                <a:spcPts val="0"/>
              </a:spcAft>
              <a:buClr>
                <a:srgbClr val="000000"/>
              </a:buClr>
              <a:buSzPts val="3200"/>
              <a:buChar char="•"/>
            </a:pPr>
            <a:r>
              <a:rPr b="1" i="0" lang="es-AR">
                <a:solidFill>
                  <a:srgbClr val="000000"/>
                </a:solidFill>
              </a:rPr>
              <a:t>BOOL</a:t>
            </a:r>
            <a:r>
              <a:rPr lang="es-AR">
                <a:solidFill>
                  <a:srgbClr val="000000"/>
                </a:solidFill>
              </a:rPr>
              <a:t>:</a:t>
            </a:r>
            <a:r>
              <a:rPr b="0" i="0" lang="es-AR">
                <a:solidFill>
                  <a:srgbClr val="000000"/>
                </a:solidFill>
              </a:rPr>
              <a:t> que representa valores lógicos</a:t>
            </a:r>
            <a:r>
              <a:rPr b="0" i="0" lang="es-AR">
                <a:solidFill>
                  <a:srgbClr val="000000"/>
                </a:solidFill>
                <a:latin typeface="Palatino Linotype"/>
                <a:ea typeface="Palatino Linotype"/>
                <a:cs typeface="Palatino Linotype"/>
                <a:sym typeface="Palatino Linotype"/>
              </a:rPr>
              <a:t>. </a:t>
            </a:r>
            <a:endParaRPr b="0" i="0">
              <a:solidFill>
                <a:srgbClr val="000000"/>
              </a:solidFill>
              <a:latin typeface="Palatino Linotype"/>
              <a:ea typeface="Palatino Linotype"/>
              <a:cs typeface="Palatino Linotype"/>
              <a:sym typeface="Palatino Linotype"/>
            </a:endParaRPr>
          </a:p>
          <a:p>
            <a:pPr indent="-342900" lvl="0" marL="342900" rtl="0" algn="l">
              <a:spcBef>
                <a:spcPts val="640"/>
              </a:spcBef>
              <a:spcAft>
                <a:spcPts val="0"/>
              </a:spcAft>
              <a:buClr>
                <a:srgbClr val="000000"/>
              </a:buClr>
              <a:buSzPts val="3200"/>
              <a:buChar char="•"/>
            </a:pPr>
            <a:r>
              <a:rPr b="1" lang="es-AR">
                <a:solidFill>
                  <a:srgbClr val="000000"/>
                </a:solidFill>
              </a:rPr>
              <a:t>STR:</a:t>
            </a:r>
            <a:r>
              <a:rPr b="0" i="0" lang="es-AR">
                <a:solidFill>
                  <a:srgbClr val="000000"/>
                </a:solidFill>
                <a:latin typeface="Palatino Linotype"/>
                <a:ea typeface="Palatino Linotype"/>
                <a:cs typeface="Palatino Linotype"/>
                <a:sym typeface="Palatino Linotype"/>
              </a:rPr>
              <a:t>  valores que representan texto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Calibri"/>
              <a:buNone/>
            </a:pPr>
            <a:r>
              <a:rPr b="1" lang="es-AR">
                <a:solidFill>
                  <a:srgbClr val="00B050"/>
                </a:solidFill>
              </a:rPr>
              <a:t>Clasificación de Datos</a:t>
            </a:r>
            <a:endParaRPr/>
          </a:p>
        </p:txBody>
      </p:sp>
      <p:sp>
        <p:nvSpPr>
          <p:cNvPr id="133" name="Google Shape;13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None/>
            </a:pPr>
            <a:r>
              <a:rPr lang="es-AR"/>
              <a:t>						Numéricos</a:t>
            </a:r>
            <a:endParaRPr/>
          </a:p>
          <a:p>
            <a:pPr indent="0" lvl="0" marL="0" rtl="0" algn="l">
              <a:spcBef>
                <a:spcPts val="640"/>
              </a:spcBef>
              <a:spcAft>
                <a:spcPts val="0"/>
              </a:spcAft>
              <a:buClr>
                <a:schemeClr val="dk1"/>
              </a:buClr>
              <a:buSzPts val="3200"/>
              <a:buNone/>
            </a:pPr>
            <a:r>
              <a:rPr lang="es-AR"/>
              <a:t>			Simples		Lógicos</a:t>
            </a:r>
            <a:endParaRPr/>
          </a:p>
          <a:p>
            <a:pPr indent="0" lvl="0" marL="0" rtl="0" algn="l">
              <a:spcBef>
                <a:spcPts val="640"/>
              </a:spcBef>
              <a:spcAft>
                <a:spcPts val="0"/>
              </a:spcAft>
              <a:buClr>
                <a:schemeClr val="dk1"/>
              </a:buClr>
              <a:buSzPts val="3200"/>
              <a:buNone/>
            </a:pPr>
            <a:r>
              <a:rPr lang="es-AR"/>
              <a:t>						Alfanuméricos</a:t>
            </a:r>
            <a:endParaRPr/>
          </a:p>
          <a:p>
            <a:pPr indent="0" lvl="0" marL="0" rtl="0" algn="l">
              <a:spcBef>
                <a:spcPts val="640"/>
              </a:spcBef>
              <a:spcAft>
                <a:spcPts val="0"/>
              </a:spcAft>
              <a:buClr>
                <a:schemeClr val="dk1"/>
              </a:buClr>
              <a:buSzPts val="3200"/>
              <a:buNone/>
            </a:pPr>
            <a:r>
              <a:rPr lang="es-AR"/>
              <a:t>Tipos de Datos		</a:t>
            </a:r>
            <a:endParaRPr/>
          </a:p>
          <a:p>
            <a:pPr indent="0" lvl="0" marL="0" rtl="0" algn="l">
              <a:spcBef>
                <a:spcPts val="640"/>
              </a:spcBef>
              <a:spcAft>
                <a:spcPts val="0"/>
              </a:spcAft>
              <a:buClr>
                <a:schemeClr val="dk1"/>
              </a:buClr>
              <a:buSzPts val="3200"/>
              <a:buNone/>
            </a:pPr>
            <a:r>
              <a:rPr lang="es-AR"/>
              <a:t>						Arreglos</a:t>
            </a:r>
            <a:endParaRPr/>
          </a:p>
          <a:p>
            <a:pPr indent="0" lvl="0" marL="0" rtl="0" algn="l">
              <a:spcBef>
                <a:spcPts val="640"/>
              </a:spcBef>
              <a:spcAft>
                <a:spcPts val="0"/>
              </a:spcAft>
              <a:buClr>
                <a:schemeClr val="dk1"/>
              </a:buClr>
              <a:buSzPts val="3200"/>
              <a:buNone/>
            </a:pPr>
            <a:r>
              <a:rPr lang="es-AR"/>
              <a:t>			Estructurados	Registros</a:t>
            </a:r>
            <a:endParaRPr/>
          </a:p>
          <a:p>
            <a:pPr indent="0" lvl="0" marL="0" rtl="0" algn="l">
              <a:spcBef>
                <a:spcPts val="640"/>
              </a:spcBef>
              <a:spcAft>
                <a:spcPts val="0"/>
              </a:spcAft>
              <a:buClr>
                <a:schemeClr val="dk1"/>
              </a:buClr>
              <a:buSzPts val="3200"/>
              <a:buNone/>
            </a:pPr>
            <a:r>
              <a:rPr lang="es-AR"/>
              <a:t>						Archivos</a:t>
            </a:r>
            <a:endParaRPr/>
          </a:p>
          <a:p>
            <a:pPr indent="0" lvl="0" marL="0" rtl="0" algn="l">
              <a:spcBef>
                <a:spcPts val="640"/>
              </a:spcBef>
              <a:spcAft>
                <a:spcPts val="0"/>
              </a:spcAft>
              <a:buClr>
                <a:schemeClr val="dk1"/>
              </a:buClr>
              <a:buSzPts val="3200"/>
              <a:buNone/>
            </a:pPr>
            <a:r>
              <a:rPr lang="es-AR"/>
              <a:t>						Apuntadores</a:t>
            </a:r>
            <a:endParaRPr/>
          </a:p>
        </p:txBody>
      </p:sp>
      <p:sp>
        <p:nvSpPr>
          <p:cNvPr id="134" name="Google Shape;134;p9"/>
          <p:cNvSpPr/>
          <p:nvPr/>
        </p:nvSpPr>
        <p:spPr>
          <a:xfrm>
            <a:off x="2987824" y="1600200"/>
            <a:ext cx="45719" cy="4525243"/>
          </a:xfrm>
          <a:prstGeom prst="leftBrace">
            <a:avLst>
              <a:gd fmla="val 8333" name="adj1"/>
              <a:gd fmla="val 50000" name="adj2"/>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9"/>
          <p:cNvSpPr/>
          <p:nvPr/>
        </p:nvSpPr>
        <p:spPr>
          <a:xfrm>
            <a:off x="5796136" y="1600200"/>
            <a:ext cx="45719" cy="1612776"/>
          </a:xfrm>
          <a:prstGeom prst="leftBrace">
            <a:avLst>
              <a:gd fmla="val 8333" name="adj1"/>
              <a:gd fmla="val 50000" name="adj2"/>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9"/>
          <p:cNvSpPr/>
          <p:nvPr/>
        </p:nvSpPr>
        <p:spPr>
          <a:xfrm>
            <a:off x="5796136" y="3717032"/>
            <a:ext cx="45719" cy="2088232"/>
          </a:xfrm>
          <a:prstGeom prst="leftBrace">
            <a:avLst>
              <a:gd fmla="val 8333" name="adj1"/>
              <a:gd fmla="val 50000" name="adj2"/>
            </a:avLst>
          </a:prstGeom>
          <a:noFill/>
          <a:ln cap="flat" cmpd="sng" w="9525">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Verdana"/>
              <a:buNone/>
            </a:pPr>
            <a:r>
              <a:rPr b="1" lang="es-AR">
                <a:solidFill>
                  <a:srgbClr val="00B050"/>
                </a:solidFill>
                <a:latin typeface="Verdana"/>
                <a:ea typeface="Verdana"/>
                <a:cs typeface="Verdana"/>
                <a:sym typeface="Verdana"/>
              </a:rPr>
              <a:t>Declaración de Variables</a:t>
            </a:r>
            <a:endParaRPr/>
          </a:p>
        </p:txBody>
      </p:sp>
      <p:sp>
        <p:nvSpPr>
          <p:cNvPr id="142" name="Google Shape;142;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s-AR"/>
              <a:t>Una </a:t>
            </a:r>
            <a:r>
              <a:rPr b="1" lang="es-AR"/>
              <a:t>variable</a:t>
            </a:r>
            <a:r>
              <a:rPr lang="es-AR"/>
              <a:t> es un espacio de la memoria correspondiente a un dato cuyo valor puede modificarse durante la ejecución de un programa y que está asociado a un </a:t>
            </a:r>
            <a:r>
              <a:rPr b="1" lang="es-AR"/>
              <a:t>identificador</a:t>
            </a:r>
            <a:r>
              <a:rPr lang="es-AR"/>
              <a:t>.</a:t>
            </a:r>
            <a:endParaRPr/>
          </a:p>
          <a:p>
            <a:pPr indent="-342900" lvl="0" marL="342900" rtl="0" algn="l">
              <a:spcBef>
                <a:spcPts val="448"/>
              </a:spcBef>
              <a:spcAft>
                <a:spcPts val="0"/>
              </a:spcAft>
              <a:buClr>
                <a:schemeClr val="dk1"/>
              </a:buClr>
              <a:buSzPct val="100000"/>
              <a:buChar char="•"/>
            </a:pPr>
            <a:r>
              <a:rPr lang="es-AR"/>
              <a:t>Toda variable ha de declararse antes de ser usada en el código de un programa.</a:t>
            </a:r>
            <a:endParaRPr/>
          </a:p>
          <a:p>
            <a:pPr indent="-342900" lvl="0" marL="342900" rtl="0" algn="l">
              <a:spcBef>
                <a:spcPts val="448"/>
              </a:spcBef>
              <a:spcAft>
                <a:spcPts val="0"/>
              </a:spcAft>
              <a:buClr>
                <a:schemeClr val="dk1"/>
              </a:buClr>
              <a:buSzPct val="100000"/>
              <a:buChar char="•"/>
            </a:pPr>
            <a:r>
              <a:rPr lang="es-AR"/>
              <a:t> En la declaración de una variable debe indicarse explícitamente el identificador de la variable y el </a:t>
            </a:r>
            <a:r>
              <a:rPr b="1" lang="es-AR"/>
              <a:t>tipo</a:t>
            </a:r>
            <a:r>
              <a:rPr lang="es-AR"/>
              <a:t> de dato asociado.</a:t>
            </a:r>
            <a:endParaRPr/>
          </a:p>
          <a:p>
            <a:pPr indent="-342900" lvl="0" marL="342900" rtl="0" algn="l">
              <a:spcBef>
                <a:spcPts val="448"/>
              </a:spcBef>
              <a:spcAft>
                <a:spcPts val="0"/>
              </a:spcAft>
              <a:buClr>
                <a:schemeClr val="dk1"/>
              </a:buClr>
              <a:buSzPct val="100000"/>
              <a:buChar char="•"/>
            </a:pPr>
            <a:r>
              <a:rPr lang="es-AR"/>
              <a:t> El tipo de dato determina el espacio reservado en memoria, los diferentes valores que puede tomar la variable y las operaciones que pueden realizarse con ella. </a:t>
            </a:r>
            <a:endParaRPr/>
          </a:p>
          <a:p>
            <a:pPr indent="-342900" lvl="0" marL="342900" rtl="0" algn="l">
              <a:spcBef>
                <a:spcPts val="448"/>
              </a:spcBef>
              <a:spcAft>
                <a:spcPts val="0"/>
              </a:spcAft>
              <a:buClr>
                <a:schemeClr val="dk1"/>
              </a:buClr>
              <a:buSzPct val="100000"/>
              <a:buChar char="•"/>
            </a:pPr>
            <a:r>
              <a:rPr lang="es-AR"/>
              <a:t>La </a:t>
            </a:r>
            <a:r>
              <a:rPr b="1" lang="es-AR"/>
              <a:t>declaración</a:t>
            </a:r>
            <a:r>
              <a:rPr lang="es-AR"/>
              <a:t> de una variable en el código fuente de un programa puede hacerse de la siguiente forma:</a:t>
            </a:r>
            <a:endParaRPr/>
          </a:p>
          <a:p>
            <a:pPr indent="0" lvl="0" marL="0" rtl="0" algn="l">
              <a:spcBef>
                <a:spcPts val="448"/>
              </a:spcBef>
              <a:spcAft>
                <a:spcPts val="0"/>
              </a:spcAft>
              <a:buClr>
                <a:schemeClr val="dk1"/>
              </a:buClr>
              <a:buSzPct val="100000"/>
              <a:buNone/>
            </a:pPr>
            <a:r>
              <a:rPr lang="es-AR"/>
              <a:t>	</a:t>
            </a:r>
            <a:r>
              <a:rPr b="1" i="1" lang="es-AR"/>
              <a:t>tipo_de_dato identificador_de_la_variable;</a:t>
            </a:r>
            <a:endParaRPr b="1" i="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Calibri"/>
              <a:buNone/>
            </a:pPr>
            <a:r>
              <a:rPr b="1" lang="es-AR">
                <a:solidFill>
                  <a:srgbClr val="00B050"/>
                </a:solidFill>
              </a:rPr>
              <a:t>La Operación de Asignación	</a:t>
            </a:r>
            <a:endParaRPr/>
          </a:p>
        </p:txBody>
      </p:sp>
      <p:sp>
        <p:nvSpPr>
          <p:cNvPr id="148" name="Google Shape;148;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202124"/>
              </a:buClr>
              <a:buSzPts val="3200"/>
              <a:buChar char="•"/>
            </a:pPr>
            <a:r>
              <a:rPr b="0" i="0" lang="es-AR">
                <a:solidFill>
                  <a:srgbClr val="202124"/>
                </a:solidFill>
                <a:latin typeface="arial"/>
                <a:ea typeface="arial"/>
                <a:cs typeface="arial"/>
                <a:sym typeface="arial"/>
              </a:rPr>
              <a:t>El término asignación proviene del latín assignatio. Se trata del acto y el resultado de asignar: </a:t>
            </a:r>
            <a:r>
              <a:rPr b="1" i="0" lang="es-AR">
                <a:solidFill>
                  <a:srgbClr val="202124"/>
                </a:solidFill>
                <a:latin typeface="arial"/>
                <a:ea typeface="arial"/>
                <a:cs typeface="arial"/>
                <a:sym typeface="arial"/>
              </a:rPr>
              <a:t>indicar, establecer u otorgar aquello que corresponde</a:t>
            </a:r>
            <a:r>
              <a:rPr b="0" i="0" lang="es-AR">
                <a:solidFill>
                  <a:srgbClr val="202124"/>
                </a:solidFill>
                <a:latin typeface="arial"/>
                <a:ea typeface="arial"/>
                <a:cs typeface="arial"/>
                <a:sym typeface="arial"/>
              </a:rPr>
              <a:t>.</a:t>
            </a:r>
            <a:endParaRPr/>
          </a:p>
          <a:p>
            <a:pPr indent="-342900" lvl="0" marL="342900" rtl="0" algn="l">
              <a:spcBef>
                <a:spcPts val="640"/>
              </a:spcBef>
              <a:spcAft>
                <a:spcPts val="0"/>
              </a:spcAft>
              <a:buClr>
                <a:srgbClr val="202124"/>
              </a:buClr>
              <a:buSzPts val="3200"/>
              <a:buChar char="•"/>
            </a:pPr>
            <a:r>
              <a:rPr lang="es-AR">
                <a:solidFill>
                  <a:srgbClr val="202124"/>
                </a:solidFill>
                <a:latin typeface="arial"/>
                <a:ea typeface="arial"/>
                <a:cs typeface="arial"/>
                <a:sym typeface="arial"/>
              </a:rPr>
              <a:t>En el caso que nos ocupa consiste en evaluar lo que está a la derecha del signo de asignación y poner ese valor en la variable a la izquierda del signo de asignación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50"/>
              </a:buClr>
              <a:buSzPts val="4400"/>
              <a:buFont typeface="Calibri"/>
              <a:buNone/>
            </a:pPr>
            <a:r>
              <a:rPr b="1" lang="es-AR">
                <a:solidFill>
                  <a:srgbClr val="00B050"/>
                </a:solidFill>
              </a:rPr>
              <a:t>La Operación de Asignación	</a:t>
            </a:r>
            <a:endParaRPr/>
          </a:p>
        </p:txBody>
      </p:sp>
      <p:sp>
        <p:nvSpPr>
          <p:cNvPr id="154" name="Google Shape;154;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4400"/>
              <a:buChar char="•"/>
            </a:pPr>
            <a:r>
              <a:rPr lang="es-AR" sz="4400"/>
              <a:t>A:=25</a:t>
            </a:r>
            <a:endParaRPr/>
          </a:p>
          <a:p>
            <a:pPr indent="-342900" lvl="0" marL="342900" rtl="0" algn="l">
              <a:spcBef>
                <a:spcPts val="880"/>
              </a:spcBef>
              <a:spcAft>
                <a:spcPts val="0"/>
              </a:spcAft>
              <a:buClr>
                <a:schemeClr val="dk1"/>
              </a:buClr>
              <a:buSzPts val="4400"/>
              <a:buChar char="•"/>
            </a:pPr>
            <a:r>
              <a:rPr lang="es-AR" sz="4400"/>
              <a:t>A         25</a:t>
            </a:r>
            <a:endParaRPr/>
          </a:p>
          <a:p>
            <a:pPr indent="-342900" lvl="0" marL="342900" rtl="0" algn="l">
              <a:spcBef>
                <a:spcPts val="880"/>
              </a:spcBef>
              <a:spcAft>
                <a:spcPts val="0"/>
              </a:spcAft>
              <a:buClr>
                <a:schemeClr val="dk1"/>
              </a:buClr>
              <a:buSzPts val="4400"/>
              <a:buChar char="•"/>
            </a:pPr>
            <a:r>
              <a:rPr lang="es-AR" sz="4400"/>
              <a:t>X:=C</a:t>
            </a:r>
            <a:endParaRPr/>
          </a:p>
          <a:p>
            <a:pPr indent="-342900" lvl="0" marL="342900" rtl="0" algn="l">
              <a:spcBef>
                <a:spcPts val="880"/>
              </a:spcBef>
              <a:spcAft>
                <a:spcPts val="0"/>
              </a:spcAft>
              <a:buClr>
                <a:schemeClr val="dk1"/>
              </a:buClr>
              <a:buSzPts val="4400"/>
              <a:buChar char="•"/>
            </a:pPr>
            <a:r>
              <a:rPr lang="es-AR" sz="4400"/>
              <a:t>Y:= C+25</a:t>
            </a:r>
            <a:endParaRPr/>
          </a:p>
          <a:p>
            <a:pPr indent="-342900" lvl="0" marL="342900" rtl="0" algn="l">
              <a:spcBef>
                <a:spcPts val="880"/>
              </a:spcBef>
              <a:spcAft>
                <a:spcPts val="0"/>
              </a:spcAft>
              <a:buClr>
                <a:schemeClr val="dk1"/>
              </a:buClr>
              <a:buSzPts val="4400"/>
              <a:buChar char="•"/>
            </a:pPr>
            <a:r>
              <a:rPr lang="es-AR" sz="4400"/>
              <a:t>Nom := ‘Rafael’</a:t>
            </a:r>
            <a:endParaRPr/>
          </a:p>
        </p:txBody>
      </p:sp>
      <p:cxnSp>
        <p:nvCxnSpPr>
          <p:cNvPr id="155" name="Google Shape;155;p12"/>
          <p:cNvCxnSpPr/>
          <p:nvPr/>
        </p:nvCxnSpPr>
        <p:spPr>
          <a:xfrm rot="10800000">
            <a:off x="1403648" y="2780928"/>
            <a:ext cx="792088" cy="0"/>
          </a:xfrm>
          <a:prstGeom prst="straightConnector1">
            <a:avLst/>
          </a:prstGeom>
          <a:noFill/>
          <a:ln cap="flat" cmpd="sng" w="9525">
            <a:solidFill>
              <a:srgbClr val="4A7DBA"/>
            </a:solidFill>
            <a:prstDash val="solid"/>
            <a:round/>
            <a:headEnd len="sm" w="sm" type="none"/>
            <a:tailEnd len="med" w="med" type="stealth"/>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s-AR"/>
              <a:t>Bibliografía</a:t>
            </a:r>
            <a:endParaRPr/>
          </a:p>
        </p:txBody>
      </p:sp>
      <p:sp>
        <p:nvSpPr>
          <p:cNvPr id="161" name="Google Shape;161;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s-AR"/>
              <a:t>ALGORITMIA Y REPRESENTACIÓN DE DATOS. - LUCAS –  PEYRIN –  SCHOLL -MASSON</a:t>
            </a:r>
            <a:endParaRPr/>
          </a:p>
          <a:p>
            <a:pPr indent="-342900" lvl="0" marL="342900" rtl="0" algn="l">
              <a:spcBef>
                <a:spcPts val="496"/>
              </a:spcBef>
              <a:spcAft>
                <a:spcPts val="0"/>
              </a:spcAft>
              <a:buClr>
                <a:schemeClr val="dk1"/>
              </a:buClr>
              <a:buSzPct val="100000"/>
              <a:buChar char="•"/>
            </a:pPr>
            <a:r>
              <a:rPr lang="es-AR"/>
              <a:t>INTRODUCCIÓN A LA CIENCIA DE LOS COMPUTADORES - TREMBLAY – BUNT - MCGRAW – HILL</a:t>
            </a:r>
            <a:endParaRPr/>
          </a:p>
          <a:p>
            <a:pPr indent="-342900" lvl="0" marL="342900" rtl="0" algn="l">
              <a:spcBef>
                <a:spcPts val="496"/>
              </a:spcBef>
              <a:spcAft>
                <a:spcPts val="0"/>
              </a:spcAft>
              <a:buClr>
                <a:schemeClr val="dk1"/>
              </a:buClr>
              <a:buSzPct val="100000"/>
              <a:buChar char="•"/>
            </a:pPr>
            <a:r>
              <a:rPr lang="es-AR"/>
              <a:t>INTRODUCCIÓN A LA PROGRAMACIÓN Y A LAS </a:t>
            </a:r>
            <a:r>
              <a:rPr lang="es-AR"/>
              <a:t>ESTRUCTURAS</a:t>
            </a:r>
            <a:r>
              <a:rPr lang="es-AR"/>
              <a:t> DE  DATOS. - BRAUNSTEIN –GIOIA</a:t>
            </a:r>
            <a:endParaRPr/>
          </a:p>
          <a:p>
            <a:pPr indent="-342900" lvl="0" marL="342900" rtl="0" algn="l">
              <a:spcBef>
                <a:spcPts val="496"/>
              </a:spcBef>
              <a:spcAft>
                <a:spcPts val="0"/>
              </a:spcAft>
              <a:buClr>
                <a:schemeClr val="dk1"/>
              </a:buClr>
              <a:buSzPct val="100000"/>
              <a:buChar char="•"/>
            </a:pPr>
            <a:r>
              <a:rPr lang="es-AR"/>
              <a:t>ALGORITMO  +  ESTRUCTURAS  DE  DATOS  =  PROGRAMAS  - NICKLAUS  WIRTH  - DEL CASTILLO</a:t>
            </a:r>
            <a:endParaRPr/>
          </a:p>
          <a:p>
            <a:pPr indent="-342900" lvl="0" marL="342900" rtl="0" algn="l">
              <a:spcBef>
                <a:spcPts val="496"/>
              </a:spcBef>
              <a:spcAft>
                <a:spcPts val="0"/>
              </a:spcAft>
              <a:buClr>
                <a:schemeClr val="dk1"/>
              </a:buClr>
              <a:buSzPct val="100000"/>
              <a:buChar char="•"/>
            </a:pPr>
            <a:r>
              <a:rPr lang="es-AR"/>
              <a:t>DATA STRUCTURE AND ALGORITHMS - AHO –  HPCROFT –  ULLMAN - ADDISON –  WESLEY</a:t>
            </a:r>
            <a:endParaRPr/>
          </a:p>
          <a:p>
            <a:pPr indent="-342900" lvl="0" marL="342900" rtl="0" algn="l">
              <a:spcBef>
                <a:spcPts val="496"/>
              </a:spcBef>
              <a:spcAft>
                <a:spcPts val="0"/>
              </a:spcAft>
              <a:buClr>
                <a:schemeClr val="dk1"/>
              </a:buClr>
              <a:buSzPct val="100000"/>
              <a:buChar char="•"/>
            </a:pPr>
            <a:r>
              <a:rPr lang="es-AR"/>
              <a:t>OBJECT-ORIENTED ANALYSIS AND DESIGN WITH APLICATIONS. BLOOCH, GRADY. SECOND EDITION, THE BENJAMIN/CUMMINGS PUBLISHING COMPANY, INC. 1994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2021-03-15T21:23:56Z</dcterms:created>
  <dc:creator>Planificacion</dc:creator>
</cp:coreProperties>
</file>