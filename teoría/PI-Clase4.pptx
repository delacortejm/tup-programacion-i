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7" r:id="rId16"/>
    <p:sldId id="276" r:id="rId17"/>
    <p:sldId id="278" r:id="rId18"/>
    <p:sldId id="271" r:id="rId19"/>
    <p:sldId id="272" r:id="rId20"/>
    <p:sldId id="273" r:id="rId21"/>
    <p:sldId id="274" r:id="rId22"/>
    <p:sldId id="275" r:id="rId23"/>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4660"/>
  </p:normalViewPr>
  <p:slideViewPr>
    <p:cSldViewPr>
      <p:cViewPr varScale="1">
        <p:scale>
          <a:sx n="64" d="100"/>
          <a:sy n="64" d="100"/>
        </p:scale>
        <p:origin x="1602"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2693512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3038669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3528089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2326878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62229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3638482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1357734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3702634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1178174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932397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9B8B849-EF60-4009-8805-672538930314}" type="datetimeFigureOut">
              <a:rPr lang="es-AR" smtClean="0"/>
              <a:t>28/3/2023</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7A4489C-20EE-4320-AA51-648AA3DAA27E}" type="slidenum">
              <a:rPr lang="es-AR" smtClean="0"/>
              <a:t>‹Nº›</a:t>
            </a:fld>
            <a:endParaRPr lang="es-AR"/>
          </a:p>
        </p:txBody>
      </p:sp>
    </p:spTree>
    <p:extLst>
      <p:ext uri="{BB962C8B-B14F-4D97-AF65-F5344CB8AC3E}">
        <p14:creationId xmlns:p14="http://schemas.microsoft.com/office/powerpoint/2010/main" val="2651528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B8B849-EF60-4009-8805-672538930314}" type="datetimeFigureOut">
              <a:rPr lang="es-AR" smtClean="0"/>
              <a:t>28/3/2023</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A4489C-20EE-4320-AA51-648AA3DAA27E}" type="slidenum">
              <a:rPr lang="es-AR" smtClean="0"/>
              <a:t>‹Nº›</a:t>
            </a:fld>
            <a:endParaRPr lang="es-AR"/>
          </a:p>
        </p:txBody>
      </p:sp>
    </p:spTree>
    <p:extLst>
      <p:ext uri="{BB962C8B-B14F-4D97-AF65-F5344CB8AC3E}">
        <p14:creationId xmlns:p14="http://schemas.microsoft.com/office/powerpoint/2010/main" val="2266439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efinicion.de/estado/" TargetMode="External"/><Relationship Id="rId2" Type="http://schemas.openxmlformats.org/officeDocument/2006/relationships/hyperlink" Target="https://definicion.de/situaci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b="1" dirty="0">
                <a:solidFill>
                  <a:srgbClr val="7030A0"/>
                </a:solidFill>
                <a:latin typeface="Verdana" panose="020B0604030504040204" pitchFamily="34" charset="0"/>
                <a:ea typeface="Verdana" panose="020B0604030504040204" pitchFamily="34" charset="0"/>
              </a:rPr>
              <a:t>Estructuras de Programas</a:t>
            </a:r>
            <a:endParaRPr lang="es-AR" b="1" dirty="0">
              <a:solidFill>
                <a:srgbClr val="7030A0"/>
              </a:solidFill>
              <a:latin typeface="Verdana" panose="020B0604030504040204" pitchFamily="34" charset="0"/>
              <a:ea typeface="Verdana" panose="020B0604030504040204" pitchFamily="34" charset="0"/>
            </a:endParaRPr>
          </a:p>
        </p:txBody>
      </p:sp>
      <p:sp>
        <p:nvSpPr>
          <p:cNvPr id="3" name="2 Subtítulo"/>
          <p:cNvSpPr>
            <a:spLocks noGrp="1"/>
          </p:cNvSpPr>
          <p:nvPr>
            <p:ph type="subTitle" idx="1"/>
          </p:nvPr>
        </p:nvSpPr>
        <p:spPr/>
        <p:txBody>
          <a:bodyPr/>
          <a:lstStyle/>
          <a:p>
            <a:r>
              <a:rPr lang="es-ES" b="1" dirty="0">
                <a:solidFill>
                  <a:srgbClr val="7030A0"/>
                </a:solidFill>
                <a:latin typeface="Verdana" panose="020B0604030504040204" pitchFamily="34" charset="0"/>
                <a:ea typeface="Verdana" panose="020B0604030504040204" pitchFamily="34" charset="0"/>
              </a:rPr>
              <a:t>La Decisión</a:t>
            </a:r>
            <a:endParaRPr lang="es-AR" b="1" dirty="0">
              <a:solidFill>
                <a:srgbClr val="7030A0"/>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46968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b="1" dirty="0">
              <a:solidFill>
                <a:srgbClr val="7030A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normAutofit/>
          </a:bodyPr>
          <a:lstStyle/>
          <a:p>
            <a:r>
              <a:rPr lang="es-ES" dirty="0"/>
              <a:t>Una </a:t>
            </a:r>
            <a:r>
              <a:rPr lang="es-ES" b="1" dirty="0"/>
              <a:t>decisión</a:t>
            </a:r>
            <a:r>
              <a:rPr lang="es-ES" dirty="0"/>
              <a:t> es el producto final del proceso mental-cognitivo específico de un individuo o un grupo de personas u organizaciones, el cual se denomina toma de </a:t>
            </a:r>
            <a:r>
              <a:rPr lang="es-ES" b="1" dirty="0"/>
              <a:t>decisiones</a:t>
            </a:r>
            <a:r>
              <a:rPr lang="es-ES" dirty="0"/>
              <a:t>, por lo tanto es un concepto subjetivo.</a:t>
            </a:r>
          </a:p>
          <a:p>
            <a:pPr marL="0" indent="0">
              <a:buNone/>
            </a:pPr>
            <a:endParaRPr lang="es-ES" dirty="0"/>
          </a:p>
        </p:txBody>
      </p:sp>
    </p:spTree>
    <p:extLst>
      <p:ext uri="{BB962C8B-B14F-4D97-AF65-F5344CB8AC3E}">
        <p14:creationId xmlns:p14="http://schemas.microsoft.com/office/powerpoint/2010/main" val="502971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lstStyle/>
          <a:p>
            <a:r>
              <a:rPr lang="es-ES" dirty="0"/>
              <a:t>Del latín </a:t>
            </a:r>
            <a:r>
              <a:rPr lang="es-ES" i="1" dirty="0" err="1"/>
              <a:t>decisĭo</a:t>
            </a:r>
            <a:r>
              <a:rPr lang="es-ES" dirty="0"/>
              <a:t>, la </a:t>
            </a:r>
            <a:r>
              <a:rPr lang="es-ES" b="1" dirty="0"/>
              <a:t>decisión</a:t>
            </a:r>
            <a:r>
              <a:rPr lang="es-ES" dirty="0"/>
              <a:t> es una </a:t>
            </a:r>
            <a:r>
              <a:rPr lang="es-ES" b="1" dirty="0"/>
              <a:t>determinación o resolución que se toma sobre una determinada cosa</a:t>
            </a:r>
            <a:r>
              <a:rPr lang="es-ES" dirty="0"/>
              <a:t>. Por lo general la decisión supone un comienzo o poner fin a una </a:t>
            </a:r>
            <a:r>
              <a:rPr lang="es-ES" b="1" u="sng" dirty="0">
                <a:hlinkClick r:id="rId2"/>
              </a:rPr>
              <a:t>situación</a:t>
            </a:r>
            <a:r>
              <a:rPr lang="es-ES" dirty="0"/>
              <a:t>; es decir, impone un cambio de </a:t>
            </a:r>
            <a:r>
              <a:rPr lang="es-ES" b="1" u="sng" dirty="0">
                <a:hlinkClick r:id="rId3"/>
              </a:rPr>
              <a:t>estado</a:t>
            </a:r>
            <a:r>
              <a:rPr lang="es-ES" dirty="0"/>
              <a:t>.</a:t>
            </a:r>
            <a:endParaRPr lang="es-AR" dirty="0"/>
          </a:p>
        </p:txBody>
      </p:sp>
    </p:spTree>
    <p:extLst>
      <p:ext uri="{BB962C8B-B14F-4D97-AF65-F5344CB8AC3E}">
        <p14:creationId xmlns:p14="http://schemas.microsoft.com/office/powerpoint/2010/main" val="811941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solidFill>
                <a:srgbClr val="7030A0"/>
              </a:solidFill>
              <a:latin typeface="Verdana" panose="020B0604030504040204" pitchFamily="34" charset="0"/>
              <a:ea typeface="Verdana" panose="020B0604030504040204" pitchFamily="34" charset="0"/>
            </a:endParaRPr>
          </a:p>
        </p:txBody>
      </p:sp>
      <p:sp>
        <p:nvSpPr>
          <p:cNvPr id="3" name="2 Marcador de contenido"/>
          <p:cNvSpPr>
            <a:spLocks noGrp="1"/>
          </p:cNvSpPr>
          <p:nvPr>
            <p:ph idx="1"/>
          </p:nvPr>
        </p:nvSpPr>
        <p:spPr/>
        <p:txBody>
          <a:bodyPr/>
          <a:lstStyle/>
          <a:p>
            <a:r>
              <a:rPr lang="es-ES" dirty="0"/>
              <a:t>En el caso que nos interesa, debemos poder formalizar la toma de decisión.</a:t>
            </a:r>
          </a:p>
          <a:p>
            <a:r>
              <a:rPr lang="es-ES" dirty="0"/>
              <a:t>Como el proceso está siempre regulado por los estados que se van sucediendo, la decisión se toma evaluando el estado actual (Total o Parcialmente)</a:t>
            </a:r>
          </a:p>
          <a:p>
            <a:r>
              <a:rPr lang="es-ES" dirty="0"/>
              <a:t>Como se evalúa el estado?</a:t>
            </a:r>
            <a:endParaRPr lang="es-AR" dirty="0"/>
          </a:p>
        </p:txBody>
      </p:sp>
    </p:spTree>
    <p:extLst>
      <p:ext uri="{BB962C8B-B14F-4D97-AF65-F5344CB8AC3E}">
        <p14:creationId xmlns:p14="http://schemas.microsoft.com/office/powerpoint/2010/main" val="2459621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lstStyle/>
          <a:p>
            <a:r>
              <a:rPr lang="es-AR" dirty="0"/>
              <a:t>El estado se evalúa con los valores de las variables que lo definen (total o parcialmente)</a:t>
            </a:r>
          </a:p>
          <a:p>
            <a:r>
              <a:rPr lang="es-AR" dirty="0"/>
              <a:t>Por ejemplo si el teléfono da tono de ocupado, colgamos</a:t>
            </a:r>
          </a:p>
          <a:p>
            <a:r>
              <a:rPr lang="es-AR" dirty="0"/>
              <a:t>SI X&gt;Y entonces A=X-Y</a:t>
            </a:r>
          </a:p>
          <a:p>
            <a:r>
              <a:rPr lang="es-AR" dirty="0"/>
              <a:t>SI llueve, llevo paraguas</a:t>
            </a:r>
          </a:p>
          <a:p>
            <a:r>
              <a:rPr lang="es-AR" dirty="0"/>
              <a:t>Si Mes=12 entonces</a:t>
            </a:r>
          </a:p>
          <a:p>
            <a:pPr marL="0" indent="0">
              <a:buNone/>
            </a:pPr>
            <a:r>
              <a:rPr lang="es-AR" dirty="0"/>
              <a:t>        </a:t>
            </a:r>
            <a:r>
              <a:rPr lang="es-AR" dirty="0" err="1"/>
              <a:t>NombreMes</a:t>
            </a:r>
            <a:r>
              <a:rPr lang="es-AR" dirty="0"/>
              <a:t> = “Diciembre”</a:t>
            </a:r>
          </a:p>
          <a:p>
            <a:endParaRPr lang="es-AR" dirty="0"/>
          </a:p>
        </p:txBody>
      </p:sp>
    </p:spTree>
    <p:extLst>
      <p:ext uri="{BB962C8B-B14F-4D97-AF65-F5344CB8AC3E}">
        <p14:creationId xmlns:p14="http://schemas.microsoft.com/office/powerpoint/2010/main" val="281212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normAutofit fontScale="92500" lnSpcReduction="10000"/>
          </a:bodyPr>
          <a:lstStyle/>
          <a:p>
            <a:r>
              <a:rPr lang="es-AR" dirty="0"/>
              <a:t>La evaluación de las condiciones de estado se llama </a:t>
            </a:r>
            <a:r>
              <a:rPr lang="es-AR" b="1" i="1" dirty="0"/>
              <a:t>condición.</a:t>
            </a:r>
          </a:p>
          <a:p>
            <a:r>
              <a:rPr lang="es-AR" dirty="0"/>
              <a:t>Las acciones que se realizan dependen de si al evaluar esta condición el resultado es verdadero o falso.</a:t>
            </a:r>
          </a:p>
          <a:p>
            <a:r>
              <a:rPr lang="es-AR" dirty="0"/>
              <a:t>Si </a:t>
            </a:r>
            <a:r>
              <a:rPr lang="es-AR" b="1" i="1" dirty="0"/>
              <a:t>condición</a:t>
            </a:r>
          </a:p>
          <a:p>
            <a:pPr marL="0" indent="0">
              <a:buNone/>
            </a:pPr>
            <a:r>
              <a:rPr lang="es-AR" b="1" i="1" dirty="0"/>
              <a:t>        </a:t>
            </a:r>
            <a:r>
              <a:rPr lang="es-AR" dirty="0"/>
              <a:t>Entonces Accion1 (</a:t>
            </a:r>
            <a:r>
              <a:rPr lang="es-AR" sz="2000" dirty="0">
                <a:solidFill>
                  <a:srgbClr val="00B050"/>
                </a:solidFill>
              </a:rPr>
              <a:t>condición verdadera</a:t>
            </a:r>
            <a:r>
              <a:rPr lang="es-AR" dirty="0"/>
              <a:t> )</a:t>
            </a:r>
          </a:p>
          <a:p>
            <a:pPr marL="0" indent="0">
              <a:buNone/>
            </a:pPr>
            <a:r>
              <a:rPr lang="es-AR" dirty="0"/>
              <a:t>        Sino </a:t>
            </a:r>
            <a:r>
              <a:rPr lang="es-AR" dirty="0" err="1"/>
              <a:t>Accion</a:t>
            </a:r>
            <a:r>
              <a:rPr lang="es-AR" dirty="0"/>
              <a:t> 2 (</a:t>
            </a:r>
            <a:r>
              <a:rPr lang="es-AR" sz="2200">
                <a:solidFill>
                  <a:srgbClr val="00B050"/>
                </a:solidFill>
              </a:rPr>
              <a:t>condición falsa</a:t>
            </a:r>
            <a:r>
              <a:rPr lang="es-AR"/>
              <a:t> </a:t>
            </a:r>
            <a:r>
              <a:rPr lang="es-AR" dirty="0"/>
              <a:t>)</a:t>
            </a:r>
          </a:p>
          <a:p>
            <a:pPr marL="0" indent="0">
              <a:buNone/>
            </a:pPr>
            <a:r>
              <a:rPr lang="es-AR" dirty="0"/>
              <a:t>    </a:t>
            </a:r>
            <a:r>
              <a:rPr lang="es-AR" dirty="0" err="1"/>
              <a:t>Fsi</a:t>
            </a:r>
            <a:endParaRPr lang="es-AR" dirty="0"/>
          </a:p>
        </p:txBody>
      </p:sp>
    </p:spTree>
    <p:extLst>
      <p:ext uri="{BB962C8B-B14F-4D97-AF65-F5344CB8AC3E}">
        <p14:creationId xmlns:p14="http://schemas.microsoft.com/office/powerpoint/2010/main" val="851193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lstStyle/>
          <a:p>
            <a:r>
              <a:rPr lang="es-ES" dirty="0"/>
              <a:t>Que es una condición? Una expresión booleana que nos da como resultado dos valores posibles </a:t>
            </a:r>
            <a:r>
              <a:rPr lang="es-ES" b="1" i="1" dirty="0"/>
              <a:t>Verdadero </a:t>
            </a:r>
            <a:r>
              <a:rPr lang="es-ES" dirty="0"/>
              <a:t>o </a:t>
            </a:r>
            <a:r>
              <a:rPr lang="es-ES" b="1" i="1" dirty="0"/>
              <a:t>Falso</a:t>
            </a:r>
          </a:p>
          <a:p>
            <a:r>
              <a:rPr lang="es-ES" dirty="0"/>
              <a:t>La estructura de decisión por lo tanto tiene siempre una rama (cuando el resultado es verdadero) y puede tener una segunda rama (cuando el resultado es falso)</a:t>
            </a:r>
            <a:endParaRPr lang="es-AR" dirty="0"/>
          </a:p>
        </p:txBody>
      </p:sp>
    </p:spTree>
    <p:extLst>
      <p:ext uri="{BB962C8B-B14F-4D97-AF65-F5344CB8AC3E}">
        <p14:creationId xmlns:p14="http://schemas.microsoft.com/office/powerpoint/2010/main" val="184601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a:xfrm>
            <a:off x="457200" y="1600200"/>
            <a:ext cx="8229600" cy="4709120"/>
          </a:xfrm>
        </p:spPr>
        <p:txBody>
          <a:bodyPr/>
          <a:lstStyle/>
          <a:p>
            <a:pPr marL="0" indent="0">
              <a:buNone/>
            </a:pPr>
            <a:endParaRPr lang="es-ES" dirty="0"/>
          </a:p>
          <a:p>
            <a:pPr marL="0" indent="0">
              <a:buNone/>
            </a:pPr>
            <a:r>
              <a:rPr lang="es-ES" dirty="0"/>
              <a:t>             A=B                                   A=B</a:t>
            </a:r>
          </a:p>
          <a:p>
            <a:pPr marL="0" indent="0">
              <a:buNone/>
            </a:pPr>
            <a:r>
              <a:rPr lang="es-ES" dirty="0"/>
              <a:t>   F             V</a:t>
            </a:r>
          </a:p>
          <a:p>
            <a:pPr marL="0" indent="0">
              <a:buNone/>
            </a:pPr>
            <a:endParaRPr lang="es-ES" dirty="0"/>
          </a:p>
          <a:p>
            <a:pPr marL="0" indent="0">
              <a:buNone/>
            </a:pPr>
            <a:r>
              <a:rPr lang="es-ES" sz="2400" dirty="0"/>
              <a:t>               Acción 1                         Acción 1	           Acción 2</a:t>
            </a:r>
          </a:p>
          <a:p>
            <a:pPr marL="0" indent="0">
              <a:buNone/>
            </a:pPr>
            <a:endParaRPr lang="es-ES" sz="2400" dirty="0"/>
          </a:p>
          <a:p>
            <a:pPr marL="0" indent="0">
              <a:buNone/>
            </a:pPr>
            <a:endParaRPr lang="es-ES" sz="2400" dirty="0"/>
          </a:p>
          <a:p>
            <a:pPr marL="0" indent="0">
              <a:buNone/>
            </a:pPr>
            <a:endParaRPr lang="es-ES" sz="2400" dirty="0"/>
          </a:p>
          <a:p>
            <a:pPr marL="0" indent="0">
              <a:buNone/>
            </a:pPr>
            <a:r>
              <a:rPr lang="es-ES" sz="2400" dirty="0"/>
              <a:t>               Acción 2                                            Acción 3</a:t>
            </a:r>
            <a:endParaRPr lang="es-AR" sz="2400" dirty="0"/>
          </a:p>
        </p:txBody>
      </p:sp>
      <p:sp>
        <p:nvSpPr>
          <p:cNvPr id="4" name="3 Rombo"/>
          <p:cNvSpPr/>
          <p:nvPr/>
        </p:nvSpPr>
        <p:spPr>
          <a:xfrm>
            <a:off x="1594520" y="1988840"/>
            <a:ext cx="914400" cy="914400"/>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5" name="4 Rectángulo"/>
          <p:cNvSpPr/>
          <p:nvPr/>
        </p:nvSpPr>
        <p:spPr>
          <a:xfrm>
            <a:off x="1403648" y="3861048"/>
            <a:ext cx="1296144" cy="648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Rectángulo"/>
          <p:cNvSpPr/>
          <p:nvPr/>
        </p:nvSpPr>
        <p:spPr>
          <a:xfrm>
            <a:off x="1403648" y="5589240"/>
            <a:ext cx="1296144"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8" name="7 Conector recto de flecha"/>
          <p:cNvCxnSpPr>
            <a:stCxn id="4" idx="2"/>
          </p:cNvCxnSpPr>
          <p:nvPr/>
        </p:nvCxnSpPr>
        <p:spPr>
          <a:xfrm>
            <a:off x="2051720" y="2903240"/>
            <a:ext cx="0" cy="9357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p:cNvCxnSpPr>
            <a:stCxn id="4" idx="1"/>
          </p:cNvCxnSpPr>
          <p:nvPr/>
        </p:nvCxnSpPr>
        <p:spPr>
          <a:xfrm flipH="1">
            <a:off x="755576" y="2446040"/>
            <a:ext cx="8389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755576" y="2446040"/>
            <a:ext cx="0" cy="2567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a:stCxn id="5" idx="2"/>
            <a:endCxn id="6" idx="0"/>
          </p:cNvCxnSpPr>
          <p:nvPr/>
        </p:nvCxnSpPr>
        <p:spPr>
          <a:xfrm>
            <a:off x="2051720" y="4509120"/>
            <a:ext cx="0" cy="10801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19 Conector recto de flecha"/>
          <p:cNvCxnSpPr/>
          <p:nvPr/>
        </p:nvCxnSpPr>
        <p:spPr>
          <a:xfrm>
            <a:off x="755576" y="5013176"/>
            <a:ext cx="129614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Rombo"/>
          <p:cNvSpPr/>
          <p:nvPr/>
        </p:nvSpPr>
        <p:spPr>
          <a:xfrm>
            <a:off x="5507960" y="1988840"/>
            <a:ext cx="914400" cy="914400"/>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22 Rectángulo"/>
          <p:cNvSpPr/>
          <p:nvPr/>
        </p:nvSpPr>
        <p:spPr>
          <a:xfrm>
            <a:off x="4211960" y="3862800"/>
            <a:ext cx="1296000" cy="64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23 Rectángulo"/>
          <p:cNvSpPr/>
          <p:nvPr/>
        </p:nvSpPr>
        <p:spPr>
          <a:xfrm>
            <a:off x="6660232" y="3862800"/>
            <a:ext cx="1296000" cy="648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26" name="25 Conector recto"/>
          <p:cNvCxnSpPr/>
          <p:nvPr/>
        </p:nvCxnSpPr>
        <p:spPr>
          <a:xfrm flipH="1">
            <a:off x="4788024" y="2446040"/>
            <a:ext cx="719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27 Conector recto"/>
          <p:cNvCxnSpPr>
            <a:stCxn id="22" idx="3"/>
          </p:cNvCxnSpPr>
          <p:nvPr/>
        </p:nvCxnSpPr>
        <p:spPr>
          <a:xfrm>
            <a:off x="6422360" y="2446040"/>
            <a:ext cx="8858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29 Conector recto de flecha"/>
          <p:cNvCxnSpPr/>
          <p:nvPr/>
        </p:nvCxnSpPr>
        <p:spPr>
          <a:xfrm>
            <a:off x="4788024" y="2446040"/>
            <a:ext cx="0" cy="14167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32 Conector recto de flecha"/>
          <p:cNvCxnSpPr>
            <a:endCxn id="24" idx="0"/>
          </p:cNvCxnSpPr>
          <p:nvPr/>
        </p:nvCxnSpPr>
        <p:spPr>
          <a:xfrm>
            <a:off x="7308232" y="2446040"/>
            <a:ext cx="0" cy="14167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8 Conector recto"/>
          <p:cNvCxnSpPr>
            <a:stCxn id="23" idx="2"/>
          </p:cNvCxnSpPr>
          <p:nvPr/>
        </p:nvCxnSpPr>
        <p:spPr>
          <a:xfrm>
            <a:off x="4859960" y="4510800"/>
            <a:ext cx="0" cy="5383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4859960" y="5049180"/>
            <a:ext cx="24482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a:endCxn id="24" idx="2"/>
          </p:cNvCxnSpPr>
          <p:nvPr/>
        </p:nvCxnSpPr>
        <p:spPr>
          <a:xfrm flipV="1">
            <a:off x="7308232" y="4510800"/>
            <a:ext cx="0" cy="5383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a:endCxn id="19" idx="0"/>
          </p:cNvCxnSpPr>
          <p:nvPr/>
        </p:nvCxnSpPr>
        <p:spPr>
          <a:xfrm>
            <a:off x="6084096" y="5049180"/>
            <a:ext cx="0" cy="5416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Rectángulo"/>
          <p:cNvSpPr/>
          <p:nvPr/>
        </p:nvSpPr>
        <p:spPr>
          <a:xfrm>
            <a:off x="5436096" y="5590800"/>
            <a:ext cx="1296000" cy="576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412393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normAutofit fontScale="70000" lnSpcReduction="20000"/>
          </a:bodyPr>
          <a:lstStyle/>
          <a:p>
            <a:pPr marL="0" indent="0">
              <a:buNone/>
            </a:pPr>
            <a:r>
              <a:rPr lang="es-ES" dirty="0"/>
              <a:t>Ejemplo Java </a:t>
            </a:r>
          </a:p>
          <a:p>
            <a:pPr marL="0" indent="0">
              <a:buNone/>
            </a:pPr>
            <a:endParaRPr lang="es-ES" dirty="0"/>
          </a:p>
          <a:p>
            <a:pPr marL="0" indent="0">
              <a:buNone/>
            </a:pPr>
            <a:r>
              <a:rPr lang="es-ES" dirty="0"/>
              <a:t>	</a:t>
            </a:r>
            <a:r>
              <a:rPr lang="es-ES" dirty="0" err="1"/>
              <a:t>if</a:t>
            </a:r>
            <a:r>
              <a:rPr lang="es-ES" dirty="0"/>
              <a:t> (</a:t>
            </a:r>
            <a:r>
              <a:rPr lang="es-ES" dirty="0" err="1"/>
              <a:t>expresionLogica</a:t>
            </a:r>
            <a:r>
              <a:rPr lang="es-ES" dirty="0"/>
              <a:t>) {</a:t>
            </a:r>
          </a:p>
          <a:p>
            <a:pPr marL="0" indent="0">
              <a:buNone/>
            </a:pPr>
            <a:r>
              <a:rPr lang="es-ES" dirty="0"/>
              <a:t>              sentencia_1; </a:t>
            </a:r>
          </a:p>
          <a:p>
            <a:pPr marL="0" indent="0">
              <a:buNone/>
            </a:pPr>
            <a:r>
              <a:rPr lang="es-ES" dirty="0"/>
              <a:t>           }</a:t>
            </a:r>
          </a:p>
          <a:p>
            <a:pPr marL="0" indent="0">
              <a:buNone/>
            </a:pPr>
            <a:endParaRPr lang="es-ES" dirty="0"/>
          </a:p>
          <a:p>
            <a:pPr marL="0" indent="0">
              <a:buNone/>
            </a:pPr>
            <a:r>
              <a:rPr lang="es-ES" dirty="0"/>
              <a:t>O bien (con dos ramas):</a:t>
            </a:r>
          </a:p>
          <a:p>
            <a:pPr marL="0" indent="0">
              <a:buNone/>
            </a:pPr>
            <a:r>
              <a:rPr lang="es-ES" dirty="0"/>
              <a:t>	</a:t>
            </a:r>
            <a:r>
              <a:rPr lang="es-ES" dirty="0" err="1"/>
              <a:t>if</a:t>
            </a:r>
            <a:r>
              <a:rPr lang="es-ES" dirty="0"/>
              <a:t> (</a:t>
            </a:r>
            <a:r>
              <a:rPr lang="es-ES" dirty="0" err="1"/>
              <a:t>expresionLogica</a:t>
            </a:r>
            <a:r>
              <a:rPr lang="es-ES" dirty="0"/>
              <a:t>) {</a:t>
            </a:r>
          </a:p>
          <a:p>
            <a:pPr marL="0" indent="0">
              <a:buNone/>
            </a:pPr>
            <a:r>
              <a:rPr lang="es-ES" dirty="0"/>
              <a:t>                sentencia_1; </a:t>
            </a:r>
          </a:p>
          <a:p>
            <a:pPr marL="0" indent="0">
              <a:buNone/>
            </a:pPr>
            <a:r>
              <a:rPr lang="es-ES" dirty="0"/>
              <a:t>            } </a:t>
            </a:r>
            <a:r>
              <a:rPr lang="es-ES" dirty="0" err="1"/>
              <a:t>else</a:t>
            </a:r>
            <a:r>
              <a:rPr lang="es-ES" dirty="0"/>
              <a:t> {</a:t>
            </a:r>
          </a:p>
          <a:p>
            <a:pPr marL="0" indent="0">
              <a:buNone/>
            </a:pPr>
            <a:r>
              <a:rPr lang="es-ES" dirty="0"/>
              <a:t>                sentencia_2; </a:t>
            </a:r>
          </a:p>
          <a:p>
            <a:pPr marL="0" indent="0">
              <a:buNone/>
            </a:pPr>
            <a:r>
              <a:rPr lang="es-ES" dirty="0"/>
              <a:t>            }</a:t>
            </a:r>
          </a:p>
          <a:p>
            <a:pPr marL="0" indent="0">
              <a:buNone/>
            </a:pPr>
            <a:endParaRPr lang="es-AR" dirty="0"/>
          </a:p>
        </p:txBody>
      </p:sp>
    </p:spTree>
    <p:extLst>
      <p:ext uri="{BB962C8B-B14F-4D97-AF65-F5344CB8AC3E}">
        <p14:creationId xmlns:p14="http://schemas.microsoft.com/office/powerpoint/2010/main" val="1804502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normAutofit fontScale="70000" lnSpcReduction="20000"/>
          </a:bodyPr>
          <a:lstStyle/>
          <a:p>
            <a:pPr marL="0" indent="0">
              <a:buNone/>
            </a:pPr>
            <a:r>
              <a:rPr lang="es-ES" dirty="0"/>
              <a:t>Ejemplo </a:t>
            </a:r>
            <a:r>
              <a:rPr lang="es-ES" dirty="0" err="1"/>
              <a:t>Pseuodcódigo</a:t>
            </a:r>
            <a:r>
              <a:rPr lang="es-ES" dirty="0"/>
              <a:t> </a:t>
            </a:r>
          </a:p>
          <a:p>
            <a:pPr marL="0" indent="0">
              <a:buNone/>
            </a:pPr>
            <a:endParaRPr lang="es-ES" dirty="0"/>
          </a:p>
          <a:p>
            <a:pPr marL="0" indent="0">
              <a:buNone/>
            </a:pPr>
            <a:r>
              <a:rPr lang="es-ES" dirty="0"/>
              <a:t>	SI (</a:t>
            </a:r>
            <a:r>
              <a:rPr lang="es-ES" dirty="0" err="1"/>
              <a:t>expresionLogica</a:t>
            </a:r>
            <a:r>
              <a:rPr lang="es-ES" dirty="0"/>
              <a:t>)</a:t>
            </a:r>
          </a:p>
          <a:p>
            <a:pPr marL="0" indent="0">
              <a:buNone/>
            </a:pPr>
            <a:r>
              <a:rPr lang="es-ES" dirty="0"/>
              <a:t>                 sentencia_1; </a:t>
            </a:r>
          </a:p>
          <a:p>
            <a:pPr marL="0" indent="0">
              <a:buNone/>
            </a:pPr>
            <a:r>
              <a:rPr lang="es-ES" dirty="0"/>
              <a:t>            </a:t>
            </a:r>
            <a:r>
              <a:rPr lang="es-ES" dirty="0" err="1"/>
              <a:t>Fsi</a:t>
            </a:r>
            <a:endParaRPr lang="es-ES" dirty="0"/>
          </a:p>
          <a:p>
            <a:pPr marL="0" indent="0">
              <a:buNone/>
            </a:pPr>
            <a:endParaRPr lang="es-ES" dirty="0"/>
          </a:p>
          <a:p>
            <a:pPr marL="0" indent="0">
              <a:buNone/>
            </a:pPr>
            <a:r>
              <a:rPr lang="es-ES" dirty="0"/>
              <a:t>O bien (con dos ramas):</a:t>
            </a:r>
          </a:p>
          <a:p>
            <a:pPr marL="0" indent="0">
              <a:buNone/>
            </a:pPr>
            <a:r>
              <a:rPr lang="es-ES" dirty="0"/>
              <a:t>	SI (</a:t>
            </a:r>
            <a:r>
              <a:rPr lang="es-ES" dirty="0" err="1"/>
              <a:t>expresionLogica</a:t>
            </a:r>
            <a:r>
              <a:rPr lang="es-ES" dirty="0"/>
              <a:t>) </a:t>
            </a:r>
          </a:p>
          <a:p>
            <a:pPr marL="0" indent="0">
              <a:buNone/>
            </a:pPr>
            <a:r>
              <a:rPr lang="es-ES" dirty="0"/>
              <a:t>                sentencia_1; </a:t>
            </a:r>
          </a:p>
          <a:p>
            <a:pPr marL="0" indent="0">
              <a:buNone/>
            </a:pPr>
            <a:r>
              <a:rPr lang="es-ES" dirty="0"/>
              <a:t>              sino</a:t>
            </a:r>
          </a:p>
          <a:p>
            <a:pPr marL="0" indent="0">
              <a:buNone/>
            </a:pPr>
            <a:r>
              <a:rPr lang="es-ES" dirty="0"/>
              <a:t>                sentencia_2; </a:t>
            </a:r>
          </a:p>
          <a:p>
            <a:pPr marL="0" indent="0">
              <a:buNone/>
            </a:pPr>
            <a:r>
              <a:rPr lang="es-ES" dirty="0"/>
              <a:t>            </a:t>
            </a:r>
            <a:r>
              <a:rPr lang="es-ES" dirty="0" err="1"/>
              <a:t>Fsi</a:t>
            </a:r>
            <a:endParaRPr lang="es-ES" dirty="0"/>
          </a:p>
          <a:p>
            <a:pPr marL="0" indent="0">
              <a:buNone/>
            </a:pPr>
            <a:endParaRPr lang="es-AR" dirty="0"/>
          </a:p>
        </p:txBody>
      </p:sp>
    </p:spTree>
    <p:extLst>
      <p:ext uri="{BB962C8B-B14F-4D97-AF65-F5344CB8AC3E}">
        <p14:creationId xmlns:p14="http://schemas.microsoft.com/office/powerpoint/2010/main" val="2482381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lstStyle/>
          <a:p>
            <a:pPr marL="514350" indent="-514350">
              <a:buAutoNum type="arabicPeriod"/>
            </a:pPr>
            <a:endParaRPr lang="es-ES" dirty="0"/>
          </a:p>
          <a:p>
            <a:pPr marL="0" indent="0" algn="ctr">
              <a:buNone/>
            </a:pPr>
            <a:r>
              <a:rPr lang="es-ES" sz="4000" dirty="0">
                <a:latin typeface="Verdana" panose="020B0604030504040204" pitchFamily="34" charset="0"/>
                <a:ea typeface="Verdana" panose="020B0604030504040204" pitchFamily="34" charset="0"/>
              </a:rPr>
              <a:t>Elaborar un algoritmo para determinar el mayor de 2 valores</a:t>
            </a:r>
            <a:endParaRPr lang="es-AR" sz="4000" dirty="0">
              <a:latin typeface="Verdana" panose="020B0604030504040204" pitchFamily="34" charset="0"/>
              <a:ea typeface="Verdana" panose="020B0604030504040204" pitchFamily="34" charset="0"/>
            </a:endParaRPr>
          </a:p>
          <a:p>
            <a:pPr marL="0" indent="0" algn="ctr">
              <a:buNone/>
            </a:pPr>
            <a:endParaRPr lang="es-AR" dirty="0"/>
          </a:p>
        </p:txBody>
      </p:sp>
    </p:spTree>
    <p:extLst>
      <p:ext uri="{BB962C8B-B14F-4D97-AF65-F5344CB8AC3E}">
        <p14:creationId xmlns:p14="http://schemas.microsoft.com/office/powerpoint/2010/main" val="109418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922114"/>
          </a:xfrm>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a:xfrm>
            <a:off x="457200" y="1268760"/>
            <a:ext cx="8229600" cy="5184576"/>
          </a:xfrm>
        </p:spPr>
        <p:txBody>
          <a:bodyPr>
            <a:normAutofit fontScale="70000" lnSpcReduction="20000"/>
          </a:bodyPr>
          <a:lstStyle/>
          <a:p>
            <a:r>
              <a:rPr lang="es-ES" dirty="0"/>
              <a:t>Las estructuras de Decisión se pueden anidar</a:t>
            </a:r>
          </a:p>
          <a:p>
            <a:r>
              <a:rPr lang="es-ES" dirty="0"/>
              <a:t>Cada rama de una Decisión puede albergar a su vez una estructura de </a:t>
            </a:r>
            <a:r>
              <a:rPr lang="es-ES" dirty="0" err="1"/>
              <a:t>desición</a:t>
            </a:r>
            <a:endParaRPr lang="es-ES" dirty="0"/>
          </a:p>
          <a:p>
            <a:r>
              <a:rPr lang="es-ES" dirty="0"/>
              <a:t>Ejemplo: Dado tres valores A, B, C</a:t>
            </a:r>
          </a:p>
          <a:p>
            <a:pPr marL="914400" lvl="2" indent="0">
              <a:buNone/>
            </a:pPr>
            <a:r>
              <a:rPr lang="es-ES" dirty="0"/>
              <a:t>    Si A&gt;B</a:t>
            </a:r>
          </a:p>
          <a:p>
            <a:pPr marL="914400" lvl="2" indent="0">
              <a:buNone/>
            </a:pPr>
            <a:r>
              <a:rPr lang="es-ES" dirty="0"/>
              <a:t>        Si A&gt; C</a:t>
            </a:r>
          </a:p>
          <a:p>
            <a:pPr marL="914400" lvl="2" indent="0">
              <a:buNone/>
            </a:pPr>
            <a:r>
              <a:rPr lang="es-ES" dirty="0"/>
              <a:t>            Escribir (“el mayor es “+A)</a:t>
            </a:r>
          </a:p>
          <a:p>
            <a:pPr marL="914400" lvl="2" indent="0">
              <a:buNone/>
            </a:pPr>
            <a:r>
              <a:rPr lang="es-ES" dirty="0"/>
              <a:t>           sino</a:t>
            </a:r>
          </a:p>
          <a:p>
            <a:pPr marL="914400" lvl="2" indent="0">
              <a:buNone/>
            </a:pPr>
            <a:r>
              <a:rPr lang="es-ES" dirty="0"/>
              <a:t>             Escribir (“el mayor es “+C)</a:t>
            </a:r>
          </a:p>
          <a:p>
            <a:pPr marL="914400" lvl="2" indent="0">
              <a:buNone/>
            </a:pPr>
            <a:r>
              <a:rPr lang="es-ES" dirty="0"/>
              <a:t>        </a:t>
            </a:r>
            <a:r>
              <a:rPr lang="es-ES" dirty="0" err="1"/>
              <a:t>Fsi</a:t>
            </a:r>
            <a:endParaRPr lang="es-ES" dirty="0"/>
          </a:p>
          <a:p>
            <a:pPr marL="914400" lvl="2" indent="0">
              <a:buNone/>
            </a:pPr>
            <a:r>
              <a:rPr lang="es-ES" dirty="0"/>
              <a:t>      Sino</a:t>
            </a:r>
          </a:p>
          <a:p>
            <a:pPr marL="914400" lvl="2" indent="0">
              <a:buNone/>
            </a:pPr>
            <a:r>
              <a:rPr lang="es-ES" dirty="0"/>
              <a:t>        Si B&gt; C</a:t>
            </a:r>
          </a:p>
          <a:p>
            <a:pPr marL="914400" lvl="2" indent="0">
              <a:buNone/>
            </a:pPr>
            <a:r>
              <a:rPr lang="es-ES" dirty="0"/>
              <a:t>             Escribir (“el mayor es “+B)</a:t>
            </a:r>
          </a:p>
          <a:p>
            <a:pPr marL="914400" lvl="2" indent="0">
              <a:buNone/>
            </a:pPr>
            <a:r>
              <a:rPr lang="es-ES" dirty="0"/>
              <a:t>            sino</a:t>
            </a:r>
          </a:p>
          <a:p>
            <a:pPr marL="914400" lvl="2" indent="0">
              <a:buNone/>
            </a:pPr>
            <a:r>
              <a:rPr lang="es-ES" dirty="0"/>
              <a:t>              Escribir (“el mayor es “+C)</a:t>
            </a:r>
          </a:p>
          <a:p>
            <a:pPr marL="914400" lvl="2" indent="0">
              <a:buNone/>
            </a:pPr>
            <a:r>
              <a:rPr lang="es-ES" dirty="0"/>
              <a:t>        </a:t>
            </a:r>
            <a:r>
              <a:rPr lang="es-ES" dirty="0" err="1"/>
              <a:t>Fsi</a:t>
            </a:r>
            <a:endParaRPr lang="es-ES" dirty="0"/>
          </a:p>
          <a:p>
            <a:pPr marL="914400" lvl="2" indent="0">
              <a:buNone/>
            </a:pPr>
            <a:r>
              <a:rPr lang="es-ES" dirty="0"/>
              <a:t>    </a:t>
            </a:r>
            <a:r>
              <a:rPr lang="es-ES" dirty="0" err="1"/>
              <a:t>Fsi</a:t>
            </a:r>
            <a:endParaRPr lang="es-ES" dirty="0"/>
          </a:p>
          <a:p>
            <a:endParaRPr lang="es-AR" dirty="0"/>
          </a:p>
        </p:txBody>
      </p:sp>
    </p:spTree>
    <p:extLst>
      <p:ext uri="{BB962C8B-B14F-4D97-AF65-F5344CB8AC3E}">
        <p14:creationId xmlns:p14="http://schemas.microsoft.com/office/powerpoint/2010/main" val="3652869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normAutofit fontScale="85000" lnSpcReduction="20000"/>
          </a:bodyPr>
          <a:lstStyle/>
          <a:p>
            <a:r>
              <a:rPr lang="es-ES" dirty="0"/>
              <a:t>La anidación se puede evitar a </a:t>
            </a:r>
            <a:r>
              <a:rPr lang="es-ES" dirty="0" err="1"/>
              <a:t>traves</a:t>
            </a:r>
            <a:r>
              <a:rPr lang="es-ES" dirty="0"/>
              <a:t> de condiciones complejas</a:t>
            </a:r>
          </a:p>
          <a:p>
            <a:r>
              <a:rPr lang="es-ES" dirty="0"/>
              <a:t>Ejemplo: Dado tres valores A, B, C</a:t>
            </a:r>
          </a:p>
          <a:p>
            <a:pPr marL="914400" lvl="2" indent="0">
              <a:buNone/>
            </a:pPr>
            <a:r>
              <a:rPr lang="es-ES" dirty="0"/>
              <a:t>    Si A&gt;B &amp; B&gt;= C</a:t>
            </a:r>
          </a:p>
          <a:p>
            <a:pPr marL="914400" lvl="2" indent="0">
              <a:buNone/>
            </a:pPr>
            <a:r>
              <a:rPr lang="es-ES" dirty="0"/>
              <a:t>            Escribir (“el mayor es “+A)</a:t>
            </a:r>
          </a:p>
          <a:p>
            <a:pPr marL="914400" lvl="2" indent="0">
              <a:buNone/>
            </a:pPr>
            <a:r>
              <a:rPr lang="es-ES" dirty="0"/>
              <a:t>           sino</a:t>
            </a:r>
          </a:p>
          <a:p>
            <a:pPr marL="914400" lvl="2" indent="0">
              <a:buNone/>
            </a:pPr>
            <a:r>
              <a:rPr lang="es-ES" dirty="0"/>
              <a:t>             Si B&gt;A &amp; A&gt;= C</a:t>
            </a:r>
          </a:p>
          <a:p>
            <a:pPr marL="914400" lvl="2" indent="0">
              <a:buNone/>
            </a:pPr>
            <a:r>
              <a:rPr lang="es-ES" dirty="0"/>
              <a:t>                 Escribir (“el mayor es “+B)</a:t>
            </a:r>
          </a:p>
          <a:p>
            <a:pPr marL="914400" lvl="2" indent="0">
              <a:buNone/>
            </a:pPr>
            <a:r>
              <a:rPr lang="es-ES" dirty="0"/>
              <a:t>                sino</a:t>
            </a:r>
          </a:p>
          <a:p>
            <a:pPr marL="914400" lvl="2" indent="0">
              <a:buNone/>
            </a:pPr>
            <a:r>
              <a:rPr lang="es-ES" dirty="0"/>
              <a:t>                   Si C&gt;A &amp; A&gt;= B</a:t>
            </a:r>
          </a:p>
          <a:p>
            <a:pPr marL="914400" lvl="2" indent="0">
              <a:buNone/>
            </a:pPr>
            <a:r>
              <a:rPr lang="es-ES" dirty="0"/>
              <a:t>                       Escribir (“el mayor es “+B)</a:t>
            </a:r>
          </a:p>
          <a:p>
            <a:pPr marL="914400" lvl="2" indent="0">
              <a:buNone/>
            </a:pPr>
            <a:r>
              <a:rPr lang="es-ES" dirty="0"/>
              <a:t>                   </a:t>
            </a:r>
            <a:r>
              <a:rPr lang="es-ES" dirty="0" err="1"/>
              <a:t>Fsi</a:t>
            </a:r>
            <a:endParaRPr lang="es-ES" dirty="0"/>
          </a:p>
          <a:p>
            <a:pPr marL="914400" lvl="2" indent="0">
              <a:buNone/>
            </a:pPr>
            <a:r>
              <a:rPr lang="es-ES" dirty="0"/>
              <a:t>             </a:t>
            </a:r>
            <a:r>
              <a:rPr lang="es-ES" dirty="0" err="1"/>
              <a:t>Fsi</a:t>
            </a:r>
            <a:endParaRPr lang="es-ES" dirty="0"/>
          </a:p>
          <a:p>
            <a:pPr marL="914400" lvl="2" indent="0">
              <a:buNone/>
            </a:pPr>
            <a:r>
              <a:rPr lang="es-ES" dirty="0"/>
              <a:t>    </a:t>
            </a:r>
            <a:r>
              <a:rPr lang="es-ES" dirty="0" err="1"/>
              <a:t>Fsi</a:t>
            </a:r>
            <a:endParaRPr lang="es-ES" dirty="0"/>
          </a:p>
          <a:p>
            <a:endParaRPr lang="es-AR" dirty="0"/>
          </a:p>
        </p:txBody>
      </p:sp>
    </p:spTree>
    <p:extLst>
      <p:ext uri="{BB962C8B-B14F-4D97-AF65-F5344CB8AC3E}">
        <p14:creationId xmlns:p14="http://schemas.microsoft.com/office/powerpoint/2010/main" val="4093524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normAutofit/>
          </a:bodyPr>
          <a:lstStyle/>
          <a:p>
            <a:pPr marL="0" indent="0" algn="ctr">
              <a:buNone/>
            </a:pPr>
            <a:r>
              <a:rPr lang="es-ES" sz="4400" dirty="0">
                <a:latin typeface="Verdana" panose="020B0604030504040204" pitchFamily="34" charset="0"/>
                <a:ea typeface="Verdana" panose="020B0604030504040204" pitchFamily="34" charset="0"/>
              </a:rPr>
              <a:t>Elaborar un algoritmo para determinar el tipo de un triángulo dado el tamaño de sus lados</a:t>
            </a:r>
            <a:endParaRPr lang="es-AR" sz="4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36697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959BEA-29E8-E18E-F869-962C13FA8E63}"/>
              </a:ext>
            </a:extLst>
          </p:cNvPr>
          <p:cNvSpPr>
            <a:spLocks noGrp="1"/>
          </p:cNvSpPr>
          <p:nvPr>
            <p:ph type="title"/>
          </p:nvPr>
        </p:nvSpPr>
        <p:spPr>
          <a:xfrm>
            <a:off x="457200" y="274638"/>
            <a:ext cx="8229600" cy="130026"/>
          </a:xfrm>
        </p:spPr>
        <p:txBody>
          <a:bodyPr>
            <a:normAutofit fontScale="90000"/>
          </a:bodyPr>
          <a:lstStyle/>
          <a:p>
            <a:endParaRPr lang="es-AR" dirty="0"/>
          </a:p>
        </p:txBody>
      </p:sp>
      <p:sp>
        <p:nvSpPr>
          <p:cNvPr id="3" name="Marcador de contenido 2">
            <a:extLst>
              <a:ext uri="{FF2B5EF4-FFF2-40B4-BE49-F238E27FC236}">
                <a16:creationId xmlns:a16="http://schemas.microsoft.com/office/drawing/2014/main" id="{B67E53DF-008E-03AC-1C14-8755E96EC8AF}"/>
              </a:ext>
            </a:extLst>
          </p:cNvPr>
          <p:cNvSpPr>
            <a:spLocks noGrp="1"/>
          </p:cNvSpPr>
          <p:nvPr>
            <p:ph idx="1"/>
          </p:nvPr>
        </p:nvSpPr>
        <p:spPr>
          <a:xfrm>
            <a:off x="457200" y="116632"/>
            <a:ext cx="8229600" cy="6741368"/>
          </a:xfrm>
        </p:spPr>
        <p:txBody>
          <a:bodyPr>
            <a:normAutofit fontScale="70000" lnSpcReduction="20000"/>
          </a:bodyPr>
          <a:lstStyle/>
          <a:p>
            <a:pPr marL="0" indent="0">
              <a:buNone/>
            </a:pPr>
            <a:r>
              <a:rPr lang="es-AR" dirty="0"/>
              <a:t>#include &lt;</a:t>
            </a:r>
            <a:r>
              <a:rPr lang="es-AR" dirty="0" err="1"/>
              <a:t>stdio.h</a:t>
            </a:r>
            <a:r>
              <a:rPr lang="es-AR" dirty="0"/>
              <a:t>&gt;</a:t>
            </a:r>
            <a:br>
              <a:rPr lang="es-AR" dirty="0"/>
            </a:br>
            <a:br>
              <a:rPr lang="es-AR" dirty="0"/>
            </a:br>
            <a:r>
              <a:rPr lang="es-AR" dirty="0" err="1"/>
              <a:t>int</a:t>
            </a:r>
            <a:r>
              <a:rPr lang="es-AR" dirty="0"/>
              <a:t> </a:t>
            </a:r>
            <a:r>
              <a:rPr lang="es-AR" dirty="0" err="1"/>
              <a:t>main</a:t>
            </a:r>
            <a:r>
              <a:rPr lang="es-AR" dirty="0"/>
              <a:t>(</a:t>
            </a:r>
            <a:r>
              <a:rPr lang="es-AR" dirty="0" err="1"/>
              <a:t>int</a:t>
            </a:r>
            <a:r>
              <a:rPr lang="es-AR" dirty="0"/>
              <a:t> </a:t>
            </a:r>
            <a:r>
              <a:rPr lang="es-AR" dirty="0" err="1"/>
              <a:t>argc</a:t>
            </a:r>
            <a:r>
              <a:rPr lang="es-AR" dirty="0"/>
              <a:t>, </a:t>
            </a:r>
            <a:r>
              <a:rPr lang="es-AR" dirty="0" err="1"/>
              <a:t>char</a:t>
            </a:r>
            <a:r>
              <a:rPr lang="es-AR" dirty="0"/>
              <a:t> *</a:t>
            </a:r>
            <a:r>
              <a:rPr lang="es-AR" dirty="0" err="1"/>
              <a:t>argv</a:t>
            </a:r>
            <a:r>
              <a:rPr lang="es-AR" dirty="0"/>
              <a:t>[]) {</a:t>
            </a:r>
            <a:br>
              <a:rPr lang="es-AR" dirty="0"/>
            </a:br>
            <a:br>
              <a:rPr lang="es-AR" dirty="0"/>
            </a:br>
            <a:r>
              <a:rPr lang="es-AR" dirty="0" err="1"/>
              <a:t>int</a:t>
            </a:r>
            <a:r>
              <a:rPr lang="es-AR" dirty="0"/>
              <a:t> </a:t>
            </a:r>
            <a:r>
              <a:rPr lang="es-AR" dirty="0" err="1"/>
              <a:t>a,b,c</a:t>
            </a:r>
            <a:r>
              <a:rPr lang="es-AR" dirty="0"/>
              <a:t>;</a:t>
            </a:r>
            <a:br>
              <a:rPr lang="es-AR" dirty="0"/>
            </a:br>
            <a:r>
              <a:rPr lang="es-AR" dirty="0" err="1"/>
              <a:t>printf</a:t>
            </a:r>
            <a:r>
              <a:rPr lang="es-AR" dirty="0"/>
              <a:t>("Escribir primer lado del triangulo");</a:t>
            </a:r>
            <a:br>
              <a:rPr lang="es-AR" dirty="0"/>
            </a:br>
            <a:r>
              <a:rPr lang="es-AR" dirty="0" err="1"/>
              <a:t>scanf</a:t>
            </a:r>
            <a:r>
              <a:rPr lang="es-AR" dirty="0"/>
              <a:t>("%</a:t>
            </a:r>
            <a:r>
              <a:rPr lang="es-AR" dirty="0" err="1"/>
              <a:t>d",&amp;a</a:t>
            </a:r>
            <a:r>
              <a:rPr lang="es-AR" dirty="0"/>
              <a:t>);</a:t>
            </a:r>
            <a:br>
              <a:rPr lang="es-AR" dirty="0"/>
            </a:br>
            <a:r>
              <a:rPr lang="es-AR" dirty="0" err="1"/>
              <a:t>printf</a:t>
            </a:r>
            <a:r>
              <a:rPr lang="es-AR" dirty="0"/>
              <a:t>("Escribir segundo lado del triangulo");</a:t>
            </a:r>
            <a:br>
              <a:rPr lang="es-AR" dirty="0"/>
            </a:br>
            <a:r>
              <a:rPr lang="es-AR" dirty="0" err="1"/>
              <a:t>scanf</a:t>
            </a:r>
            <a:r>
              <a:rPr lang="es-AR" dirty="0"/>
              <a:t>("%</a:t>
            </a:r>
            <a:r>
              <a:rPr lang="es-AR" dirty="0" err="1"/>
              <a:t>d",&amp;b</a:t>
            </a:r>
            <a:r>
              <a:rPr lang="es-AR" dirty="0"/>
              <a:t>);</a:t>
            </a:r>
            <a:br>
              <a:rPr lang="es-AR" dirty="0"/>
            </a:br>
            <a:r>
              <a:rPr lang="es-AR" dirty="0" err="1"/>
              <a:t>printf</a:t>
            </a:r>
            <a:r>
              <a:rPr lang="es-AR" dirty="0"/>
              <a:t>("Escribir tercer lado del triangulo");</a:t>
            </a:r>
            <a:br>
              <a:rPr lang="es-AR" dirty="0"/>
            </a:br>
            <a:r>
              <a:rPr lang="es-AR" dirty="0" err="1"/>
              <a:t>scanf</a:t>
            </a:r>
            <a:r>
              <a:rPr lang="es-AR" dirty="0"/>
              <a:t>("%</a:t>
            </a:r>
            <a:r>
              <a:rPr lang="es-AR" dirty="0" err="1"/>
              <a:t>d",&amp;c</a:t>
            </a:r>
            <a:r>
              <a:rPr lang="es-AR" dirty="0"/>
              <a:t>);</a:t>
            </a:r>
            <a:br>
              <a:rPr lang="es-AR" dirty="0"/>
            </a:br>
            <a:r>
              <a:rPr lang="es-AR" dirty="0" err="1"/>
              <a:t>if</a:t>
            </a:r>
            <a:r>
              <a:rPr lang="es-AR" dirty="0"/>
              <a:t> (a==b &amp;&amp; b==c) </a:t>
            </a:r>
          </a:p>
          <a:p>
            <a:pPr marL="0" indent="0">
              <a:buNone/>
            </a:pPr>
            <a:r>
              <a:rPr lang="es-AR" dirty="0"/>
              <a:t>   </a:t>
            </a:r>
            <a:r>
              <a:rPr lang="es-AR" dirty="0" err="1"/>
              <a:t>printf</a:t>
            </a:r>
            <a:r>
              <a:rPr lang="es-AR" dirty="0"/>
              <a:t>("El triangulo es </a:t>
            </a:r>
            <a:r>
              <a:rPr lang="es-AR" dirty="0" err="1"/>
              <a:t>equilatero</a:t>
            </a:r>
            <a:r>
              <a:rPr lang="es-AR" dirty="0"/>
              <a:t>");</a:t>
            </a:r>
            <a:br>
              <a:rPr lang="es-AR" dirty="0"/>
            </a:br>
            <a:r>
              <a:rPr lang="es-AR" dirty="0" err="1"/>
              <a:t>else</a:t>
            </a:r>
            <a:r>
              <a:rPr lang="es-AR" dirty="0"/>
              <a:t> </a:t>
            </a:r>
          </a:p>
          <a:p>
            <a:pPr marL="0" indent="0">
              <a:buNone/>
            </a:pPr>
            <a:r>
              <a:rPr lang="es-AR" dirty="0"/>
              <a:t>   </a:t>
            </a:r>
            <a:r>
              <a:rPr lang="es-AR" dirty="0" err="1"/>
              <a:t>if</a:t>
            </a:r>
            <a:r>
              <a:rPr lang="es-AR" dirty="0"/>
              <a:t> (a==b &amp;&amp; b!=c || a!=b &amp;&amp; b==c || a==c ) </a:t>
            </a:r>
          </a:p>
          <a:p>
            <a:pPr marL="0" indent="0">
              <a:buNone/>
            </a:pPr>
            <a:r>
              <a:rPr lang="es-AR" dirty="0"/>
              <a:t>       </a:t>
            </a:r>
            <a:r>
              <a:rPr lang="es-AR" dirty="0" err="1"/>
              <a:t>printf</a:t>
            </a:r>
            <a:r>
              <a:rPr lang="es-AR" dirty="0"/>
              <a:t> ("El triangulo es </a:t>
            </a:r>
            <a:r>
              <a:rPr lang="es-AR" dirty="0" err="1"/>
              <a:t>isosceles</a:t>
            </a:r>
            <a:r>
              <a:rPr lang="es-AR" dirty="0"/>
              <a:t>");</a:t>
            </a:r>
            <a:br>
              <a:rPr lang="es-AR" dirty="0"/>
            </a:br>
            <a:r>
              <a:rPr lang="es-AR" dirty="0"/>
              <a:t>   </a:t>
            </a:r>
            <a:r>
              <a:rPr lang="es-AR" dirty="0" err="1"/>
              <a:t>else</a:t>
            </a:r>
            <a:endParaRPr lang="es-AR" dirty="0"/>
          </a:p>
          <a:p>
            <a:pPr marL="0" indent="0">
              <a:buNone/>
            </a:pPr>
            <a:r>
              <a:rPr lang="es-AR" dirty="0"/>
              <a:t>       </a:t>
            </a:r>
            <a:r>
              <a:rPr lang="es-AR" dirty="0" err="1"/>
              <a:t>printf</a:t>
            </a:r>
            <a:r>
              <a:rPr lang="es-AR" dirty="0"/>
              <a:t>("El triangulo es escaleno");</a:t>
            </a:r>
            <a:br>
              <a:rPr lang="es-AR" dirty="0"/>
            </a:br>
            <a:br>
              <a:rPr lang="es-AR" dirty="0"/>
            </a:br>
            <a:r>
              <a:rPr lang="es-AR" dirty="0" err="1"/>
              <a:t>return</a:t>
            </a:r>
            <a:r>
              <a:rPr lang="es-AR" dirty="0"/>
              <a:t> 0;</a:t>
            </a:r>
            <a:br>
              <a:rPr lang="es-AR" dirty="0"/>
            </a:br>
            <a:r>
              <a:rPr lang="es-AR" dirty="0"/>
              <a:t>}</a:t>
            </a:r>
          </a:p>
          <a:p>
            <a:endParaRPr lang="es-AR" dirty="0"/>
          </a:p>
        </p:txBody>
      </p:sp>
    </p:spTree>
    <p:extLst>
      <p:ext uri="{BB962C8B-B14F-4D97-AF65-F5344CB8AC3E}">
        <p14:creationId xmlns:p14="http://schemas.microsoft.com/office/powerpoint/2010/main" val="3100249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a:t>
            </a:r>
            <a:endParaRPr lang="es-AR" dirty="0"/>
          </a:p>
        </p:txBody>
      </p:sp>
      <p:sp>
        <p:nvSpPr>
          <p:cNvPr id="3" name="2 Marcador de contenido"/>
          <p:cNvSpPr>
            <a:spLocks noGrp="1"/>
          </p:cNvSpPr>
          <p:nvPr>
            <p:ph idx="1"/>
          </p:nvPr>
        </p:nvSpPr>
        <p:spPr/>
        <p:txBody>
          <a:bodyPr>
            <a:normAutofit fontScale="55000" lnSpcReduction="20000"/>
          </a:bodyPr>
          <a:lstStyle/>
          <a:p>
            <a:pPr marL="0" indent="0">
              <a:buNone/>
            </a:pPr>
            <a:r>
              <a:rPr lang="es-ES" dirty="0"/>
              <a:t>A,B,C enteros</a:t>
            </a:r>
          </a:p>
          <a:p>
            <a:endParaRPr lang="es-ES" dirty="0"/>
          </a:p>
          <a:p>
            <a:pPr marL="0" indent="0">
              <a:buNone/>
            </a:pPr>
            <a:r>
              <a:rPr lang="es-ES" dirty="0"/>
              <a:t>Leer(A);</a:t>
            </a:r>
          </a:p>
          <a:p>
            <a:pPr marL="0" indent="0">
              <a:buNone/>
            </a:pPr>
            <a:r>
              <a:rPr lang="es-ES" dirty="0"/>
              <a:t>Leer(B);</a:t>
            </a:r>
          </a:p>
          <a:p>
            <a:pPr marL="0" indent="0">
              <a:buNone/>
            </a:pPr>
            <a:r>
              <a:rPr lang="es-ES" dirty="0"/>
              <a:t>Leer(C);</a:t>
            </a:r>
          </a:p>
          <a:p>
            <a:endParaRPr lang="es-ES" dirty="0"/>
          </a:p>
          <a:p>
            <a:pPr marL="0" indent="0">
              <a:buNone/>
            </a:pPr>
            <a:r>
              <a:rPr lang="es-ES" dirty="0"/>
              <a:t>Si A==B &amp; B==C</a:t>
            </a:r>
          </a:p>
          <a:p>
            <a:pPr marL="0" indent="0">
              <a:buNone/>
            </a:pPr>
            <a:r>
              <a:rPr lang="es-ES" dirty="0"/>
              <a:t>    Escribir("el triángulo es Equilátero")</a:t>
            </a:r>
          </a:p>
          <a:p>
            <a:pPr marL="0" indent="0">
              <a:buNone/>
            </a:pPr>
            <a:r>
              <a:rPr lang="es-ES" dirty="0"/>
              <a:t>  Sino </a:t>
            </a:r>
          </a:p>
          <a:p>
            <a:pPr marL="0" indent="0">
              <a:buNone/>
            </a:pPr>
            <a:r>
              <a:rPr lang="es-ES" dirty="0"/>
              <a:t>    Si A==B | B==C | C==A</a:t>
            </a:r>
          </a:p>
          <a:p>
            <a:pPr marL="0" indent="0">
              <a:buNone/>
            </a:pPr>
            <a:r>
              <a:rPr lang="es-ES" dirty="0"/>
              <a:t>        Escribir("el triángulo es Isósceles")</a:t>
            </a:r>
          </a:p>
          <a:p>
            <a:pPr marL="0" indent="0">
              <a:buNone/>
            </a:pPr>
            <a:r>
              <a:rPr lang="es-ES" dirty="0"/>
              <a:t>     Sino</a:t>
            </a:r>
          </a:p>
          <a:p>
            <a:pPr marL="0" indent="0">
              <a:buNone/>
            </a:pPr>
            <a:r>
              <a:rPr lang="es-ES" dirty="0"/>
              <a:t>        Escribir("el triángulo es Escaleno")</a:t>
            </a:r>
          </a:p>
          <a:p>
            <a:pPr marL="0" indent="0">
              <a:buNone/>
            </a:pPr>
            <a:r>
              <a:rPr lang="es-ES" dirty="0"/>
              <a:t>    </a:t>
            </a:r>
            <a:r>
              <a:rPr lang="es-ES" dirty="0" err="1"/>
              <a:t>Fsi</a:t>
            </a:r>
            <a:endParaRPr lang="es-ES" dirty="0"/>
          </a:p>
          <a:p>
            <a:pPr marL="0" indent="0">
              <a:buNone/>
            </a:pPr>
            <a:r>
              <a:rPr lang="es-ES" dirty="0" err="1"/>
              <a:t>Fsi</a:t>
            </a:r>
            <a:endParaRPr lang="es-ES" dirty="0"/>
          </a:p>
          <a:p>
            <a:endParaRPr lang="es-AR" dirty="0"/>
          </a:p>
        </p:txBody>
      </p:sp>
    </p:spTree>
    <p:extLst>
      <p:ext uri="{BB962C8B-B14F-4D97-AF65-F5344CB8AC3E}">
        <p14:creationId xmlns:p14="http://schemas.microsoft.com/office/powerpoint/2010/main" val="2381167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3F5612-15A0-8245-2F2B-B7DFAE7F9C2A}"/>
              </a:ext>
            </a:extLst>
          </p:cNvPr>
          <p:cNvSpPr>
            <a:spLocks noGrp="1"/>
          </p:cNvSpPr>
          <p:nvPr>
            <p:ph type="title"/>
          </p:nvPr>
        </p:nvSpPr>
        <p:spPr>
          <a:xfrm>
            <a:off x="457200" y="274638"/>
            <a:ext cx="8229600" cy="58018"/>
          </a:xfrm>
        </p:spPr>
        <p:txBody>
          <a:bodyPr>
            <a:normAutofit fontScale="90000"/>
          </a:bodyPr>
          <a:lstStyle/>
          <a:p>
            <a:endParaRPr lang="es-AR" dirty="0"/>
          </a:p>
        </p:txBody>
      </p:sp>
      <p:sp>
        <p:nvSpPr>
          <p:cNvPr id="3" name="Marcador de contenido 2">
            <a:extLst>
              <a:ext uri="{FF2B5EF4-FFF2-40B4-BE49-F238E27FC236}">
                <a16:creationId xmlns:a16="http://schemas.microsoft.com/office/drawing/2014/main" id="{28B8CD0A-1927-7BCA-294E-9898B5259F89}"/>
              </a:ext>
            </a:extLst>
          </p:cNvPr>
          <p:cNvSpPr>
            <a:spLocks noGrp="1"/>
          </p:cNvSpPr>
          <p:nvPr>
            <p:ph idx="1"/>
          </p:nvPr>
        </p:nvSpPr>
        <p:spPr>
          <a:xfrm>
            <a:off x="457200" y="274638"/>
            <a:ext cx="8229600" cy="6583362"/>
          </a:xfrm>
        </p:spPr>
        <p:txBody>
          <a:bodyPr>
            <a:noAutofit/>
          </a:bodyPr>
          <a:lstStyle/>
          <a:p>
            <a:pPr marL="0" indent="0">
              <a:buNone/>
            </a:pPr>
            <a:r>
              <a:rPr lang="es-AR" sz="1600" dirty="0"/>
              <a:t>#include &lt;</a:t>
            </a:r>
            <a:r>
              <a:rPr lang="es-AR" sz="1600" dirty="0" err="1"/>
              <a:t>stdio.h</a:t>
            </a:r>
            <a:r>
              <a:rPr lang="es-AR" sz="1600" dirty="0"/>
              <a:t>&gt;</a:t>
            </a:r>
          </a:p>
          <a:p>
            <a:pPr marL="0" indent="0">
              <a:buNone/>
            </a:pPr>
            <a:r>
              <a:rPr lang="es-AR" sz="1600" dirty="0" err="1"/>
              <a:t>using</a:t>
            </a:r>
            <a:r>
              <a:rPr lang="es-AR" sz="1600" dirty="0"/>
              <a:t> </a:t>
            </a:r>
            <a:r>
              <a:rPr lang="es-AR" sz="1600" dirty="0" err="1"/>
              <a:t>namespace</a:t>
            </a:r>
            <a:r>
              <a:rPr lang="es-AR" sz="1600" dirty="0"/>
              <a:t> </a:t>
            </a:r>
            <a:r>
              <a:rPr lang="es-AR" sz="1600" dirty="0" err="1"/>
              <a:t>std</a:t>
            </a:r>
            <a:r>
              <a:rPr lang="es-AR" sz="1600" dirty="0"/>
              <a:t>;</a:t>
            </a:r>
          </a:p>
          <a:p>
            <a:pPr marL="0" indent="0">
              <a:buNone/>
            </a:pPr>
            <a:endParaRPr lang="es-AR" sz="1600" dirty="0"/>
          </a:p>
          <a:p>
            <a:pPr marL="0" indent="0">
              <a:buNone/>
            </a:pPr>
            <a:r>
              <a:rPr lang="es-AR" sz="1600" dirty="0" err="1"/>
              <a:t>int</a:t>
            </a:r>
            <a:r>
              <a:rPr lang="es-AR" sz="1600" dirty="0"/>
              <a:t> </a:t>
            </a:r>
            <a:r>
              <a:rPr lang="es-AR" sz="1600" dirty="0" err="1"/>
              <a:t>main</a:t>
            </a:r>
            <a:r>
              <a:rPr lang="es-AR" sz="1600" dirty="0"/>
              <a:t>(</a:t>
            </a:r>
            <a:r>
              <a:rPr lang="es-AR" sz="1600" dirty="0" err="1"/>
              <a:t>int</a:t>
            </a:r>
            <a:r>
              <a:rPr lang="es-AR" sz="1600" dirty="0"/>
              <a:t> </a:t>
            </a:r>
            <a:r>
              <a:rPr lang="es-AR" sz="1600" dirty="0" err="1"/>
              <a:t>argc</a:t>
            </a:r>
            <a:r>
              <a:rPr lang="es-AR" sz="1600" dirty="0"/>
              <a:t>, </a:t>
            </a:r>
            <a:r>
              <a:rPr lang="es-AR" sz="1600" dirty="0" err="1"/>
              <a:t>char</a:t>
            </a:r>
            <a:r>
              <a:rPr lang="es-AR" sz="1600" dirty="0"/>
              <a:t> *</a:t>
            </a:r>
            <a:r>
              <a:rPr lang="es-AR" sz="1600" dirty="0" err="1"/>
              <a:t>argv</a:t>
            </a:r>
            <a:r>
              <a:rPr lang="es-AR" sz="1600" dirty="0"/>
              <a:t>[]) {</a:t>
            </a:r>
          </a:p>
          <a:p>
            <a:pPr marL="0" indent="0">
              <a:buNone/>
            </a:pPr>
            <a:r>
              <a:rPr lang="es-AR" sz="1600" dirty="0"/>
              <a:t>	</a:t>
            </a:r>
            <a:r>
              <a:rPr lang="es-AR" sz="1600" dirty="0" err="1"/>
              <a:t>float</a:t>
            </a:r>
            <a:r>
              <a:rPr lang="es-AR" sz="1600" dirty="0"/>
              <a:t> </a:t>
            </a:r>
            <a:r>
              <a:rPr lang="es-AR" sz="1600" dirty="0" err="1"/>
              <a:t>a,b,c</a:t>
            </a:r>
            <a:r>
              <a:rPr lang="es-AR" sz="1600" dirty="0"/>
              <a:t>;</a:t>
            </a:r>
          </a:p>
          <a:p>
            <a:pPr marL="0" indent="0">
              <a:buNone/>
            </a:pPr>
            <a:r>
              <a:rPr lang="es-AR" sz="1600" dirty="0"/>
              <a:t>	</a:t>
            </a:r>
            <a:r>
              <a:rPr lang="es-AR" sz="1600" dirty="0" err="1"/>
              <a:t>printf</a:t>
            </a:r>
            <a:r>
              <a:rPr lang="es-AR" sz="1600" dirty="0"/>
              <a:t>("Ingrese el valor del lado A del triangulo\n");</a:t>
            </a:r>
          </a:p>
          <a:p>
            <a:pPr marL="0" indent="0">
              <a:buNone/>
            </a:pPr>
            <a:r>
              <a:rPr lang="es-AR" sz="1600" dirty="0"/>
              <a:t>	</a:t>
            </a:r>
            <a:r>
              <a:rPr lang="es-AR" sz="1600" dirty="0" err="1"/>
              <a:t>scanf</a:t>
            </a:r>
            <a:r>
              <a:rPr lang="es-AR" sz="1600" dirty="0"/>
              <a:t>("%</a:t>
            </a:r>
            <a:r>
              <a:rPr lang="es-AR" sz="1600" dirty="0" err="1"/>
              <a:t>f",&amp;a</a:t>
            </a:r>
            <a:r>
              <a:rPr lang="es-AR" sz="1600" dirty="0"/>
              <a:t>);</a:t>
            </a:r>
          </a:p>
          <a:p>
            <a:pPr marL="0" indent="0">
              <a:buNone/>
            </a:pPr>
            <a:r>
              <a:rPr lang="es-AR" sz="1600" dirty="0"/>
              <a:t>	</a:t>
            </a:r>
            <a:r>
              <a:rPr lang="es-AR" sz="1600" dirty="0" err="1"/>
              <a:t>printf</a:t>
            </a:r>
            <a:r>
              <a:rPr lang="es-AR" sz="1600" dirty="0"/>
              <a:t>("\</a:t>
            </a:r>
            <a:r>
              <a:rPr lang="es-AR" sz="1600" dirty="0" err="1"/>
              <a:t>nIngrese</a:t>
            </a:r>
            <a:r>
              <a:rPr lang="es-AR" sz="1600" dirty="0"/>
              <a:t> el valor del lado B del triangulo\n");</a:t>
            </a:r>
          </a:p>
          <a:p>
            <a:pPr marL="0" indent="0">
              <a:buNone/>
            </a:pPr>
            <a:r>
              <a:rPr lang="es-AR" sz="1600" dirty="0"/>
              <a:t>	</a:t>
            </a:r>
            <a:r>
              <a:rPr lang="es-AR" sz="1600" dirty="0" err="1"/>
              <a:t>scanf</a:t>
            </a:r>
            <a:r>
              <a:rPr lang="es-AR" sz="1600" dirty="0"/>
              <a:t>("%</a:t>
            </a:r>
            <a:r>
              <a:rPr lang="es-AR" sz="1600" dirty="0" err="1"/>
              <a:t>f",&amp;b</a:t>
            </a:r>
            <a:r>
              <a:rPr lang="es-AR" sz="1600" dirty="0"/>
              <a:t>);</a:t>
            </a:r>
          </a:p>
          <a:p>
            <a:pPr marL="0" indent="0">
              <a:buNone/>
            </a:pPr>
            <a:r>
              <a:rPr lang="es-AR" sz="1600" dirty="0"/>
              <a:t>	</a:t>
            </a:r>
            <a:r>
              <a:rPr lang="es-AR" sz="1600" dirty="0" err="1"/>
              <a:t>printf</a:t>
            </a:r>
            <a:r>
              <a:rPr lang="es-AR" sz="1600" dirty="0"/>
              <a:t>("\</a:t>
            </a:r>
            <a:r>
              <a:rPr lang="es-AR" sz="1600" dirty="0" err="1"/>
              <a:t>nIngrese</a:t>
            </a:r>
            <a:r>
              <a:rPr lang="es-AR" sz="1600" dirty="0"/>
              <a:t> el valor del lado C del triangulo\n");</a:t>
            </a:r>
          </a:p>
          <a:p>
            <a:pPr marL="0" indent="0">
              <a:buNone/>
            </a:pPr>
            <a:r>
              <a:rPr lang="es-AR" sz="1600" dirty="0"/>
              <a:t>	</a:t>
            </a:r>
            <a:r>
              <a:rPr lang="es-AR" sz="1600" dirty="0" err="1"/>
              <a:t>scanf</a:t>
            </a:r>
            <a:r>
              <a:rPr lang="es-AR" sz="1600" dirty="0"/>
              <a:t>("%</a:t>
            </a:r>
            <a:r>
              <a:rPr lang="es-AR" sz="1600" dirty="0" err="1"/>
              <a:t>f",&amp;c</a:t>
            </a:r>
            <a:r>
              <a:rPr lang="es-AR" sz="1600" dirty="0"/>
              <a:t>);</a:t>
            </a:r>
          </a:p>
          <a:p>
            <a:pPr marL="0" indent="0">
              <a:buNone/>
            </a:pPr>
            <a:r>
              <a:rPr lang="es-AR" sz="1600" dirty="0"/>
              <a:t>	</a:t>
            </a:r>
          </a:p>
          <a:p>
            <a:pPr marL="0" indent="0">
              <a:buNone/>
            </a:pPr>
            <a:r>
              <a:rPr lang="es-AR" sz="1600" dirty="0"/>
              <a:t>	</a:t>
            </a:r>
            <a:r>
              <a:rPr lang="es-AR" sz="1600" dirty="0" err="1"/>
              <a:t>if</a:t>
            </a:r>
            <a:r>
              <a:rPr lang="es-AR" sz="1600" dirty="0"/>
              <a:t> (a==b &amp;&amp; b==c){</a:t>
            </a:r>
          </a:p>
          <a:p>
            <a:pPr marL="0" indent="0">
              <a:buNone/>
            </a:pPr>
            <a:r>
              <a:rPr lang="es-AR" sz="1600" dirty="0"/>
              <a:t>		</a:t>
            </a:r>
            <a:r>
              <a:rPr lang="es-AR" sz="1600" dirty="0" err="1"/>
              <a:t>printf</a:t>
            </a:r>
            <a:r>
              <a:rPr lang="es-AR" sz="1600" dirty="0"/>
              <a:t>("\</a:t>
            </a:r>
            <a:r>
              <a:rPr lang="es-AR" sz="1600" dirty="0" err="1"/>
              <a:t>nEl</a:t>
            </a:r>
            <a:r>
              <a:rPr lang="es-AR" sz="1600" dirty="0"/>
              <a:t> triangulo es un </a:t>
            </a:r>
            <a:r>
              <a:rPr lang="es-AR" sz="1600" dirty="0" err="1"/>
              <a:t>equilatero</a:t>
            </a:r>
            <a:r>
              <a:rPr lang="es-AR" sz="1600" dirty="0"/>
              <a:t>");</a:t>
            </a:r>
          </a:p>
          <a:p>
            <a:pPr marL="0" indent="0">
              <a:buNone/>
            </a:pPr>
            <a:r>
              <a:rPr lang="es-AR" sz="1600" dirty="0"/>
              <a:t>	}</a:t>
            </a:r>
            <a:r>
              <a:rPr lang="es-AR" sz="1600" dirty="0" err="1"/>
              <a:t>else</a:t>
            </a:r>
            <a:r>
              <a:rPr lang="es-AR" sz="1600" dirty="0"/>
              <a:t>{</a:t>
            </a:r>
          </a:p>
          <a:p>
            <a:pPr marL="0" indent="0">
              <a:buNone/>
            </a:pPr>
            <a:r>
              <a:rPr lang="es-AR" sz="1600" dirty="0"/>
              <a:t>		</a:t>
            </a:r>
            <a:r>
              <a:rPr lang="es-AR" sz="1600" dirty="0" err="1"/>
              <a:t>if</a:t>
            </a:r>
            <a:r>
              <a:rPr lang="es-AR" sz="1600" dirty="0"/>
              <a:t> (a != b &amp;&amp; b!= c &amp;&amp; c != a){</a:t>
            </a:r>
          </a:p>
          <a:p>
            <a:pPr marL="0" indent="0">
              <a:buNone/>
            </a:pPr>
            <a:r>
              <a:rPr lang="es-AR" sz="1600" dirty="0"/>
              <a:t>			</a:t>
            </a:r>
            <a:r>
              <a:rPr lang="es-AR" sz="1600" dirty="0" err="1"/>
              <a:t>printf</a:t>
            </a:r>
            <a:r>
              <a:rPr lang="es-AR" sz="1600" dirty="0"/>
              <a:t>("\n El triangulo es escaleno");</a:t>
            </a:r>
          </a:p>
          <a:p>
            <a:pPr marL="0" indent="0">
              <a:buNone/>
            </a:pPr>
            <a:r>
              <a:rPr lang="es-AR" sz="1600" dirty="0"/>
              <a:t>		}</a:t>
            </a:r>
            <a:r>
              <a:rPr lang="es-AR" sz="1600" dirty="0" err="1"/>
              <a:t>else</a:t>
            </a:r>
            <a:r>
              <a:rPr lang="es-AR" sz="1600" dirty="0"/>
              <a:t>{</a:t>
            </a:r>
          </a:p>
          <a:p>
            <a:pPr marL="0" indent="0">
              <a:buNone/>
            </a:pPr>
            <a:r>
              <a:rPr lang="es-AR" sz="1600" dirty="0"/>
              <a:t>			</a:t>
            </a:r>
            <a:r>
              <a:rPr lang="es-AR" sz="1600" dirty="0" err="1"/>
              <a:t>if</a:t>
            </a:r>
            <a:r>
              <a:rPr lang="es-AR" sz="1600" dirty="0"/>
              <a:t> ((a != b &amp;&amp; b == c) || (a == b &amp;&amp; b != c) || (a == c &amp;&amp; c != b)){</a:t>
            </a:r>
          </a:p>
          <a:p>
            <a:pPr marL="0" indent="0">
              <a:buNone/>
            </a:pPr>
            <a:r>
              <a:rPr lang="es-AR" sz="1600" dirty="0"/>
              <a:t>				</a:t>
            </a:r>
            <a:r>
              <a:rPr lang="es-AR" sz="1600" dirty="0" err="1"/>
              <a:t>printf</a:t>
            </a:r>
            <a:r>
              <a:rPr lang="es-AR" sz="1600" dirty="0"/>
              <a:t>("\n El triangulo es un triangulo </a:t>
            </a:r>
            <a:r>
              <a:rPr lang="es-AR" sz="1600" dirty="0" err="1"/>
              <a:t>isoceles</a:t>
            </a:r>
            <a:r>
              <a:rPr lang="es-AR" sz="1600" dirty="0"/>
              <a:t>");			}</a:t>
            </a:r>
          </a:p>
          <a:p>
            <a:pPr marL="0" indent="0">
              <a:buNone/>
            </a:pPr>
            <a:r>
              <a:rPr lang="es-AR" sz="1600" dirty="0"/>
              <a:t>		}</a:t>
            </a:r>
          </a:p>
          <a:p>
            <a:pPr marL="0" indent="0">
              <a:buNone/>
            </a:pPr>
            <a:r>
              <a:rPr lang="es-AR" sz="1600" dirty="0"/>
              <a:t>	}</a:t>
            </a:r>
          </a:p>
          <a:p>
            <a:pPr marL="0" indent="0">
              <a:buNone/>
            </a:pPr>
            <a:r>
              <a:rPr lang="es-AR" sz="1600" dirty="0"/>
              <a:t>	</a:t>
            </a:r>
            <a:r>
              <a:rPr lang="es-AR" sz="1600" dirty="0" err="1"/>
              <a:t>return</a:t>
            </a:r>
            <a:r>
              <a:rPr lang="es-AR" sz="1600" dirty="0"/>
              <a:t> 0;}</a:t>
            </a:r>
          </a:p>
        </p:txBody>
      </p:sp>
    </p:spTree>
    <p:extLst>
      <p:ext uri="{BB962C8B-B14F-4D97-AF65-F5344CB8AC3E}">
        <p14:creationId xmlns:p14="http://schemas.microsoft.com/office/powerpoint/2010/main" val="3311276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 Múltiple</a:t>
            </a:r>
            <a:endParaRPr lang="es-AR" dirty="0"/>
          </a:p>
        </p:txBody>
      </p:sp>
      <p:sp>
        <p:nvSpPr>
          <p:cNvPr id="3" name="2 Marcador de contenido"/>
          <p:cNvSpPr>
            <a:spLocks noGrp="1"/>
          </p:cNvSpPr>
          <p:nvPr>
            <p:ph idx="1"/>
          </p:nvPr>
        </p:nvSpPr>
        <p:spPr/>
        <p:txBody>
          <a:bodyPr>
            <a:normAutofit fontScale="70000" lnSpcReduction="20000"/>
          </a:bodyPr>
          <a:lstStyle/>
          <a:p>
            <a:r>
              <a:rPr lang="es-ES" dirty="0"/>
              <a:t>Una estructura de decisión múltiple permite seleccionar un camino entre varios caminos posibles teniendo como base el valor de la variable seleccionada la cual es comparada con una lista de constantes (</a:t>
            </a:r>
            <a:r>
              <a:rPr lang="es-ES" dirty="0" err="1"/>
              <a:t>segun</a:t>
            </a:r>
            <a:r>
              <a:rPr lang="es-ES" dirty="0"/>
              <a:t> n) enteras o de carácter. Cuando el valor de la variable seleccionada es igual a una de las constantes ‘n’, se ejecuta la instrucción o el grupo de instrucciones que pertenecen a dicha constante.</a:t>
            </a:r>
            <a:br>
              <a:rPr lang="es-ES" dirty="0"/>
            </a:br>
            <a:br>
              <a:rPr lang="es-ES" dirty="0"/>
            </a:br>
            <a:r>
              <a:rPr lang="es-ES" dirty="0"/>
              <a:t>** Si el valor de la variable seleccionada no coincide con ninguna constante, se ejecuta la instrucción por defecto (default), si es que existe.</a:t>
            </a:r>
            <a:br>
              <a:rPr lang="es-ES" dirty="0"/>
            </a:br>
            <a:br>
              <a:rPr lang="es-ES" dirty="0"/>
            </a:br>
            <a:r>
              <a:rPr lang="es-ES" dirty="0"/>
              <a:t>** Si un </a:t>
            </a:r>
            <a:r>
              <a:rPr lang="es-ES" dirty="0" err="1"/>
              <a:t>segun</a:t>
            </a:r>
            <a:r>
              <a:rPr lang="es-ES" dirty="0"/>
              <a:t> carece de una sentencia romper, se ejecutaran los demás </a:t>
            </a:r>
            <a:r>
              <a:rPr lang="es-ES" dirty="0" err="1"/>
              <a:t>segun</a:t>
            </a:r>
            <a:r>
              <a:rPr lang="es-ES" dirty="0"/>
              <a:t> que siguen hasta encontrar un romper o hasta llegar al final de </a:t>
            </a:r>
            <a:r>
              <a:rPr lang="es-ES" dirty="0" err="1"/>
              <a:t>segun</a:t>
            </a:r>
            <a:r>
              <a:rPr lang="es-ES" dirty="0"/>
              <a:t>.</a:t>
            </a:r>
            <a:endParaRPr lang="es-AR" dirty="0"/>
          </a:p>
        </p:txBody>
      </p:sp>
    </p:spTree>
    <p:extLst>
      <p:ext uri="{BB962C8B-B14F-4D97-AF65-F5344CB8AC3E}">
        <p14:creationId xmlns:p14="http://schemas.microsoft.com/office/powerpoint/2010/main" val="2313586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850106"/>
          </a:xfrm>
        </p:spPr>
        <p:txBody>
          <a:bodyPr/>
          <a:lstStyle/>
          <a:p>
            <a:r>
              <a:rPr lang="es-ES" b="1" dirty="0">
                <a:solidFill>
                  <a:srgbClr val="7030A0"/>
                </a:solidFill>
                <a:latin typeface="Verdana" panose="020B0604030504040204" pitchFamily="34" charset="0"/>
                <a:ea typeface="Verdana" panose="020B0604030504040204" pitchFamily="34" charset="0"/>
              </a:rPr>
              <a:t>Decisión Múltiple</a:t>
            </a:r>
            <a:endParaRPr lang="es-AR" dirty="0"/>
          </a:p>
        </p:txBody>
      </p:sp>
      <p:sp>
        <p:nvSpPr>
          <p:cNvPr id="3" name="2 Marcador de contenido"/>
          <p:cNvSpPr>
            <a:spLocks noGrp="1"/>
          </p:cNvSpPr>
          <p:nvPr>
            <p:ph idx="1"/>
          </p:nvPr>
        </p:nvSpPr>
        <p:spPr>
          <a:xfrm>
            <a:off x="457200" y="1196752"/>
            <a:ext cx="8229600" cy="5256584"/>
          </a:xfrm>
        </p:spPr>
        <p:txBody>
          <a:bodyPr>
            <a:noAutofit/>
          </a:bodyPr>
          <a:lstStyle/>
          <a:p>
            <a:pPr marL="0" indent="0">
              <a:buNone/>
            </a:pPr>
            <a:r>
              <a:rPr lang="es-ES" sz="1800" dirty="0"/>
              <a:t>//Declaración de variables</a:t>
            </a:r>
            <a:br>
              <a:rPr lang="es-ES" sz="1800" dirty="0"/>
            </a:br>
            <a:r>
              <a:rPr lang="es-ES" sz="1800" dirty="0"/>
              <a:t>entero n</a:t>
            </a:r>
            <a:br>
              <a:rPr lang="es-ES" sz="1800" dirty="0"/>
            </a:br>
            <a:br>
              <a:rPr lang="es-ES" sz="1800" dirty="0"/>
            </a:br>
            <a:r>
              <a:rPr lang="es-ES" sz="1800" dirty="0"/>
              <a:t>//Entrada de datos</a:t>
            </a:r>
            <a:br>
              <a:rPr lang="es-ES" sz="1800" dirty="0"/>
            </a:br>
            <a:r>
              <a:rPr lang="es-ES" sz="1800" dirty="0"/>
              <a:t>Leer n</a:t>
            </a:r>
            <a:br>
              <a:rPr lang="es-ES" sz="1800" dirty="0"/>
            </a:br>
            <a:br>
              <a:rPr lang="es-ES" sz="1800" dirty="0"/>
            </a:br>
            <a:r>
              <a:rPr lang="es-ES" sz="1800" dirty="0"/>
              <a:t>//Proceso inicia selección</a:t>
            </a:r>
            <a:br>
              <a:rPr lang="es-ES" sz="1800" dirty="0"/>
            </a:br>
            <a:r>
              <a:rPr lang="es-ES" sz="1800" dirty="0"/>
              <a:t>según (n) {</a:t>
            </a:r>
            <a:br>
              <a:rPr lang="es-ES" sz="1800" dirty="0"/>
            </a:br>
            <a:r>
              <a:rPr lang="es-ES" sz="1800" dirty="0"/>
              <a:t>          caso 1: visualizar "Lunes“;  romper</a:t>
            </a:r>
            <a:br>
              <a:rPr lang="es-ES" sz="1800" dirty="0"/>
            </a:br>
            <a:r>
              <a:rPr lang="es-ES" sz="1800" dirty="0"/>
              <a:t>          caso 2: visualizar "Martes“; romper</a:t>
            </a:r>
            <a:br>
              <a:rPr lang="es-ES" sz="1800" dirty="0"/>
            </a:br>
            <a:r>
              <a:rPr lang="es-ES" sz="1800" dirty="0"/>
              <a:t>          caso 3: visualizar "Miércoles“; romper</a:t>
            </a:r>
            <a:br>
              <a:rPr lang="es-ES" sz="1800" dirty="0"/>
            </a:br>
            <a:r>
              <a:rPr lang="es-ES" sz="1800" dirty="0"/>
              <a:t>          caso 4: visualizar "Jueves“; romper</a:t>
            </a:r>
            <a:br>
              <a:rPr lang="es-ES" sz="1800" dirty="0"/>
            </a:br>
            <a:r>
              <a:rPr lang="es-ES" sz="1800" dirty="0"/>
              <a:t>          caso 5: visualizar "Viernes“; romper</a:t>
            </a:r>
            <a:br>
              <a:rPr lang="es-ES" sz="1800" dirty="0"/>
            </a:br>
            <a:r>
              <a:rPr lang="es-ES" sz="1800" dirty="0"/>
              <a:t>          caso 6: visualizar "Sábado“;  romper</a:t>
            </a:r>
            <a:br>
              <a:rPr lang="es-ES" sz="1800" dirty="0"/>
            </a:br>
            <a:r>
              <a:rPr lang="es-ES" sz="1800" dirty="0"/>
              <a:t>          caso 7: visualizar “Domingo“;  romper</a:t>
            </a:r>
            <a:br>
              <a:rPr lang="es-ES" sz="1800" dirty="0"/>
            </a:br>
            <a:r>
              <a:rPr lang="es-ES" sz="1800" dirty="0"/>
              <a:t>          defecto: visualizar "Error: ingrese número dentro del rango"</a:t>
            </a:r>
            <a:br>
              <a:rPr lang="es-ES" sz="1800" dirty="0"/>
            </a:br>
            <a:r>
              <a:rPr lang="es-ES" sz="1800" dirty="0"/>
              <a:t>          //finaliza el proceso de selección</a:t>
            </a:r>
            <a:br>
              <a:rPr lang="es-ES" sz="1800" dirty="0"/>
            </a:br>
            <a:r>
              <a:rPr lang="es-ES" sz="1800" dirty="0"/>
              <a:t>fin según</a:t>
            </a:r>
            <a:br>
              <a:rPr lang="es-ES" sz="1800" dirty="0"/>
            </a:br>
            <a:r>
              <a:rPr lang="es-ES" sz="1800" dirty="0"/>
              <a:t>Fin</a:t>
            </a:r>
            <a:br>
              <a:rPr lang="es-ES" sz="1800" dirty="0"/>
            </a:br>
            <a:endParaRPr lang="es-AR" sz="1800" dirty="0"/>
          </a:p>
        </p:txBody>
      </p:sp>
    </p:spTree>
    <p:extLst>
      <p:ext uri="{BB962C8B-B14F-4D97-AF65-F5344CB8AC3E}">
        <p14:creationId xmlns:p14="http://schemas.microsoft.com/office/powerpoint/2010/main" val="2085074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 Múltiple</a:t>
            </a:r>
            <a:endParaRPr lang="es-AR" dirty="0"/>
          </a:p>
        </p:txBody>
      </p:sp>
      <p:sp>
        <p:nvSpPr>
          <p:cNvPr id="3" name="2 Marcador de contenido"/>
          <p:cNvSpPr>
            <a:spLocks noGrp="1"/>
          </p:cNvSpPr>
          <p:nvPr>
            <p:ph idx="1"/>
          </p:nvPr>
        </p:nvSpPr>
        <p:spPr/>
        <p:txBody>
          <a:bodyPr/>
          <a:lstStyle/>
          <a:p>
            <a:r>
              <a:rPr lang="es-ES" dirty="0"/>
              <a:t>En muchos lenguaje la sentencia de romper está implícita, es decir que se evalúa la condición y si alguna resulta verdadera se termina la selección.</a:t>
            </a:r>
          </a:p>
          <a:p>
            <a:r>
              <a:rPr lang="es-ES" dirty="0"/>
              <a:t> Esto presupone que solo hay una posibilidad en la que la condición puede ser evaluada como verdadera.</a:t>
            </a:r>
            <a:endParaRPr lang="es-AR" dirty="0"/>
          </a:p>
        </p:txBody>
      </p:sp>
    </p:spTree>
    <p:extLst>
      <p:ext uri="{BB962C8B-B14F-4D97-AF65-F5344CB8AC3E}">
        <p14:creationId xmlns:p14="http://schemas.microsoft.com/office/powerpoint/2010/main" val="2911707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 Múltiple</a:t>
            </a:r>
            <a:endParaRPr lang="es-AR" dirty="0"/>
          </a:p>
        </p:txBody>
      </p:sp>
      <p:sp>
        <p:nvSpPr>
          <p:cNvPr id="3" name="2 Marcador de contenido"/>
          <p:cNvSpPr>
            <a:spLocks noGrp="1"/>
          </p:cNvSpPr>
          <p:nvPr>
            <p:ph idx="1"/>
          </p:nvPr>
        </p:nvSpPr>
        <p:spPr/>
        <p:txBody>
          <a:bodyPr>
            <a:normAutofit fontScale="55000" lnSpcReduction="20000"/>
          </a:bodyPr>
          <a:lstStyle/>
          <a:p>
            <a:pPr marL="0" indent="0">
              <a:buNone/>
            </a:pPr>
            <a:r>
              <a:rPr lang="es-AR" dirty="0"/>
              <a:t>                    {</a:t>
            </a:r>
            <a:br>
              <a:rPr lang="es-AR" dirty="0"/>
            </a:br>
            <a:r>
              <a:rPr lang="es-AR" dirty="0"/>
              <a:t>                              //Declaración de variables</a:t>
            </a:r>
            <a:br>
              <a:rPr lang="es-AR" dirty="0"/>
            </a:br>
            <a:r>
              <a:rPr lang="es-AR" dirty="0"/>
              <a:t>                              </a:t>
            </a:r>
            <a:r>
              <a:rPr lang="es-AR" dirty="0" err="1"/>
              <a:t>int</a:t>
            </a:r>
            <a:r>
              <a:rPr lang="es-AR" dirty="0"/>
              <a:t> n;</a:t>
            </a:r>
            <a:br>
              <a:rPr lang="es-AR" dirty="0"/>
            </a:br>
            <a:br>
              <a:rPr lang="es-AR" dirty="0"/>
            </a:br>
            <a:r>
              <a:rPr lang="es-AR" dirty="0"/>
              <a:t>                              //Entrada de datos</a:t>
            </a:r>
            <a:br>
              <a:rPr lang="es-AR" dirty="0"/>
            </a:br>
            <a:r>
              <a:rPr lang="es-AR" dirty="0"/>
              <a:t>                              n = </a:t>
            </a:r>
            <a:r>
              <a:rPr lang="es-AR" dirty="0" err="1"/>
              <a:t>Integer.parseInt</a:t>
            </a:r>
            <a:r>
              <a:rPr lang="es-AR" dirty="0"/>
              <a:t>(</a:t>
            </a:r>
            <a:r>
              <a:rPr lang="es-AR" dirty="0" err="1"/>
              <a:t>txtdia.getText</a:t>
            </a:r>
            <a:r>
              <a:rPr lang="es-AR" dirty="0"/>
              <a:t>());</a:t>
            </a:r>
            <a:br>
              <a:rPr lang="es-AR" dirty="0"/>
            </a:br>
            <a:br>
              <a:rPr lang="es-AR" dirty="0"/>
            </a:br>
            <a:r>
              <a:rPr lang="es-AR" dirty="0"/>
              <a:t>                              //Proceso de selección</a:t>
            </a:r>
            <a:br>
              <a:rPr lang="es-AR" dirty="0"/>
            </a:br>
            <a:r>
              <a:rPr lang="es-AR" dirty="0"/>
              <a:t>                              </a:t>
            </a:r>
            <a:r>
              <a:rPr lang="es-AR" dirty="0" err="1"/>
              <a:t>switch</a:t>
            </a:r>
            <a:r>
              <a:rPr lang="es-AR" dirty="0"/>
              <a:t> (n) {</a:t>
            </a:r>
            <a:br>
              <a:rPr lang="es-AR" dirty="0"/>
            </a:br>
            <a:r>
              <a:rPr lang="es-AR" dirty="0"/>
              <a:t>                                        case 1: </a:t>
            </a:r>
            <a:r>
              <a:rPr lang="es-AR" dirty="0" err="1"/>
              <a:t>txtA.setText</a:t>
            </a:r>
            <a:r>
              <a:rPr lang="es-AR" dirty="0"/>
              <a:t>("Lunes"); break;</a:t>
            </a:r>
            <a:br>
              <a:rPr lang="es-AR" dirty="0"/>
            </a:br>
            <a:r>
              <a:rPr lang="es-AR" dirty="0"/>
              <a:t>                                        case 2: </a:t>
            </a:r>
            <a:r>
              <a:rPr lang="es-AR" dirty="0" err="1"/>
              <a:t>txtA.setText</a:t>
            </a:r>
            <a:r>
              <a:rPr lang="es-AR" dirty="0"/>
              <a:t>("Martes"); break;</a:t>
            </a:r>
            <a:br>
              <a:rPr lang="es-AR" dirty="0"/>
            </a:br>
            <a:r>
              <a:rPr lang="es-AR" dirty="0"/>
              <a:t>                                        case 3: </a:t>
            </a:r>
            <a:r>
              <a:rPr lang="es-AR" dirty="0" err="1"/>
              <a:t>txtA.setText</a:t>
            </a:r>
            <a:r>
              <a:rPr lang="es-AR" dirty="0"/>
              <a:t>("Miércoles"); break;</a:t>
            </a:r>
            <a:br>
              <a:rPr lang="es-AR" dirty="0"/>
            </a:br>
            <a:r>
              <a:rPr lang="es-AR" dirty="0"/>
              <a:t>                                        case 4: </a:t>
            </a:r>
            <a:r>
              <a:rPr lang="es-AR" dirty="0" err="1"/>
              <a:t>txtA.setText</a:t>
            </a:r>
            <a:r>
              <a:rPr lang="es-AR" dirty="0"/>
              <a:t>("Jueves"); break;</a:t>
            </a:r>
            <a:br>
              <a:rPr lang="es-AR" dirty="0"/>
            </a:br>
            <a:r>
              <a:rPr lang="es-AR" dirty="0"/>
              <a:t>                                        case 5: </a:t>
            </a:r>
            <a:r>
              <a:rPr lang="es-AR" dirty="0" err="1"/>
              <a:t>txtA.setText</a:t>
            </a:r>
            <a:r>
              <a:rPr lang="es-AR" dirty="0"/>
              <a:t>("Viernes"); break;</a:t>
            </a:r>
            <a:br>
              <a:rPr lang="es-AR" dirty="0"/>
            </a:br>
            <a:r>
              <a:rPr lang="es-AR" dirty="0"/>
              <a:t>                                        case 6: </a:t>
            </a:r>
            <a:r>
              <a:rPr lang="es-AR" dirty="0" err="1"/>
              <a:t>txtA.setText</a:t>
            </a:r>
            <a:r>
              <a:rPr lang="es-AR" dirty="0"/>
              <a:t>("Sábado"); break;</a:t>
            </a:r>
            <a:br>
              <a:rPr lang="es-AR" dirty="0"/>
            </a:br>
            <a:r>
              <a:rPr lang="es-AR" dirty="0"/>
              <a:t>                                        case 7: </a:t>
            </a:r>
            <a:r>
              <a:rPr lang="es-AR" dirty="0" err="1"/>
              <a:t>txtA.setText</a:t>
            </a:r>
            <a:r>
              <a:rPr lang="es-AR" dirty="0"/>
              <a:t>("Domingo"); break;</a:t>
            </a:r>
            <a:br>
              <a:rPr lang="es-AR" dirty="0"/>
            </a:br>
            <a:r>
              <a:rPr lang="es-AR" dirty="0"/>
              <a:t>                                        default: </a:t>
            </a:r>
            <a:r>
              <a:rPr lang="es-AR" dirty="0" err="1"/>
              <a:t>txtA.setText</a:t>
            </a:r>
            <a:r>
              <a:rPr lang="es-AR" dirty="0"/>
              <a:t>("Error: ingrese número dentro del rango");</a:t>
            </a:r>
            <a:br>
              <a:rPr lang="es-AR" dirty="0"/>
            </a:br>
            <a:r>
              <a:rPr lang="es-AR" dirty="0"/>
              <a:t>                              }</a:t>
            </a:r>
            <a:br>
              <a:rPr lang="es-AR" dirty="0"/>
            </a:br>
            <a:r>
              <a:rPr lang="es-AR" dirty="0"/>
              <a:t>                    }</a:t>
            </a:r>
            <a:br>
              <a:rPr lang="es-AR" dirty="0"/>
            </a:br>
            <a:endParaRPr lang="es-AR" dirty="0"/>
          </a:p>
        </p:txBody>
      </p:sp>
    </p:spTree>
    <p:extLst>
      <p:ext uri="{BB962C8B-B14F-4D97-AF65-F5344CB8AC3E}">
        <p14:creationId xmlns:p14="http://schemas.microsoft.com/office/powerpoint/2010/main" val="7071036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a:solidFill>
                  <a:srgbClr val="7030A0"/>
                </a:solidFill>
                <a:latin typeface="Verdana" panose="020B0604030504040204" pitchFamily="34" charset="0"/>
                <a:ea typeface="Verdana" panose="020B0604030504040204" pitchFamily="34" charset="0"/>
              </a:rPr>
              <a:t>Decisión Múltiple</a:t>
            </a:r>
            <a:endParaRPr lang="es-AR" dirty="0"/>
          </a:p>
        </p:txBody>
      </p:sp>
      <p:sp>
        <p:nvSpPr>
          <p:cNvPr id="3" name="2 Marcador de contenido"/>
          <p:cNvSpPr>
            <a:spLocks noGrp="1"/>
          </p:cNvSpPr>
          <p:nvPr>
            <p:ph idx="1"/>
          </p:nvPr>
        </p:nvSpPr>
        <p:spPr/>
        <p:txBody>
          <a:bodyPr>
            <a:normAutofit/>
          </a:bodyPr>
          <a:lstStyle/>
          <a:p>
            <a:pPr marL="0" indent="0" algn="ctr">
              <a:buNone/>
            </a:pPr>
            <a:endParaRPr lang="es-ES" sz="4400" b="1" dirty="0">
              <a:latin typeface="Verdana" panose="020B0604030504040204" pitchFamily="34" charset="0"/>
              <a:ea typeface="Verdana" panose="020B0604030504040204" pitchFamily="34" charset="0"/>
            </a:endParaRPr>
          </a:p>
          <a:p>
            <a:pPr marL="0" indent="0" algn="ctr">
              <a:buNone/>
            </a:pPr>
            <a:r>
              <a:rPr lang="es-ES" sz="4400" b="1" dirty="0">
                <a:latin typeface="Verdana" panose="020B0604030504040204" pitchFamily="34" charset="0"/>
                <a:ea typeface="Verdana" panose="020B0604030504040204" pitchFamily="34" charset="0"/>
              </a:rPr>
              <a:t>Resolver ejercitación </a:t>
            </a:r>
          </a:p>
          <a:p>
            <a:pPr marL="0" indent="0" algn="ctr">
              <a:buNone/>
            </a:pPr>
            <a:r>
              <a:rPr lang="es-ES" sz="4400" b="1" dirty="0">
                <a:latin typeface="Verdana" panose="020B0604030504040204" pitchFamily="34" charset="0"/>
                <a:ea typeface="Verdana" panose="020B0604030504040204" pitchFamily="34" charset="0"/>
              </a:rPr>
              <a:t> </a:t>
            </a:r>
            <a:endParaRPr lang="es-AR" sz="44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45512631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471</TotalTime>
  <Words>1517</Words>
  <Application>Microsoft Office PowerPoint</Application>
  <PresentationFormat>Presentación en pantalla (4:3)</PresentationFormat>
  <Paragraphs>156</Paragraphs>
  <Slides>22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Arial</vt:lpstr>
      <vt:lpstr>Calibri</vt:lpstr>
      <vt:lpstr>Verdana</vt:lpstr>
      <vt:lpstr>Tema de Office</vt:lpstr>
      <vt:lpstr>Estructuras de Programas</vt:lpstr>
      <vt:lpstr>Decisión</vt:lpstr>
      <vt:lpstr>Decisión</vt:lpstr>
      <vt:lpstr>Decisión</vt:lpstr>
      <vt:lpstr>Decisión</vt:lpstr>
      <vt:lpstr>Decisión</vt:lpstr>
      <vt:lpstr>Decisión</vt:lpstr>
      <vt:lpstr>Decisión</vt:lpstr>
      <vt:lpstr>Decisión</vt:lpstr>
      <vt:lpstr>Decisión</vt:lpstr>
      <vt:lpstr>Decisión</vt:lpstr>
      <vt:lpstr>Decisión</vt:lpstr>
      <vt:lpstr>Decisión</vt:lpstr>
      <vt:lpstr>Decisión</vt:lpstr>
      <vt:lpstr>Presentación de PowerPoint</vt:lpstr>
      <vt:lpstr>Decisión</vt:lpstr>
      <vt:lpstr>Presentación de PowerPoint</vt:lpstr>
      <vt:lpstr>Decisión Múltiple</vt:lpstr>
      <vt:lpstr>Decisión Múltiple</vt:lpstr>
      <vt:lpstr>Decisión Múltiple</vt:lpstr>
      <vt:lpstr>Decisión Múltiple</vt:lpstr>
      <vt:lpstr>Decisión Múltiple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Planificacion</dc:creator>
  <cp:lastModifiedBy>Rafael Yurkevich</cp:lastModifiedBy>
  <cp:revision>22</cp:revision>
  <dcterms:created xsi:type="dcterms:W3CDTF">2021-03-25T20:41:38Z</dcterms:created>
  <dcterms:modified xsi:type="dcterms:W3CDTF">2023-03-28T20:24:21Z</dcterms:modified>
</cp:coreProperties>
</file>