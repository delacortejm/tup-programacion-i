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1FAF70-F8AC-590F-1573-BB69C1FB43A8}"/>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AR"/>
          </a:p>
        </p:txBody>
      </p:sp>
      <p:sp>
        <p:nvSpPr>
          <p:cNvPr id="3" name="Subtítulo 2">
            <a:extLst>
              <a:ext uri="{FF2B5EF4-FFF2-40B4-BE49-F238E27FC236}">
                <a16:creationId xmlns:a16="http://schemas.microsoft.com/office/drawing/2014/main" id="{AEB35A57-5D44-A994-A530-4BB2051D92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AR"/>
          </a:p>
        </p:txBody>
      </p:sp>
      <p:sp>
        <p:nvSpPr>
          <p:cNvPr id="4" name="Marcador de fecha 3">
            <a:extLst>
              <a:ext uri="{FF2B5EF4-FFF2-40B4-BE49-F238E27FC236}">
                <a16:creationId xmlns:a16="http://schemas.microsoft.com/office/drawing/2014/main" id="{B72C9338-EEE2-3176-1F2B-5A54C2E42CC4}"/>
              </a:ext>
            </a:extLst>
          </p:cNvPr>
          <p:cNvSpPr>
            <a:spLocks noGrp="1"/>
          </p:cNvSpPr>
          <p:nvPr>
            <p:ph type="dt" sz="half" idx="10"/>
          </p:nvPr>
        </p:nvSpPr>
        <p:spPr/>
        <p:txBody>
          <a:bodyPr/>
          <a:lstStyle/>
          <a:p>
            <a:fld id="{7855DA27-38E8-4AB4-9587-559046DCDB94}" type="datetimeFigureOut">
              <a:rPr lang="es-AR" smtClean="0"/>
              <a:t>21/3/2024</a:t>
            </a:fld>
            <a:endParaRPr lang="es-AR"/>
          </a:p>
        </p:txBody>
      </p:sp>
      <p:sp>
        <p:nvSpPr>
          <p:cNvPr id="5" name="Marcador de pie de página 4">
            <a:extLst>
              <a:ext uri="{FF2B5EF4-FFF2-40B4-BE49-F238E27FC236}">
                <a16:creationId xmlns:a16="http://schemas.microsoft.com/office/drawing/2014/main" id="{514D05D0-A50A-6213-4B3C-CEF5A125844D}"/>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2A306479-0D42-F48A-9141-1F09B73A8374}"/>
              </a:ext>
            </a:extLst>
          </p:cNvPr>
          <p:cNvSpPr>
            <a:spLocks noGrp="1"/>
          </p:cNvSpPr>
          <p:nvPr>
            <p:ph type="sldNum" sz="quarter" idx="12"/>
          </p:nvPr>
        </p:nvSpPr>
        <p:spPr/>
        <p:txBody>
          <a:bodyPr/>
          <a:lstStyle/>
          <a:p>
            <a:fld id="{9D396EFB-3A3E-493B-A63A-00F6F8E1F7ED}" type="slidenum">
              <a:rPr lang="es-AR" smtClean="0"/>
              <a:t>‹Nº›</a:t>
            </a:fld>
            <a:endParaRPr lang="es-AR"/>
          </a:p>
        </p:txBody>
      </p:sp>
    </p:spTree>
    <p:extLst>
      <p:ext uri="{BB962C8B-B14F-4D97-AF65-F5344CB8AC3E}">
        <p14:creationId xmlns:p14="http://schemas.microsoft.com/office/powerpoint/2010/main" val="512207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E85144-D7C3-6BEA-B139-0A5E9B74031D}"/>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65002B03-A0B4-0F33-919F-9243045DEAA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59BA3FCF-EB7E-0DF0-465A-FFE7AE5E4982}"/>
              </a:ext>
            </a:extLst>
          </p:cNvPr>
          <p:cNvSpPr>
            <a:spLocks noGrp="1"/>
          </p:cNvSpPr>
          <p:nvPr>
            <p:ph type="dt" sz="half" idx="10"/>
          </p:nvPr>
        </p:nvSpPr>
        <p:spPr/>
        <p:txBody>
          <a:bodyPr/>
          <a:lstStyle/>
          <a:p>
            <a:fld id="{7855DA27-38E8-4AB4-9587-559046DCDB94}" type="datetimeFigureOut">
              <a:rPr lang="es-AR" smtClean="0"/>
              <a:t>21/3/2024</a:t>
            </a:fld>
            <a:endParaRPr lang="es-AR"/>
          </a:p>
        </p:txBody>
      </p:sp>
      <p:sp>
        <p:nvSpPr>
          <p:cNvPr id="5" name="Marcador de pie de página 4">
            <a:extLst>
              <a:ext uri="{FF2B5EF4-FFF2-40B4-BE49-F238E27FC236}">
                <a16:creationId xmlns:a16="http://schemas.microsoft.com/office/drawing/2014/main" id="{142E6898-DB3D-DC7B-E199-0DFE8FA15AB4}"/>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8A4B8590-2E0F-7385-40A6-0E407F230E55}"/>
              </a:ext>
            </a:extLst>
          </p:cNvPr>
          <p:cNvSpPr>
            <a:spLocks noGrp="1"/>
          </p:cNvSpPr>
          <p:nvPr>
            <p:ph type="sldNum" sz="quarter" idx="12"/>
          </p:nvPr>
        </p:nvSpPr>
        <p:spPr/>
        <p:txBody>
          <a:bodyPr/>
          <a:lstStyle/>
          <a:p>
            <a:fld id="{9D396EFB-3A3E-493B-A63A-00F6F8E1F7ED}" type="slidenum">
              <a:rPr lang="es-AR" smtClean="0"/>
              <a:t>‹Nº›</a:t>
            </a:fld>
            <a:endParaRPr lang="es-AR"/>
          </a:p>
        </p:txBody>
      </p:sp>
    </p:spTree>
    <p:extLst>
      <p:ext uri="{BB962C8B-B14F-4D97-AF65-F5344CB8AC3E}">
        <p14:creationId xmlns:p14="http://schemas.microsoft.com/office/powerpoint/2010/main" val="1799182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6F0C72-9A26-47AA-73F7-9E79F6FC1A2D}"/>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03EA87A3-4FF9-8D2C-D0EE-74CAD01DA8B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0371EB7-C892-A3CD-64E7-6EB614414567}"/>
              </a:ext>
            </a:extLst>
          </p:cNvPr>
          <p:cNvSpPr>
            <a:spLocks noGrp="1"/>
          </p:cNvSpPr>
          <p:nvPr>
            <p:ph type="dt" sz="half" idx="10"/>
          </p:nvPr>
        </p:nvSpPr>
        <p:spPr/>
        <p:txBody>
          <a:bodyPr/>
          <a:lstStyle/>
          <a:p>
            <a:fld id="{7855DA27-38E8-4AB4-9587-559046DCDB94}" type="datetimeFigureOut">
              <a:rPr lang="es-AR" smtClean="0"/>
              <a:t>21/3/2024</a:t>
            </a:fld>
            <a:endParaRPr lang="es-AR"/>
          </a:p>
        </p:txBody>
      </p:sp>
      <p:sp>
        <p:nvSpPr>
          <p:cNvPr id="5" name="Marcador de pie de página 4">
            <a:extLst>
              <a:ext uri="{FF2B5EF4-FFF2-40B4-BE49-F238E27FC236}">
                <a16:creationId xmlns:a16="http://schemas.microsoft.com/office/drawing/2014/main" id="{757E746D-95E2-5D7F-2ADA-419A579CABD7}"/>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80EAF3DE-1E05-E497-D0B1-F9CB8212E67F}"/>
              </a:ext>
            </a:extLst>
          </p:cNvPr>
          <p:cNvSpPr>
            <a:spLocks noGrp="1"/>
          </p:cNvSpPr>
          <p:nvPr>
            <p:ph type="sldNum" sz="quarter" idx="12"/>
          </p:nvPr>
        </p:nvSpPr>
        <p:spPr/>
        <p:txBody>
          <a:bodyPr/>
          <a:lstStyle/>
          <a:p>
            <a:fld id="{9D396EFB-3A3E-493B-A63A-00F6F8E1F7ED}" type="slidenum">
              <a:rPr lang="es-AR" smtClean="0"/>
              <a:t>‹Nº›</a:t>
            </a:fld>
            <a:endParaRPr lang="es-AR"/>
          </a:p>
        </p:txBody>
      </p:sp>
    </p:spTree>
    <p:extLst>
      <p:ext uri="{BB962C8B-B14F-4D97-AF65-F5344CB8AC3E}">
        <p14:creationId xmlns:p14="http://schemas.microsoft.com/office/powerpoint/2010/main" val="3124907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722EA4-2283-C5C2-1275-A186BF9BD4FA}"/>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87CC42A2-6265-6E08-B937-7E4DB0220A88}"/>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contenido 3">
            <a:extLst>
              <a:ext uri="{FF2B5EF4-FFF2-40B4-BE49-F238E27FC236}">
                <a16:creationId xmlns:a16="http://schemas.microsoft.com/office/drawing/2014/main" id="{CB4C4179-EA48-D0CA-0B4C-556548B03CB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fecha 4">
            <a:extLst>
              <a:ext uri="{FF2B5EF4-FFF2-40B4-BE49-F238E27FC236}">
                <a16:creationId xmlns:a16="http://schemas.microsoft.com/office/drawing/2014/main" id="{2F3340E6-CBA6-7ABB-8F66-326F060CA49B}"/>
              </a:ext>
            </a:extLst>
          </p:cNvPr>
          <p:cNvSpPr>
            <a:spLocks noGrp="1"/>
          </p:cNvSpPr>
          <p:nvPr>
            <p:ph type="dt" sz="half" idx="10"/>
          </p:nvPr>
        </p:nvSpPr>
        <p:spPr/>
        <p:txBody>
          <a:bodyPr/>
          <a:lstStyle/>
          <a:p>
            <a:fld id="{7855DA27-38E8-4AB4-9587-559046DCDB94}" type="datetimeFigureOut">
              <a:rPr lang="es-AR" smtClean="0"/>
              <a:t>21/3/2024</a:t>
            </a:fld>
            <a:endParaRPr lang="es-AR"/>
          </a:p>
        </p:txBody>
      </p:sp>
      <p:sp>
        <p:nvSpPr>
          <p:cNvPr id="6" name="Marcador de pie de página 5">
            <a:extLst>
              <a:ext uri="{FF2B5EF4-FFF2-40B4-BE49-F238E27FC236}">
                <a16:creationId xmlns:a16="http://schemas.microsoft.com/office/drawing/2014/main" id="{036CCCB0-8994-904C-C685-631481D8F248}"/>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2237CDD0-9DEE-E38B-C488-94E70FDF8805}"/>
              </a:ext>
            </a:extLst>
          </p:cNvPr>
          <p:cNvSpPr>
            <a:spLocks noGrp="1"/>
          </p:cNvSpPr>
          <p:nvPr>
            <p:ph type="sldNum" sz="quarter" idx="12"/>
          </p:nvPr>
        </p:nvSpPr>
        <p:spPr/>
        <p:txBody>
          <a:bodyPr/>
          <a:lstStyle/>
          <a:p>
            <a:fld id="{9D396EFB-3A3E-493B-A63A-00F6F8E1F7ED}" type="slidenum">
              <a:rPr lang="es-AR" smtClean="0"/>
              <a:t>‹Nº›</a:t>
            </a:fld>
            <a:endParaRPr lang="es-AR"/>
          </a:p>
        </p:txBody>
      </p:sp>
    </p:spTree>
    <p:extLst>
      <p:ext uri="{BB962C8B-B14F-4D97-AF65-F5344CB8AC3E}">
        <p14:creationId xmlns:p14="http://schemas.microsoft.com/office/powerpoint/2010/main" val="3013331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5C0B26-51CB-A61B-0AF3-12FDAC2C06C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4691CF20-202B-29B9-12F1-8EBE22494E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A5C889E1-E5F3-E869-1253-0B982EB9767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texto 4">
            <a:extLst>
              <a:ext uri="{FF2B5EF4-FFF2-40B4-BE49-F238E27FC236}">
                <a16:creationId xmlns:a16="http://schemas.microsoft.com/office/drawing/2014/main" id="{EC79A408-A9FE-3721-6959-AF78DB0DE6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DF2C9E8-2E09-6AF1-F9B8-9E40AE08416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Marcador de fecha 6">
            <a:extLst>
              <a:ext uri="{FF2B5EF4-FFF2-40B4-BE49-F238E27FC236}">
                <a16:creationId xmlns:a16="http://schemas.microsoft.com/office/drawing/2014/main" id="{EDB87F10-739C-2862-42E5-8484BC1799E6}"/>
              </a:ext>
            </a:extLst>
          </p:cNvPr>
          <p:cNvSpPr>
            <a:spLocks noGrp="1"/>
          </p:cNvSpPr>
          <p:nvPr>
            <p:ph type="dt" sz="half" idx="10"/>
          </p:nvPr>
        </p:nvSpPr>
        <p:spPr/>
        <p:txBody>
          <a:bodyPr/>
          <a:lstStyle/>
          <a:p>
            <a:fld id="{7855DA27-38E8-4AB4-9587-559046DCDB94}" type="datetimeFigureOut">
              <a:rPr lang="es-AR" smtClean="0"/>
              <a:t>21/3/2024</a:t>
            </a:fld>
            <a:endParaRPr lang="es-AR"/>
          </a:p>
        </p:txBody>
      </p:sp>
      <p:sp>
        <p:nvSpPr>
          <p:cNvPr id="8" name="Marcador de pie de página 7">
            <a:extLst>
              <a:ext uri="{FF2B5EF4-FFF2-40B4-BE49-F238E27FC236}">
                <a16:creationId xmlns:a16="http://schemas.microsoft.com/office/drawing/2014/main" id="{FB24019E-DC2C-2CDB-AB6A-6745E9EE8B75}"/>
              </a:ext>
            </a:extLst>
          </p:cNvPr>
          <p:cNvSpPr>
            <a:spLocks noGrp="1"/>
          </p:cNvSpPr>
          <p:nvPr>
            <p:ph type="ftr" sz="quarter" idx="11"/>
          </p:nvPr>
        </p:nvSpPr>
        <p:spPr/>
        <p:txBody>
          <a:bodyPr/>
          <a:lstStyle/>
          <a:p>
            <a:endParaRPr lang="es-AR"/>
          </a:p>
        </p:txBody>
      </p:sp>
      <p:sp>
        <p:nvSpPr>
          <p:cNvPr id="9" name="Marcador de número de diapositiva 8">
            <a:extLst>
              <a:ext uri="{FF2B5EF4-FFF2-40B4-BE49-F238E27FC236}">
                <a16:creationId xmlns:a16="http://schemas.microsoft.com/office/drawing/2014/main" id="{56E5920E-5092-1097-63EC-F15A9F741454}"/>
              </a:ext>
            </a:extLst>
          </p:cNvPr>
          <p:cNvSpPr>
            <a:spLocks noGrp="1"/>
          </p:cNvSpPr>
          <p:nvPr>
            <p:ph type="sldNum" sz="quarter" idx="12"/>
          </p:nvPr>
        </p:nvSpPr>
        <p:spPr/>
        <p:txBody>
          <a:bodyPr/>
          <a:lstStyle/>
          <a:p>
            <a:fld id="{9D396EFB-3A3E-493B-A63A-00F6F8E1F7ED}" type="slidenum">
              <a:rPr lang="es-AR" smtClean="0"/>
              <a:t>‹Nº›</a:t>
            </a:fld>
            <a:endParaRPr lang="es-AR"/>
          </a:p>
        </p:txBody>
      </p:sp>
    </p:spTree>
    <p:extLst>
      <p:ext uri="{BB962C8B-B14F-4D97-AF65-F5344CB8AC3E}">
        <p14:creationId xmlns:p14="http://schemas.microsoft.com/office/powerpoint/2010/main" val="29200498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876CD5-37C1-E3E4-D1B5-2A1932930A5E}"/>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fecha 2">
            <a:extLst>
              <a:ext uri="{FF2B5EF4-FFF2-40B4-BE49-F238E27FC236}">
                <a16:creationId xmlns:a16="http://schemas.microsoft.com/office/drawing/2014/main" id="{B9EF6E02-45ED-2842-B362-3A5A86BE11DE}"/>
              </a:ext>
            </a:extLst>
          </p:cNvPr>
          <p:cNvSpPr>
            <a:spLocks noGrp="1"/>
          </p:cNvSpPr>
          <p:nvPr>
            <p:ph type="dt" sz="half" idx="10"/>
          </p:nvPr>
        </p:nvSpPr>
        <p:spPr/>
        <p:txBody>
          <a:bodyPr/>
          <a:lstStyle/>
          <a:p>
            <a:fld id="{7855DA27-38E8-4AB4-9587-559046DCDB94}" type="datetimeFigureOut">
              <a:rPr lang="es-AR" smtClean="0"/>
              <a:t>21/3/2024</a:t>
            </a:fld>
            <a:endParaRPr lang="es-AR"/>
          </a:p>
        </p:txBody>
      </p:sp>
      <p:sp>
        <p:nvSpPr>
          <p:cNvPr id="4" name="Marcador de pie de página 3">
            <a:extLst>
              <a:ext uri="{FF2B5EF4-FFF2-40B4-BE49-F238E27FC236}">
                <a16:creationId xmlns:a16="http://schemas.microsoft.com/office/drawing/2014/main" id="{BDD4A207-1B75-26CF-CEE5-57ADB41E551C}"/>
              </a:ext>
            </a:extLst>
          </p:cNvPr>
          <p:cNvSpPr>
            <a:spLocks noGrp="1"/>
          </p:cNvSpPr>
          <p:nvPr>
            <p:ph type="ftr" sz="quarter" idx="11"/>
          </p:nvPr>
        </p:nvSpPr>
        <p:spPr/>
        <p:txBody>
          <a:bodyPr/>
          <a:lstStyle/>
          <a:p>
            <a:endParaRPr lang="es-AR"/>
          </a:p>
        </p:txBody>
      </p:sp>
      <p:sp>
        <p:nvSpPr>
          <p:cNvPr id="5" name="Marcador de número de diapositiva 4">
            <a:extLst>
              <a:ext uri="{FF2B5EF4-FFF2-40B4-BE49-F238E27FC236}">
                <a16:creationId xmlns:a16="http://schemas.microsoft.com/office/drawing/2014/main" id="{9592B81A-1072-F654-C10D-DAB3268510F2}"/>
              </a:ext>
            </a:extLst>
          </p:cNvPr>
          <p:cNvSpPr>
            <a:spLocks noGrp="1"/>
          </p:cNvSpPr>
          <p:nvPr>
            <p:ph type="sldNum" sz="quarter" idx="12"/>
          </p:nvPr>
        </p:nvSpPr>
        <p:spPr/>
        <p:txBody>
          <a:bodyPr/>
          <a:lstStyle/>
          <a:p>
            <a:fld id="{9D396EFB-3A3E-493B-A63A-00F6F8E1F7ED}" type="slidenum">
              <a:rPr lang="es-AR" smtClean="0"/>
              <a:t>‹Nº›</a:t>
            </a:fld>
            <a:endParaRPr lang="es-AR"/>
          </a:p>
        </p:txBody>
      </p:sp>
    </p:spTree>
    <p:extLst>
      <p:ext uri="{BB962C8B-B14F-4D97-AF65-F5344CB8AC3E}">
        <p14:creationId xmlns:p14="http://schemas.microsoft.com/office/powerpoint/2010/main" val="2141584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E62F02D-C76F-A384-93A0-0AD6FFC4B3E2}"/>
              </a:ext>
            </a:extLst>
          </p:cNvPr>
          <p:cNvSpPr>
            <a:spLocks noGrp="1"/>
          </p:cNvSpPr>
          <p:nvPr>
            <p:ph type="dt" sz="half" idx="10"/>
          </p:nvPr>
        </p:nvSpPr>
        <p:spPr/>
        <p:txBody>
          <a:bodyPr/>
          <a:lstStyle/>
          <a:p>
            <a:fld id="{7855DA27-38E8-4AB4-9587-559046DCDB94}" type="datetimeFigureOut">
              <a:rPr lang="es-AR" smtClean="0"/>
              <a:t>21/3/2024</a:t>
            </a:fld>
            <a:endParaRPr lang="es-AR"/>
          </a:p>
        </p:txBody>
      </p:sp>
      <p:sp>
        <p:nvSpPr>
          <p:cNvPr id="3" name="Marcador de pie de página 2">
            <a:extLst>
              <a:ext uri="{FF2B5EF4-FFF2-40B4-BE49-F238E27FC236}">
                <a16:creationId xmlns:a16="http://schemas.microsoft.com/office/drawing/2014/main" id="{D4D68312-8E94-FEEE-FDFC-1156516C33E2}"/>
              </a:ext>
            </a:extLst>
          </p:cNvPr>
          <p:cNvSpPr>
            <a:spLocks noGrp="1"/>
          </p:cNvSpPr>
          <p:nvPr>
            <p:ph type="ftr" sz="quarter" idx="11"/>
          </p:nvPr>
        </p:nvSpPr>
        <p:spPr/>
        <p:txBody>
          <a:bodyPr/>
          <a:lstStyle/>
          <a:p>
            <a:endParaRPr lang="es-AR"/>
          </a:p>
        </p:txBody>
      </p:sp>
      <p:sp>
        <p:nvSpPr>
          <p:cNvPr id="4" name="Marcador de número de diapositiva 3">
            <a:extLst>
              <a:ext uri="{FF2B5EF4-FFF2-40B4-BE49-F238E27FC236}">
                <a16:creationId xmlns:a16="http://schemas.microsoft.com/office/drawing/2014/main" id="{7A50DC4E-2F63-F5F1-84E6-B67483E4FA6D}"/>
              </a:ext>
            </a:extLst>
          </p:cNvPr>
          <p:cNvSpPr>
            <a:spLocks noGrp="1"/>
          </p:cNvSpPr>
          <p:nvPr>
            <p:ph type="sldNum" sz="quarter" idx="12"/>
          </p:nvPr>
        </p:nvSpPr>
        <p:spPr/>
        <p:txBody>
          <a:bodyPr/>
          <a:lstStyle/>
          <a:p>
            <a:fld id="{9D396EFB-3A3E-493B-A63A-00F6F8E1F7ED}" type="slidenum">
              <a:rPr lang="es-AR" smtClean="0"/>
              <a:t>‹Nº›</a:t>
            </a:fld>
            <a:endParaRPr lang="es-AR"/>
          </a:p>
        </p:txBody>
      </p:sp>
    </p:spTree>
    <p:extLst>
      <p:ext uri="{BB962C8B-B14F-4D97-AF65-F5344CB8AC3E}">
        <p14:creationId xmlns:p14="http://schemas.microsoft.com/office/powerpoint/2010/main" val="3230929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5C1793-B0E8-D332-CAEC-68486C8EE6B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18153FC7-1C83-D0BF-5A13-129E1F9842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texto 3">
            <a:extLst>
              <a:ext uri="{FF2B5EF4-FFF2-40B4-BE49-F238E27FC236}">
                <a16:creationId xmlns:a16="http://schemas.microsoft.com/office/drawing/2014/main" id="{62306341-F3AF-A87F-EF31-1BB6DB89EC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693F8B2-4D42-CF02-6EA7-1951DAB30270}"/>
              </a:ext>
            </a:extLst>
          </p:cNvPr>
          <p:cNvSpPr>
            <a:spLocks noGrp="1"/>
          </p:cNvSpPr>
          <p:nvPr>
            <p:ph type="dt" sz="half" idx="10"/>
          </p:nvPr>
        </p:nvSpPr>
        <p:spPr/>
        <p:txBody>
          <a:bodyPr/>
          <a:lstStyle/>
          <a:p>
            <a:fld id="{7855DA27-38E8-4AB4-9587-559046DCDB94}" type="datetimeFigureOut">
              <a:rPr lang="es-AR" smtClean="0"/>
              <a:t>21/3/2024</a:t>
            </a:fld>
            <a:endParaRPr lang="es-AR"/>
          </a:p>
        </p:txBody>
      </p:sp>
      <p:sp>
        <p:nvSpPr>
          <p:cNvPr id="6" name="Marcador de pie de página 5">
            <a:extLst>
              <a:ext uri="{FF2B5EF4-FFF2-40B4-BE49-F238E27FC236}">
                <a16:creationId xmlns:a16="http://schemas.microsoft.com/office/drawing/2014/main" id="{F3100FA1-21BD-9E41-A8C3-0FA287CBC598}"/>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7691B8F2-996A-2E11-91C0-D76512ED6B42}"/>
              </a:ext>
            </a:extLst>
          </p:cNvPr>
          <p:cNvSpPr>
            <a:spLocks noGrp="1"/>
          </p:cNvSpPr>
          <p:nvPr>
            <p:ph type="sldNum" sz="quarter" idx="12"/>
          </p:nvPr>
        </p:nvSpPr>
        <p:spPr/>
        <p:txBody>
          <a:bodyPr/>
          <a:lstStyle/>
          <a:p>
            <a:fld id="{9D396EFB-3A3E-493B-A63A-00F6F8E1F7ED}" type="slidenum">
              <a:rPr lang="es-AR" smtClean="0"/>
              <a:t>‹Nº›</a:t>
            </a:fld>
            <a:endParaRPr lang="es-AR"/>
          </a:p>
        </p:txBody>
      </p:sp>
    </p:spTree>
    <p:extLst>
      <p:ext uri="{BB962C8B-B14F-4D97-AF65-F5344CB8AC3E}">
        <p14:creationId xmlns:p14="http://schemas.microsoft.com/office/powerpoint/2010/main" val="3223739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76497A-AD01-4AB9-2D46-34563BCC12B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posición de imagen 2">
            <a:extLst>
              <a:ext uri="{FF2B5EF4-FFF2-40B4-BE49-F238E27FC236}">
                <a16:creationId xmlns:a16="http://schemas.microsoft.com/office/drawing/2014/main" id="{846BA350-7CF3-1A98-E3C7-E0C705B936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Marcador de texto 3">
            <a:extLst>
              <a:ext uri="{FF2B5EF4-FFF2-40B4-BE49-F238E27FC236}">
                <a16:creationId xmlns:a16="http://schemas.microsoft.com/office/drawing/2014/main" id="{E36A014F-CBFD-D9BD-5530-EC5977E449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0231C1C-743C-0B8E-93B0-B8ECE536141C}"/>
              </a:ext>
            </a:extLst>
          </p:cNvPr>
          <p:cNvSpPr>
            <a:spLocks noGrp="1"/>
          </p:cNvSpPr>
          <p:nvPr>
            <p:ph type="dt" sz="half" idx="10"/>
          </p:nvPr>
        </p:nvSpPr>
        <p:spPr/>
        <p:txBody>
          <a:bodyPr/>
          <a:lstStyle/>
          <a:p>
            <a:fld id="{7855DA27-38E8-4AB4-9587-559046DCDB94}" type="datetimeFigureOut">
              <a:rPr lang="es-AR" smtClean="0"/>
              <a:t>21/3/2024</a:t>
            </a:fld>
            <a:endParaRPr lang="es-AR"/>
          </a:p>
        </p:txBody>
      </p:sp>
      <p:sp>
        <p:nvSpPr>
          <p:cNvPr id="6" name="Marcador de pie de página 5">
            <a:extLst>
              <a:ext uri="{FF2B5EF4-FFF2-40B4-BE49-F238E27FC236}">
                <a16:creationId xmlns:a16="http://schemas.microsoft.com/office/drawing/2014/main" id="{EB496C74-36C5-9DCE-81A0-FCE47104C1AF}"/>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DC069E26-88E9-B2AF-717C-BAD01C50B72F}"/>
              </a:ext>
            </a:extLst>
          </p:cNvPr>
          <p:cNvSpPr>
            <a:spLocks noGrp="1"/>
          </p:cNvSpPr>
          <p:nvPr>
            <p:ph type="sldNum" sz="quarter" idx="12"/>
          </p:nvPr>
        </p:nvSpPr>
        <p:spPr/>
        <p:txBody>
          <a:bodyPr/>
          <a:lstStyle/>
          <a:p>
            <a:fld id="{9D396EFB-3A3E-493B-A63A-00F6F8E1F7ED}" type="slidenum">
              <a:rPr lang="es-AR" smtClean="0"/>
              <a:t>‹Nº›</a:t>
            </a:fld>
            <a:endParaRPr lang="es-AR"/>
          </a:p>
        </p:txBody>
      </p:sp>
    </p:spTree>
    <p:extLst>
      <p:ext uri="{BB962C8B-B14F-4D97-AF65-F5344CB8AC3E}">
        <p14:creationId xmlns:p14="http://schemas.microsoft.com/office/powerpoint/2010/main" val="4260381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D68DD9-5F78-C650-6365-914E7E21A5DD}"/>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36840DB0-CC30-529E-ACEF-D99DBEBBBD8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899F5B58-39A4-2943-FB19-6C07B21B0FB8}"/>
              </a:ext>
            </a:extLst>
          </p:cNvPr>
          <p:cNvSpPr>
            <a:spLocks noGrp="1"/>
          </p:cNvSpPr>
          <p:nvPr>
            <p:ph type="dt" sz="half" idx="10"/>
          </p:nvPr>
        </p:nvSpPr>
        <p:spPr/>
        <p:txBody>
          <a:bodyPr/>
          <a:lstStyle/>
          <a:p>
            <a:fld id="{7855DA27-38E8-4AB4-9587-559046DCDB94}" type="datetimeFigureOut">
              <a:rPr lang="es-AR" smtClean="0"/>
              <a:t>21/3/2024</a:t>
            </a:fld>
            <a:endParaRPr lang="es-AR"/>
          </a:p>
        </p:txBody>
      </p:sp>
      <p:sp>
        <p:nvSpPr>
          <p:cNvPr id="5" name="Marcador de pie de página 4">
            <a:extLst>
              <a:ext uri="{FF2B5EF4-FFF2-40B4-BE49-F238E27FC236}">
                <a16:creationId xmlns:a16="http://schemas.microsoft.com/office/drawing/2014/main" id="{3D8C6D00-B1D5-ABA9-5973-F204977FD3F6}"/>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54ACB8BA-26FC-A0B6-C18E-3487B4C6709B}"/>
              </a:ext>
            </a:extLst>
          </p:cNvPr>
          <p:cNvSpPr>
            <a:spLocks noGrp="1"/>
          </p:cNvSpPr>
          <p:nvPr>
            <p:ph type="sldNum" sz="quarter" idx="12"/>
          </p:nvPr>
        </p:nvSpPr>
        <p:spPr/>
        <p:txBody>
          <a:bodyPr/>
          <a:lstStyle/>
          <a:p>
            <a:fld id="{9D396EFB-3A3E-493B-A63A-00F6F8E1F7ED}" type="slidenum">
              <a:rPr lang="es-AR" smtClean="0"/>
              <a:t>‹Nº›</a:t>
            </a:fld>
            <a:endParaRPr lang="es-AR"/>
          </a:p>
        </p:txBody>
      </p:sp>
    </p:spTree>
    <p:extLst>
      <p:ext uri="{BB962C8B-B14F-4D97-AF65-F5344CB8AC3E}">
        <p14:creationId xmlns:p14="http://schemas.microsoft.com/office/powerpoint/2010/main" val="3249120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FE7A9B4-6581-D5EB-F030-2FCC625D78E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EB04AE10-5BB8-1544-3592-0FF882470CE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7BF688BE-B424-B424-DDDC-33740530E389}"/>
              </a:ext>
            </a:extLst>
          </p:cNvPr>
          <p:cNvSpPr>
            <a:spLocks noGrp="1"/>
          </p:cNvSpPr>
          <p:nvPr>
            <p:ph type="dt" sz="half" idx="10"/>
          </p:nvPr>
        </p:nvSpPr>
        <p:spPr/>
        <p:txBody>
          <a:bodyPr/>
          <a:lstStyle/>
          <a:p>
            <a:fld id="{7855DA27-38E8-4AB4-9587-559046DCDB94}" type="datetimeFigureOut">
              <a:rPr lang="es-AR" smtClean="0"/>
              <a:t>21/3/2024</a:t>
            </a:fld>
            <a:endParaRPr lang="es-AR"/>
          </a:p>
        </p:txBody>
      </p:sp>
      <p:sp>
        <p:nvSpPr>
          <p:cNvPr id="5" name="Marcador de pie de página 4">
            <a:extLst>
              <a:ext uri="{FF2B5EF4-FFF2-40B4-BE49-F238E27FC236}">
                <a16:creationId xmlns:a16="http://schemas.microsoft.com/office/drawing/2014/main" id="{51E19E68-5EE8-8B08-6258-2F846A108818}"/>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CE94C5C4-DCD7-046C-2E7D-2DD0AD1CC040}"/>
              </a:ext>
            </a:extLst>
          </p:cNvPr>
          <p:cNvSpPr>
            <a:spLocks noGrp="1"/>
          </p:cNvSpPr>
          <p:nvPr>
            <p:ph type="sldNum" sz="quarter" idx="12"/>
          </p:nvPr>
        </p:nvSpPr>
        <p:spPr/>
        <p:txBody>
          <a:bodyPr/>
          <a:lstStyle/>
          <a:p>
            <a:fld id="{9D396EFB-3A3E-493B-A63A-00F6F8E1F7ED}" type="slidenum">
              <a:rPr lang="es-AR" smtClean="0"/>
              <a:t>‹Nº›</a:t>
            </a:fld>
            <a:endParaRPr lang="es-AR"/>
          </a:p>
        </p:txBody>
      </p:sp>
    </p:spTree>
    <p:extLst>
      <p:ext uri="{BB962C8B-B14F-4D97-AF65-F5344CB8AC3E}">
        <p14:creationId xmlns:p14="http://schemas.microsoft.com/office/powerpoint/2010/main" val="1388076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1650A9F-C06A-7510-CFFD-BE5B216961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FF8F897B-F0BB-1CBE-4999-E3212E83C6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AB394CAE-38BF-EE33-B5B5-1A9165FD48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855DA27-38E8-4AB4-9587-559046DCDB94}" type="datetimeFigureOut">
              <a:rPr lang="es-AR" smtClean="0"/>
              <a:t>21/3/2024</a:t>
            </a:fld>
            <a:endParaRPr lang="es-AR"/>
          </a:p>
        </p:txBody>
      </p:sp>
      <p:sp>
        <p:nvSpPr>
          <p:cNvPr id="5" name="Marcador de pie de página 4">
            <a:extLst>
              <a:ext uri="{FF2B5EF4-FFF2-40B4-BE49-F238E27FC236}">
                <a16:creationId xmlns:a16="http://schemas.microsoft.com/office/drawing/2014/main" id="{3CE02C18-A753-A2AB-5E68-FE98B099BE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AR"/>
          </a:p>
        </p:txBody>
      </p:sp>
      <p:sp>
        <p:nvSpPr>
          <p:cNvPr id="6" name="Marcador de número de diapositiva 5">
            <a:extLst>
              <a:ext uri="{FF2B5EF4-FFF2-40B4-BE49-F238E27FC236}">
                <a16:creationId xmlns:a16="http://schemas.microsoft.com/office/drawing/2014/main" id="{B443C82F-2A57-A7F0-F3AB-A5D58F8152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D396EFB-3A3E-493B-A63A-00F6F8E1F7ED}" type="slidenum">
              <a:rPr lang="es-AR" smtClean="0"/>
              <a:t>‹Nº›</a:t>
            </a:fld>
            <a:endParaRPr lang="es-AR"/>
          </a:p>
        </p:txBody>
      </p:sp>
    </p:spTree>
    <p:extLst>
      <p:ext uri="{BB962C8B-B14F-4D97-AF65-F5344CB8AC3E}">
        <p14:creationId xmlns:p14="http://schemas.microsoft.com/office/powerpoint/2010/main" val="35509321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ES" b="1" dirty="0">
                <a:solidFill>
                  <a:srgbClr val="7030A0"/>
                </a:solidFill>
                <a:latin typeface="Verdana" panose="020B0604030504040204" pitchFamily="34" charset="0"/>
                <a:ea typeface="Verdana" panose="020B0604030504040204" pitchFamily="34" charset="0"/>
              </a:rPr>
              <a:t>Estructuras de Programas</a:t>
            </a:r>
            <a:endParaRPr lang="es-AR" b="1" dirty="0">
              <a:solidFill>
                <a:srgbClr val="7030A0"/>
              </a:solidFill>
              <a:latin typeface="Verdana" panose="020B0604030504040204" pitchFamily="34" charset="0"/>
              <a:ea typeface="Verdana" panose="020B0604030504040204" pitchFamily="34" charset="0"/>
            </a:endParaRPr>
          </a:p>
        </p:txBody>
      </p:sp>
      <p:sp>
        <p:nvSpPr>
          <p:cNvPr id="3" name="2 Subtítulo"/>
          <p:cNvSpPr>
            <a:spLocks noGrp="1"/>
          </p:cNvSpPr>
          <p:nvPr>
            <p:ph type="subTitle" idx="1"/>
          </p:nvPr>
        </p:nvSpPr>
        <p:spPr/>
        <p:txBody>
          <a:bodyPr/>
          <a:lstStyle/>
          <a:p>
            <a:r>
              <a:rPr lang="es-ES" b="1" dirty="0">
                <a:solidFill>
                  <a:srgbClr val="7030A0"/>
                </a:solidFill>
                <a:latin typeface="Verdana" panose="020B0604030504040204" pitchFamily="34" charset="0"/>
                <a:ea typeface="Verdana" panose="020B0604030504040204" pitchFamily="34" charset="0"/>
              </a:rPr>
              <a:t>Acciones que se repiten</a:t>
            </a:r>
            <a:endParaRPr lang="es-AR" b="1" dirty="0">
              <a:solidFill>
                <a:srgbClr val="7030A0"/>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9469683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E5B1B3-EF97-F722-0487-685C583A0FC7}"/>
              </a:ext>
            </a:extLst>
          </p:cNvPr>
          <p:cNvSpPr>
            <a:spLocks noGrp="1"/>
          </p:cNvSpPr>
          <p:nvPr>
            <p:ph type="title"/>
          </p:nvPr>
        </p:nvSpPr>
        <p:spPr/>
        <p:txBody>
          <a:bodyPr/>
          <a:lstStyle/>
          <a:p>
            <a:pPr algn="ctr"/>
            <a:r>
              <a:rPr lang="es-ES" b="1" dirty="0">
                <a:solidFill>
                  <a:srgbClr val="7030A0"/>
                </a:solidFill>
                <a:latin typeface="Verdana" panose="020B0604030504040204" pitchFamily="34" charset="0"/>
                <a:ea typeface="Verdana" panose="020B0604030504040204" pitchFamily="34" charset="0"/>
              </a:rPr>
              <a:t>Acciones que se repiten</a:t>
            </a:r>
            <a:br>
              <a:rPr lang="es-AR" b="1" dirty="0">
                <a:solidFill>
                  <a:srgbClr val="7030A0"/>
                </a:solidFill>
                <a:latin typeface="Verdana" panose="020B0604030504040204" pitchFamily="34" charset="0"/>
                <a:ea typeface="Verdana" panose="020B0604030504040204" pitchFamily="34" charset="0"/>
              </a:rPr>
            </a:br>
            <a:endParaRPr lang="es-AR" dirty="0"/>
          </a:p>
        </p:txBody>
      </p:sp>
      <p:sp>
        <p:nvSpPr>
          <p:cNvPr id="3" name="Marcador de contenido 2">
            <a:extLst>
              <a:ext uri="{FF2B5EF4-FFF2-40B4-BE49-F238E27FC236}">
                <a16:creationId xmlns:a16="http://schemas.microsoft.com/office/drawing/2014/main" id="{5E237F7E-9FD7-7496-26F2-F30F1252D655}"/>
              </a:ext>
            </a:extLst>
          </p:cNvPr>
          <p:cNvSpPr>
            <a:spLocks noGrp="1"/>
          </p:cNvSpPr>
          <p:nvPr>
            <p:ph idx="1"/>
          </p:nvPr>
        </p:nvSpPr>
        <p:spPr/>
        <p:txBody>
          <a:bodyPr>
            <a:normAutofit lnSpcReduction="10000"/>
          </a:bodyPr>
          <a:lstStyle/>
          <a:p>
            <a:r>
              <a:rPr lang="es-AR" dirty="0"/>
              <a:t>Una de las situaciones que pueden suceder al componer acciones es que finalizada una secuencia de acciones nos encontremos en el mismo estado que dio inicio a las mismas.</a:t>
            </a:r>
          </a:p>
          <a:p>
            <a:r>
              <a:rPr lang="es-AR" dirty="0"/>
              <a:t>Esto obligaría a volver a realizar las mismas acciones hasta que en algún momento el estado sufra una modificación.</a:t>
            </a:r>
          </a:p>
          <a:p>
            <a:r>
              <a:rPr lang="es-AR" dirty="0"/>
              <a:t>Es aquí donde aparece la estructura de repetición o iteración.</a:t>
            </a:r>
          </a:p>
          <a:p>
            <a:r>
              <a:rPr lang="es-AR" dirty="0"/>
              <a:t>En general la cantidad de veces que se repite no siempre se puede expresar directamente.</a:t>
            </a:r>
          </a:p>
          <a:p>
            <a:r>
              <a:rPr lang="es-AR" dirty="0"/>
              <a:t>De hecho se establece una condición que o determina el  cese de las repeticiones o su continuación.</a:t>
            </a:r>
          </a:p>
        </p:txBody>
      </p:sp>
    </p:spTree>
    <p:extLst>
      <p:ext uri="{BB962C8B-B14F-4D97-AF65-F5344CB8AC3E}">
        <p14:creationId xmlns:p14="http://schemas.microsoft.com/office/powerpoint/2010/main" val="2996663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E5B1B3-EF97-F722-0487-685C583A0FC7}"/>
              </a:ext>
            </a:extLst>
          </p:cNvPr>
          <p:cNvSpPr>
            <a:spLocks noGrp="1"/>
          </p:cNvSpPr>
          <p:nvPr>
            <p:ph type="title"/>
          </p:nvPr>
        </p:nvSpPr>
        <p:spPr/>
        <p:txBody>
          <a:bodyPr/>
          <a:lstStyle/>
          <a:p>
            <a:pPr algn="ctr"/>
            <a:r>
              <a:rPr lang="es-ES" b="1" dirty="0">
                <a:solidFill>
                  <a:srgbClr val="7030A0"/>
                </a:solidFill>
                <a:latin typeface="Verdana" panose="020B0604030504040204" pitchFamily="34" charset="0"/>
                <a:ea typeface="Verdana" panose="020B0604030504040204" pitchFamily="34" charset="0"/>
              </a:rPr>
              <a:t>Condición de Cese</a:t>
            </a:r>
            <a:br>
              <a:rPr lang="es-AR" b="1" dirty="0">
                <a:solidFill>
                  <a:srgbClr val="7030A0"/>
                </a:solidFill>
                <a:latin typeface="Verdana" panose="020B0604030504040204" pitchFamily="34" charset="0"/>
                <a:ea typeface="Verdana" panose="020B0604030504040204" pitchFamily="34" charset="0"/>
              </a:rPr>
            </a:br>
            <a:endParaRPr lang="es-AR" dirty="0"/>
          </a:p>
        </p:txBody>
      </p:sp>
      <p:sp>
        <p:nvSpPr>
          <p:cNvPr id="3" name="Marcador de contenido 2">
            <a:extLst>
              <a:ext uri="{FF2B5EF4-FFF2-40B4-BE49-F238E27FC236}">
                <a16:creationId xmlns:a16="http://schemas.microsoft.com/office/drawing/2014/main" id="{5E237F7E-9FD7-7496-26F2-F30F1252D655}"/>
              </a:ext>
            </a:extLst>
          </p:cNvPr>
          <p:cNvSpPr>
            <a:spLocks noGrp="1"/>
          </p:cNvSpPr>
          <p:nvPr>
            <p:ph idx="1"/>
          </p:nvPr>
        </p:nvSpPr>
        <p:spPr/>
        <p:txBody>
          <a:bodyPr>
            <a:normAutofit/>
          </a:bodyPr>
          <a:lstStyle/>
          <a:p>
            <a:r>
              <a:rPr lang="es-AR" dirty="0"/>
              <a:t>Una de las situaciones que pueden suceder al componer acciones que se repiten es que se establezca que la mismas se deben realizar hasta que se obtenga una determinada situación.</a:t>
            </a:r>
          </a:p>
          <a:p>
            <a:r>
              <a:rPr lang="es-AR" dirty="0" err="1"/>
              <a:t>Asi</a:t>
            </a:r>
            <a:r>
              <a:rPr lang="es-AR" dirty="0"/>
              <a:t>: </a:t>
            </a:r>
          </a:p>
          <a:p>
            <a:pPr lvl="1"/>
            <a:r>
              <a:rPr lang="es-AR" b="1" i="1" dirty="0"/>
              <a:t>Repetir Acción hasta que Condición</a:t>
            </a:r>
            <a:endParaRPr lang="es-AR" dirty="0"/>
          </a:p>
          <a:p>
            <a:r>
              <a:rPr lang="es-AR" dirty="0"/>
              <a:t>En este caso deben considerarse dos cosas:</a:t>
            </a:r>
          </a:p>
          <a:p>
            <a:pPr lvl="1"/>
            <a:r>
              <a:rPr lang="es-AR" dirty="0"/>
              <a:t>Hasta que no se de la </a:t>
            </a:r>
            <a:r>
              <a:rPr lang="es-AR" b="1" i="1" dirty="0"/>
              <a:t>Condición</a:t>
            </a:r>
            <a:r>
              <a:rPr lang="es-AR" dirty="0"/>
              <a:t> se repite la acción (Condición de finalización)</a:t>
            </a:r>
          </a:p>
          <a:p>
            <a:pPr lvl="1"/>
            <a:r>
              <a:rPr lang="es-AR" dirty="0"/>
              <a:t>La </a:t>
            </a:r>
            <a:r>
              <a:rPr lang="es-AR" b="1" i="1" dirty="0"/>
              <a:t>Condición </a:t>
            </a:r>
            <a:r>
              <a:rPr lang="es-AR" dirty="0"/>
              <a:t> se evalúa luego de la acción, por lo tanto la acción se efectúa cuando menos una vez.</a:t>
            </a:r>
          </a:p>
        </p:txBody>
      </p:sp>
    </p:spTree>
    <p:extLst>
      <p:ext uri="{BB962C8B-B14F-4D97-AF65-F5344CB8AC3E}">
        <p14:creationId xmlns:p14="http://schemas.microsoft.com/office/powerpoint/2010/main" val="572352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E5B1B3-EF97-F722-0487-685C583A0FC7}"/>
              </a:ext>
            </a:extLst>
          </p:cNvPr>
          <p:cNvSpPr>
            <a:spLocks noGrp="1"/>
          </p:cNvSpPr>
          <p:nvPr>
            <p:ph type="title"/>
          </p:nvPr>
        </p:nvSpPr>
        <p:spPr/>
        <p:txBody>
          <a:bodyPr/>
          <a:lstStyle/>
          <a:p>
            <a:pPr algn="ctr"/>
            <a:r>
              <a:rPr lang="es-ES" b="1" dirty="0">
                <a:solidFill>
                  <a:srgbClr val="7030A0"/>
                </a:solidFill>
                <a:latin typeface="Verdana" panose="020B0604030504040204" pitchFamily="34" charset="0"/>
                <a:ea typeface="Verdana" panose="020B0604030504040204" pitchFamily="34" charset="0"/>
              </a:rPr>
              <a:t>Condición de Continuación</a:t>
            </a:r>
            <a:br>
              <a:rPr lang="es-AR" b="1" dirty="0">
                <a:solidFill>
                  <a:srgbClr val="7030A0"/>
                </a:solidFill>
                <a:latin typeface="Verdana" panose="020B0604030504040204" pitchFamily="34" charset="0"/>
                <a:ea typeface="Verdana" panose="020B0604030504040204" pitchFamily="34" charset="0"/>
              </a:rPr>
            </a:br>
            <a:endParaRPr lang="es-AR" dirty="0"/>
          </a:p>
        </p:txBody>
      </p:sp>
      <p:sp>
        <p:nvSpPr>
          <p:cNvPr id="3" name="Marcador de contenido 2">
            <a:extLst>
              <a:ext uri="{FF2B5EF4-FFF2-40B4-BE49-F238E27FC236}">
                <a16:creationId xmlns:a16="http://schemas.microsoft.com/office/drawing/2014/main" id="{5E237F7E-9FD7-7496-26F2-F30F1252D655}"/>
              </a:ext>
            </a:extLst>
          </p:cNvPr>
          <p:cNvSpPr>
            <a:spLocks noGrp="1"/>
          </p:cNvSpPr>
          <p:nvPr>
            <p:ph idx="1"/>
          </p:nvPr>
        </p:nvSpPr>
        <p:spPr>
          <a:xfrm>
            <a:off x="838200" y="1205344"/>
            <a:ext cx="10383982" cy="5140037"/>
          </a:xfrm>
        </p:spPr>
        <p:txBody>
          <a:bodyPr>
            <a:normAutofit/>
          </a:bodyPr>
          <a:lstStyle/>
          <a:p>
            <a:r>
              <a:rPr lang="es-AR" dirty="0"/>
              <a:t>Otra de las situaciones que pueden suceder al componer acciones que se repiten es que se establezca que la mismas se deben realizar siempre que haya una determinada situación.</a:t>
            </a:r>
          </a:p>
          <a:p>
            <a:r>
              <a:rPr lang="es-AR" dirty="0" err="1"/>
              <a:t>Asi</a:t>
            </a:r>
            <a:r>
              <a:rPr lang="es-AR" dirty="0"/>
              <a:t>:</a:t>
            </a:r>
          </a:p>
          <a:p>
            <a:pPr lvl="1"/>
            <a:r>
              <a:rPr lang="es-AR" b="1" i="1" dirty="0"/>
              <a:t>Mientras Condición</a:t>
            </a:r>
          </a:p>
          <a:p>
            <a:pPr marL="457200" lvl="1" indent="0">
              <a:buNone/>
            </a:pPr>
            <a:r>
              <a:rPr lang="es-AR" b="1" i="1" dirty="0"/>
              <a:t>                Acción</a:t>
            </a:r>
          </a:p>
          <a:p>
            <a:pPr marL="457200" lvl="1" indent="0">
              <a:buNone/>
            </a:pPr>
            <a:r>
              <a:rPr lang="es-AR" b="1" i="1" dirty="0"/>
              <a:t>    Fm </a:t>
            </a:r>
            <a:endParaRPr lang="es-AR" dirty="0"/>
          </a:p>
          <a:p>
            <a:r>
              <a:rPr lang="es-AR" dirty="0"/>
              <a:t>En este caso deben considerarse dos cosas:</a:t>
            </a:r>
          </a:p>
          <a:p>
            <a:pPr lvl="1"/>
            <a:r>
              <a:rPr lang="es-AR" dirty="0"/>
              <a:t>Mientras se de la </a:t>
            </a:r>
            <a:r>
              <a:rPr lang="es-AR" b="1" i="1" dirty="0"/>
              <a:t>Condición</a:t>
            </a:r>
            <a:r>
              <a:rPr lang="es-AR" dirty="0"/>
              <a:t> se repite la acción (Condición de </a:t>
            </a:r>
            <a:r>
              <a:rPr lang="es-AR" dirty="0" err="1"/>
              <a:t>Continuacón</a:t>
            </a:r>
            <a:r>
              <a:rPr lang="es-AR" dirty="0"/>
              <a:t>)</a:t>
            </a:r>
          </a:p>
          <a:p>
            <a:pPr lvl="1"/>
            <a:r>
              <a:rPr lang="es-AR" dirty="0"/>
              <a:t>La </a:t>
            </a:r>
            <a:r>
              <a:rPr lang="es-AR" b="1" i="1" dirty="0"/>
              <a:t>Condición </a:t>
            </a:r>
            <a:r>
              <a:rPr lang="es-AR" dirty="0"/>
              <a:t> se evalúa antes de la acción, por lo tanto la acción puede no ejecutarse nunca.</a:t>
            </a:r>
          </a:p>
        </p:txBody>
      </p:sp>
    </p:spTree>
    <p:extLst>
      <p:ext uri="{BB962C8B-B14F-4D97-AF65-F5344CB8AC3E}">
        <p14:creationId xmlns:p14="http://schemas.microsoft.com/office/powerpoint/2010/main" val="1138584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E5B1B3-EF97-F722-0487-685C583A0FC7}"/>
              </a:ext>
            </a:extLst>
          </p:cNvPr>
          <p:cNvSpPr>
            <a:spLocks noGrp="1"/>
          </p:cNvSpPr>
          <p:nvPr>
            <p:ph type="title"/>
          </p:nvPr>
        </p:nvSpPr>
        <p:spPr/>
        <p:txBody>
          <a:bodyPr/>
          <a:lstStyle/>
          <a:p>
            <a:pPr algn="ctr"/>
            <a:r>
              <a:rPr lang="es-ES" b="1" dirty="0">
                <a:solidFill>
                  <a:srgbClr val="7030A0"/>
                </a:solidFill>
                <a:latin typeface="Verdana" panose="020B0604030504040204" pitchFamily="34" charset="0"/>
                <a:ea typeface="Verdana" panose="020B0604030504040204" pitchFamily="34" charset="0"/>
              </a:rPr>
              <a:t>Grafica de Iteración</a:t>
            </a:r>
            <a:br>
              <a:rPr lang="es-AR" b="1" dirty="0">
                <a:solidFill>
                  <a:srgbClr val="7030A0"/>
                </a:solidFill>
                <a:latin typeface="Verdana" panose="020B0604030504040204" pitchFamily="34" charset="0"/>
                <a:ea typeface="Verdana" panose="020B0604030504040204" pitchFamily="34" charset="0"/>
              </a:rPr>
            </a:br>
            <a:endParaRPr lang="es-AR" dirty="0"/>
          </a:p>
        </p:txBody>
      </p:sp>
      <p:sp>
        <p:nvSpPr>
          <p:cNvPr id="3" name="Marcador de contenido 2">
            <a:extLst>
              <a:ext uri="{FF2B5EF4-FFF2-40B4-BE49-F238E27FC236}">
                <a16:creationId xmlns:a16="http://schemas.microsoft.com/office/drawing/2014/main" id="{5E237F7E-9FD7-7496-26F2-F30F1252D655}"/>
              </a:ext>
            </a:extLst>
          </p:cNvPr>
          <p:cNvSpPr>
            <a:spLocks noGrp="1"/>
          </p:cNvSpPr>
          <p:nvPr>
            <p:ph idx="1"/>
          </p:nvPr>
        </p:nvSpPr>
        <p:spPr>
          <a:xfrm>
            <a:off x="904009" y="1640378"/>
            <a:ext cx="10383982" cy="4765963"/>
          </a:xfrm>
        </p:spPr>
        <p:txBody>
          <a:bodyPr>
            <a:normAutofit fontScale="92500" lnSpcReduction="20000"/>
          </a:bodyPr>
          <a:lstStyle/>
          <a:p>
            <a:pPr marL="0" indent="0">
              <a:buNone/>
            </a:pPr>
            <a:r>
              <a:rPr lang="es-AR" dirty="0"/>
              <a:t>	Accion1					Accion1</a:t>
            </a:r>
          </a:p>
          <a:p>
            <a:pPr marL="0" indent="0">
              <a:buNone/>
            </a:pPr>
            <a:endParaRPr lang="es-AR" dirty="0"/>
          </a:p>
          <a:p>
            <a:pPr marL="0" indent="0">
              <a:buNone/>
            </a:pPr>
            <a:r>
              <a:rPr lang="es-AR" dirty="0"/>
              <a:t>		</a:t>
            </a:r>
            <a:r>
              <a:rPr lang="es-AR" dirty="0" err="1"/>
              <a:t>ei</a:t>
            </a:r>
            <a:r>
              <a:rPr lang="es-AR" dirty="0"/>
              <a:t>						</a:t>
            </a:r>
            <a:r>
              <a:rPr lang="es-AR" dirty="0" err="1"/>
              <a:t>ei</a:t>
            </a:r>
            <a:endParaRPr lang="es-AR" dirty="0"/>
          </a:p>
          <a:p>
            <a:pPr marL="0" indent="0">
              <a:buNone/>
            </a:pPr>
            <a:r>
              <a:rPr lang="es-AR" dirty="0"/>
              <a:t>						</a:t>
            </a:r>
            <a:r>
              <a:rPr lang="es-AR" dirty="0" err="1"/>
              <a:t>ei</a:t>
            </a:r>
            <a:r>
              <a:rPr lang="es-AR" dirty="0"/>
              <a:t>			F</a:t>
            </a:r>
          </a:p>
          <a:p>
            <a:pPr marL="0" indent="0">
              <a:buNone/>
            </a:pPr>
            <a:r>
              <a:rPr lang="es-AR" dirty="0"/>
              <a:t>	Accion2                                                                    Cond</a:t>
            </a:r>
          </a:p>
          <a:p>
            <a:pPr marL="0" indent="0">
              <a:buNone/>
            </a:pPr>
            <a:r>
              <a:rPr lang="es-AR" dirty="0"/>
              <a:t>								V</a:t>
            </a:r>
          </a:p>
          <a:p>
            <a:pPr marL="0" indent="0">
              <a:buNone/>
            </a:pPr>
            <a:r>
              <a:rPr lang="es-AR" dirty="0"/>
              <a:t>		    </a:t>
            </a:r>
            <a:r>
              <a:rPr lang="es-AR" dirty="0" err="1"/>
              <a:t>ei</a:t>
            </a:r>
            <a:r>
              <a:rPr lang="es-AR" dirty="0"/>
              <a:t>   F</a:t>
            </a:r>
          </a:p>
          <a:p>
            <a:pPr marL="0" indent="0">
              <a:buNone/>
            </a:pPr>
            <a:r>
              <a:rPr lang="es-AR" dirty="0"/>
              <a:t>	 Cond						Acción 2</a:t>
            </a:r>
          </a:p>
          <a:p>
            <a:pPr marL="0" indent="0">
              <a:buNone/>
            </a:pPr>
            <a:r>
              <a:rPr lang="es-AR" dirty="0"/>
              <a:t>		V</a:t>
            </a:r>
          </a:p>
          <a:p>
            <a:pPr marL="0" indent="0">
              <a:buNone/>
            </a:pPr>
            <a:endParaRPr lang="es-AR" dirty="0"/>
          </a:p>
          <a:p>
            <a:pPr marL="0" indent="0">
              <a:buNone/>
            </a:pPr>
            <a:r>
              <a:rPr lang="es-AR" dirty="0"/>
              <a:t>            Acción 3					Accion3</a:t>
            </a:r>
          </a:p>
        </p:txBody>
      </p:sp>
      <p:sp>
        <p:nvSpPr>
          <p:cNvPr id="4" name="Rectángulo 3">
            <a:extLst>
              <a:ext uri="{FF2B5EF4-FFF2-40B4-BE49-F238E27FC236}">
                <a16:creationId xmlns:a16="http://schemas.microsoft.com/office/drawing/2014/main" id="{35A77477-2AFD-FE6B-3C5D-DFE782903A06}"/>
              </a:ext>
            </a:extLst>
          </p:cNvPr>
          <p:cNvSpPr/>
          <p:nvPr/>
        </p:nvSpPr>
        <p:spPr>
          <a:xfrm>
            <a:off x="1690254" y="1538070"/>
            <a:ext cx="1517179" cy="700820"/>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6" name="Conector recto 5">
            <a:extLst>
              <a:ext uri="{FF2B5EF4-FFF2-40B4-BE49-F238E27FC236}">
                <a16:creationId xmlns:a16="http://schemas.microsoft.com/office/drawing/2014/main" id="{72FC1A6B-0AC1-7F57-1C89-861509E9F90E}"/>
              </a:ext>
            </a:extLst>
          </p:cNvPr>
          <p:cNvCxnSpPr>
            <a:cxnSpLocks/>
            <a:stCxn id="4" idx="2"/>
            <a:endCxn id="7" idx="0"/>
          </p:cNvCxnSpPr>
          <p:nvPr/>
        </p:nvCxnSpPr>
        <p:spPr>
          <a:xfrm flipH="1">
            <a:off x="2448054" y="2238890"/>
            <a:ext cx="790" cy="831274"/>
          </a:xfrm>
          <a:prstGeom prst="line">
            <a:avLst/>
          </a:prstGeom>
        </p:spPr>
        <p:style>
          <a:lnRef idx="2">
            <a:schemeClr val="accent1"/>
          </a:lnRef>
          <a:fillRef idx="0">
            <a:schemeClr val="accent1"/>
          </a:fillRef>
          <a:effectRef idx="1">
            <a:schemeClr val="accent1"/>
          </a:effectRef>
          <a:fontRef idx="minor">
            <a:schemeClr val="tx1"/>
          </a:fontRef>
        </p:style>
      </p:cxnSp>
      <p:sp>
        <p:nvSpPr>
          <p:cNvPr id="7" name="Rectángulo 6">
            <a:extLst>
              <a:ext uri="{FF2B5EF4-FFF2-40B4-BE49-F238E27FC236}">
                <a16:creationId xmlns:a16="http://schemas.microsoft.com/office/drawing/2014/main" id="{F4B9E530-EDD6-90E8-6BEA-B25379CE3D2E}"/>
              </a:ext>
            </a:extLst>
          </p:cNvPr>
          <p:cNvSpPr/>
          <p:nvPr/>
        </p:nvSpPr>
        <p:spPr>
          <a:xfrm>
            <a:off x="1690254" y="3070164"/>
            <a:ext cx="1515600" cy="702000"/>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9" name="Conector recto 8">
            <a:extLst>
              <a:ext uri="{FF2B5EF4-FFF2-40B4-BE49-F238E27FC236}">
                <a16:creationId xmlns:a16="http://schemas.microsoft.com/office/drawing/2014/main" id="{5CC79DE1-7AE3-6EB8-3F46-502451F3674C}"/>
              </a:ext>
            </a:extLst>
          </p:cNvPr>
          <p:cNvCxnSpPr>
            <a:cxnSpLocks/>
            <a:stCxn id="7" idx="2"/>
            <a:endCxn id="10" idx="0"/>
          </p:cNvCxnSpPr>
          <p:nvPr/>
        </p:nvCxnSpPr>
        <p:spPr>
          <a:xfrm>
            <a:off x="2448054" y="3772164"/>
            <a:ext cx="0" cy="346465"/>
          </a:xfrm>
          <a:prstGeom prst="line">
            <a:avLst/>
          </a:prstGeom>
        </p:spPr>
        <p:style>
          <a:lnRef idx="2">
            <a:schemeClr val="accent1"/>
          </a:lnRef>
          <a:fillRef idx="0">
            <a:schemeClr val="accent1"/>
          </a:fillRef>
          <a:effectRef idx="1">
            <a:schemeClr val="accent1"/>
          </a:effectRef>
          <a:fontRef idx="minor">
            <a:schemeClr val="tx1"/>
          </a:fontRef>
        </p:style>
      </p:cxnSp>
      <p:sp>
        <p:nvSpPr>
          <p:cNvPr id="10" name="Rombo 9">
            <a:extLst>
              <a:ext uri="{FF2B5EF4-FFF2-40B4-BE49-F238E27FC236}">
                <a16:creationId xmlns:a16="http://schemas.microsoft.com/office/drawing/2014/main" id="{AEAB1A8C-4372-54A9-77BD-1F5457D4F98F}"/>
              </a:ext>
            </a:extLst>
          </p:cNvPr>
          <p:cNvSpPr/>
          <p:nvPr/>
        </p:nvSpPr>
        <p:spPr>
          <a:xfrm>
            <a:off x="1690254" y="4118629"/>
            <a:ext cx="1515600" cy="914400"/>
          </a:xfrm>
          <a:prstGeom prst="diamond">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13" name="Conector recto 12">
            <a:extLst>
              <a:ext uri="{FF2B5EF4-FFF2-40B4-BE49-F238E27FC236}">
                <a16:creationId xmlns:a16="http://schemas.microsoft.com/office/drawing/2014/main" id="{BCB1D3EB-481E-D964-8BAF-F6997C4BC1D5}"/>
              </a:ext>
            </a:extLst>
          </p:cNvPr>
          <p:cNvCxnSpPr>
            <a:cxnSpLocks/>
            <a:stCxn id="10" idx="2"/>
          </p:cNvCxnSpPr>
          <p:nvPr/>
        </p:nvCxnSpPr>
        <p:spPr>
          <a:xfrm flipH="1">
            <a:off x="2434262" y="5033029"/>
            <a:ext cx="13792" cy="601399"/>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Conector recto 14">
            <a:extLst>
              <a:ext uri="{FF2B5EF4-FFF2-40B4-BE49-F238E27FC236}">
                <a16:creationId xmlns:a16="http://schemas.microsoft.com/office/drawing/2014/main" id="{1B9CB8BB-0D0D-C512-C07F-56C4A0E303B0}"/>
              </a:ext>
            </a:extLst>
          </p:cNvPr>
          <p:cNvCxnSpPr>
            <a:cxnSpLocks/>
            <a:stCxn id="10" idx="3"/>
          </p:cNvCxnSpPr>
          <p:nvPr/>
        </p:nvCxnSpPr>
        <p:spPr>
          <a:xfrm>
            <a:off x="3205854" y="4575829"/>
            <a:ext cx="83184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Conector recto 17">
            <a:extLst>
              <a:ext uri="{FF2B5EF4-FFF2-40B4-BE49-F238E27FC236}">
                <a16:creationId xmlns:a16="http://schemas.microsoft.com/office/drawing/2014/main" id="{E11A2C5C-88E6-3148-EB23-2CBC0C93CDF1}"/>
              </a:ext>
            </a:extLst>
          </p:cNvPr>
          <p:cNvCxnSpPr>
            <a:cxnSpLocks/>
          </p:cNvCxnSpPr>
          <p:nvPr/>
        </p:nvCxnSpPr>
        <p:spPr>
          <a:xfrm flipV="1">
            <a:off x="4051495" y="2820574"/>
            <a:ext cx="0" cy="1780941"/>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Conector recto 19">
            <a:extLst>
              <a:ext uri="{FF2B5EF4-FFF2-40B4-BE49-F238E27FC236}">
                <a16:creationId xmlns:a16="http://schemas.microsoft.com/office/drawing/2014/main" id="{4CBEA673-0F87-0360-3276-9AB1D943BBFA}"/>
              </a:ext>
            </a:extLst>
          </p:cNvPr>
          <p:cNvCxnSpPr/>
          <p:nvPr/>
        </p:nvCxnSpPr>
        <p:spPr>
          <a:xfrm flipH="1">
            <a:off x="2461846" y="2820574"/>
            <a:ext cx="1589649" cy="0"/>
          </a:xfrm>
          <a:prstGeom prst="line">
            <a:avLst/>
          </a:prstGeom>
        </p:spPr>
        <p:style>
          <a:lnRef idx="2">
            <a:schemeClr val="accent1"/>
          </a:lnRef>
          <a:fillRef idx="0">
            <a:schemeClr val="accent1"/>
          </a:fillRef>
          <a:effectRef idx="1">
            <a:schemeClr val="accent1"/>
          </a:effectRef>
          <a:fontRef idx="minor">
            <a:schemeClr val="tx1"/>
          </a:fontRef>
        </p:style>
      </p:cxnSp>
      <p:sp>
        <p:nvSpPr>
          <p:cNvPr id="21" name="Rectángulo 20">
            <a:extLst>
              <a:ext uri="{FF2B5EF4-FFF2-40B4-BE49-F238E27FC236}">
                <a16:creationId xmlns:a16="http://schemas.microsoft.com/office/drawing/2014/main" id="{50DEC973-BE17-D5D3-DC45-1273513C9617}"/>
              </a:ext>
            </a:extLst>
          </p:cNvPr>
          <p:cNvSpPr/>
          <p:nvPr/>
        </p:nvSpPr>
        <p:spPr>
          <a:xfrm>
            <a:off x="1704046" y="5660114"/>
            <a:ext cx="1515600" cy="702000"/>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3" name="Rectángulo 32">
            <a:extLst>
              <a:ext uri="{FF2B5EF4-FFF2-40B4-BE49-F238E27FC236}">
                <a16:creationId xmlns:a16="http://schemas.microsoft.com/office/drawing/2014/main" id="{6701A148-3B78-9458-ABA5-2A1847F674AA}"/>
              </a:ext>
            </a:extLst>
          </p:cNvPr>
          <p:cNvSpPr/>
          <p:nvPr/>
        </p:nvSpPr>
        <p:spPr>
          <a:xfrm>
            <a:off x="7245927" y="1513766"/>
            <a:ext cx="1515600" cy="702000"/>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5" name="Rombo 4">
            <a:extLst>
              <a:ext uri="{FF2B5EF4-FFF2-40B4-BE49-F238E27FC236}">
                <a16:creationId xmlns:a16="http://schemas.microsoft.com/office/drawing/2014/main" id="{354A4725-6E5D-D501-DA0A-518B022ECF55}"/>
              </a:ext>
            </a:extLst>
          </p:cNvPr>
          <p:cNvSpPr/>
          <p:nvPr/>
        </p:nvSpPr>
        <p:spPr>
          <a:xfrm>
            <a:off x="7220381" y="2993964"/>
            <a:ext cx="1515600" cy="854400"/>
          </a:xfrm>
          <a:prstGeom prst="diamond">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2" name="Rectángulo 11">
            <a:extLst>
              <a:ext uri="{FF2B5EF4-FFF2-40B4-BE49-F238E27FC236}">
                <a16:creationId xmlns:a16="http://schemas.microsoft.com/office/drawing/2014/main" id="{F6272175-5DE4-2780-6F4F-35E2F7F795E0}"/>
              </a:ext>
            </a:extLst>
          </p:cNvPr>
          <p:cNvSpPr/>
          <p:nvPr/>
        </p:nvSpPr>
        <p:spPr>
          <a:xfrm>
            <a:off x="7245927" y="4224829"/>
            <a:ext cx="1515600" cy="702000"/>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4" name="Rectángulo 13">
            <a:extLst>
              <a:ext uri="{FF2B5EF4-FFF2-40B4-BE49-F238E27FC236}">
                <a16:creationId xmlns:a16="http://schemas.microsoft.com/office/drawing/2014/main" id="{107AE705-508C-9637-8943-DCAE52719E67}"/>
              </a:ext>
            </a:extLst>
          </p:cNvPr>
          <p:cNvSpPr/>
          <p:nvPr/>
        </p:nvSpPr>
        <p:spPr>
          <a:xfrm>
            <a:off x="7220381" y="5500082"/>
            <a:ext cx="1515600" cy="702000"/>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16" name="Conector recto 15">
            <a:extLst>
              <a:ext uri="{FF2B5EF4-FFF2-40B4-BE49-F238E27FC236}">
                <a16:creationId xmlns:a16="http://schemas.microsoft.com/office/drawing/2014/main" id="{C55EDA16-C8F5-C7DA-B0C0-EF61EFF7C643}"/>
              </a:ext>
            </a:extLst>
          </p:cNvPr>
          <p:cNvCxnSpPr>
            <a:cxnSpLocks/>
          </p:cNvCxnSpPr>
          <p:nvPr/>
        </p:nvCxnSpPr>
        <p:spPr>
          <a:xfrm>
            <a:off x="8761527" y="5851082"/>
            <a:ext cx="151961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Conector recto 16">
            <a:extLst>
              <a:ext uri="{FF2B5EF4-FFF2-40B4-BE49-F238E27FC236}">
                <a16:creationId xmlns:a16="http://schemas.microsoft.com/office/drawing/2014/main" id="{EBBCDDBC-D372-E809-B767-4E20F12E37B2}"/>
              </a:ext>
            </a:extLst>
          </p:cNvPr>
          <p:cNvCxnSpPr>
            <a:cxnSpLocks/>
          </p:cNvCxnSpPr>
          <p:nvPr/>
        </p:nvCxnSpPr>
        <p:spPr>
          <a:xfrm flipV="1">
            <a:off x="10281138" y="3429000"/>
            <a:ext cx="0" cy="2422082"/>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Conector recto 18">
            <a:extLst>
              <a:ext uri="{FF2B5EF4-FFF2-40B4-BE49-F238E27FC236}">
                <a16:creationId xmlns:a16="http://schemas.microsoft.com/office/drawing/2014/main" id="{07A3FD2E-92B5-49E2-A007-00208935EEFE}"/>
              </a:ext>
            </a:extLst>
          </p:cNvPr>
          <p:cNvCxnSpPr>
            <a:cxnSpLocks/>
          </p:cNvCxnSpPr>
          <p:nvPr/>
        </p:nvCxnSpPr>
        <p:spPr>
          <a:xfrm flipH="1">
            <a:off x="8691489" y="3429000"/>
            <a:ext cx="158964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Conector recto 29">
            <a:extLst>
              <a:ext uri="{FF2B5EF4-FFF2-40B4-BE49-F238E27FC236}">
                <a16:creationId xmlns:a16="http://schemas.microsoft.com/office/drawing/2014/main" id="{F5B5241B-D5E9-0B5C-55B5-AADE1CCF57DF}"/>
              </a:ext>
            </a:extLst>
          </p:cNvPr>
          <p:cNvCxnSpPr>
            <a:cxnSpLocks/>
          </p:cNvCxnSpPr>
          <p:nvPr/>
        </p:nvCxnSpPr>
        <p:spPr>
          <a:xfrm flipH="1">
            <a:off x="7978181" y="2191439"/>
            <a:ext cx="790" cy="831274"/>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Conector recto 31">
            <a:extLst>
              <a:ext uri="{FF2B5EF4-FFF2-40B4-BE49-F238E27FC236}">
                <a16:creationId xmlns:a16="http://schemas.microsoft.com/office/drawing/2014/main" id="{D6785DA7-0172-D945-C564-15C20AA4198E}"/>
              </a:ext>
            </a:extLst>
          </p:cNvPr>
          <p:cNvCxnSpPr>
            <a:stCxn id="5" idx="2"/>
          </p:cNvCxnSpPr>
          <p:nvPr/>
        </p:nvCxnSpPr>
        <p:spPr>
          <a:xfrm>
            <a:off x="7978181" y="3848364"/>
            <a:ext cx="0" cy="376465"/>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Conector recto 34">
            <a:extLst>
              <a:ext uri="{FF2B5EF4-FFF2-40B4-BE49-F238E27FC236}">
                <a16:creationId xmlns:a16="http://schemas.microsoft.com/office/drawing/2014/main" id="{BCDC8442-AC43-1470-72E1-F4A224403647}"/>
              </a:ext>
            </a:extLst>
          </p:cNvPr>
          <p:cNvCxnSpPr>
            <a:cxnSpLocks/>
          </p:cNvCxnSpPr>
          <p:nvPr/>
        </p:nvCxnSpPr>
        <p:spPr>
          <a:xfrm flipH="1">
            <a:off x="5802011" y="4575829"/>
            <a:ext cx="141837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Conector recto 37">
            <a:extLst>
              <a:ext uri="{FF2B5EF4-FFF2-40B4-BE49-F238E27FC236}">
                <a16:creationId xmlns:a16="http://schemas.microsoft.com/office/drawing/2014/main" id="{CB581D74-5153-4643-6F5D-920B270806E4}"/>
              </a:ext>
            </a:extLst>
          </p:cNvPr>
          <p:cNvCxnSpPr>
            <a:cxnSpLocks/>
          </p:cNvCxnSpPr>
          <p:nvPr/>
        </p:nvCxnSpPr>
        <p:spPr>
          <a:xfrm flipV="1">
            <a:off x="5802011" y="3429000"/>
            <a:ext cx="0" cy="1146829"/>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Conector recto 39">
            <a:extLst>
              <a:ext uri="{FF2B5EF4-FFF2-40B4-BE49-F238E27FC236}">
                <a16:creationId xmlns:a16="http://schemas.microsoft.com/office/drawing/2014/main" id="{91ABAEF7-F528-3C90-1A41-7A0927B861A8}"/>
              </a:ext>
            </a:extLst>
          </p:cNvPr>
          <p:cNvCxnSpPr>
            <a:cxnSpLocks/>
            <a:endCxn id="5" idx="1"/>
          </p:cNvCxnSpPr>
          <p:nvPr/>
        </p:nvCxnSpPr>
        <p:spPr>
          <a:xfrm flipV="1">
            <a:off x="5802010" y="3421164"/>
            <a:ext cx="1418371" cy="7836"/>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11521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E5B1B3-EF97-F722-0487-685C583A0FC7}"/>
              </a:ext>
            </a:extLst>
          </p:cNvPr>
          <p:cNvSpPr>
            <a:spLocks noGrp="1"/>
          </p:cNvSpPr>
          <p:nvPr>
            <p:ph type="title"/>
          </p:nvPr>
        </p:nvSpPr>
        <p:spPr/>
        <p:txBody>
          <a:bodyPr/>
          <a:lstStyle/>
          <a:p>
            <a:pPr algn="ctr"/>
            <a:r>
              <a:rPr lang="es-ES" b="1" dirty="0">
                <a:solidFill>
                  <a:srgbClr val="7030A0"/>
                </a:solidFill>
                <a:latin typeface="Verdana" panose="020B0604030504040204" pitchFamily="34" charset="0"/>
                <a:ea typeface="Verdana" panose="020B0604030504040204" pitchFamily="34" charset="0"/>
              </a:rPr>
              <a:t>Cuestiones a Considerar</a:t>
            </a:r>
            <a:br>
              <a:rPr lang="es-AR" b="1" dirty="0">
                <a:solidFill>
                  <a:srgbClr val="7030A0"/>
                </a:solidFill>
                <a:latin typeface="Verdana" panose="020B0604030504040204" pitchFamily="34" charset="0"/>
                <a:ea typeface="Verdana" panose="020B0604030504040204" pitchFamily="34" charset="0"/>
              </a:rPr>
            </a:br>
            <a:endParaRPr lang="es-AR" dirty="0"/>
          </a:p>
        </p:txBody>
      </p:sp>
      <p:sp>
        <p:nvSpPr>
          <p:cNvPr id="3" name="Marcador de contenido 2">
            <a:extLst>
              <a:ext uri="{FF2B5EF4-FFF2-40B4-BE49-F238E27FC236}">
                <a16:creationId xmlns:a16="http://schemas.microsoft.com/office/drawing/2014/main" id="{5E237F7E-9FD7-7496-26F2-F30F1252D655}"/>
              </a:ext>
            </a:extLst>
          </p:cNvPr>
          <p:cNvSpPr>
            <a:spLocks noGrp="1"/>
          </p:cNvSpPr>
          <p:nvPr>
            <p:ph idx="1"/>
          </p:nvPr>
        </p:nvSpPr>
        <p:spPr>
          <a:xfrm>
            <a:off x="838200" y="1482435"/>
            <a:ext cx="10383982" cy="5140037"/>
          </a:xfrm>
        </p:spPr>
        <p:txBody>
          <a:bodyPr>
            <a:normAutofit/>
          </a:bodyPr>
          <a:lstStyle/>
          <a:p>
            <a:r>
              <a:rPr lang="es-AR" sz="3200" dirty="0"/>
              <a:t>Si las acciones se repiten significa que el estado final debe ser coherente con el estado inicial precisado por la condición de continuación. </a:t>
            </a:r>
          </a:p>
          <a:p>
            <a:r>
              <a:rPr lang="es-AR" sz="3200" dirty="0"/>
              <a:t>La construcción de una iteración se basa en el descubrimiento de la acción elemental y de la condición de finalización o de continuación. Es una tarea delicada.</a:t>
            </a:r>
          </a:p>
          <a:p>
            <a:r>
              <a:rPr lang="es-AR" sz="3200" dirty="0"/>
              <a:t>Un método interesante es reconocer o construir una secuencia de objetos y aplicar un esquema sistemático de enumeración a dicha secuencia.  </a:t>
            </a:r>
          </a:p>
        </p:txBody>
      </p:sp>
    </p:spTree>
    <p:extLst>
      <p:ext uri="{BB962C8B-B14F-4D97-AF65-F5344CB8AC3E}">
        <p14:creationId xmlns:p14="http://schemas.microsoft.com/office/powerpoint/2010/main" val="458881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E5B1B3-EF97-F722-0487-685C583A0FC7}"/>
              </a:ext>
            </a:extLst>
          </p:cNvPr>
          <p:cNvSpPr>
            <a:spLocks noGrp="1"/>
          </p:cNvSpPr>
          <p:nvPr>
            <p:ph type="title"/>
          </p:nvPr>
        </p:nvSpPr>
        <p:spPr/>
        <p:txBody>
          <a:bodyPr/>
          <a:lstStyle/>
          <a:p>
            <a:pPr algn="ctr"/>
            <a:r>
              <a:rPr lang="es-ES" b="1" dirty="0">
                <a:solidFill>
                  <a:srgbClr val="7030A0"/>
                </a:solidFill>
                <a:latin typeface="Verdana" panose="020B0604030504040204" pitchFamily="34" charset="0"/>
                <a:ea typeface="Verdana" panose="020B0604030504040204" pitchFamily="34" charset="0"/>
              </a:rPr>
              <a:t>Noción de Secuencia</a:t>
            </a:r>
            <a:br>
              <a:rPr lang="es-AR" b="1" dirty="0">
                <a:solidFill>
                  <a:srgbClr val="7030A0"/>
                </a:solidFill>
                <a:latin typeface="Verdana" panose="020B0604030504040204" pitchFamily="34" charset="0"/>
                <a:ea typeface="Verdana" panose="020B0604030504040204" pitchFamily="34" charset="0"/>
              </a:rPr>
            </a:br>
            <a:endParaRPr lang="es-AR" dirty="0"/>
          </a:p>
        </p:txBody>
      </p:sp>
      <p:sp>
        <p:nvSpPr>
          <p:cNvPr id="3" name="Marcador de contenido 2">
            <a:extLst>
              <a:ext uri="{FF2B5EF4-FFF2-40B4-BE49-F238E27FC236}">
                <a16:creationId xmlns:a16="http://schemas.microsoft.com/office/drawing/2014/main" id="{5E237F7E-9FD7-7496-26F2-F30F1252D655}"/>
              </a:ext>
            </a:extLst>
          </p:cNvPr>
          <p:cNvSpPr>
            <a:spLocks noGrp="1"/>
          </p:cNvSpPr>
          <p:nvPr>
            <p:ph idx="1"/>
          </p:nvPr>
        </p:nvSpPr>
        <p:spPr>
          <a:xfrm>
            <a:off x="838200" y="1823892"/>
            <a:ext cx="10383982" cy="4668983"/>
          </a:xfrm>
        </p:spPr>
        <p:txBody>
          <a:bodyPr>
            <a:normAutofit/>
          </a:bodyPr>
          <a:lstStyle/>
          <a:p>
            <a:r>
              <a:rPr lang="es-AR" sz="3200" dirty="0"/>
              <a:t>Un objeto del conjunto, llamado primero, se distingue de los demás. Acceder a este elemento permite el posterior acceso a los restantes sucesivos elementos.</a:t>
            </a:r>
          </a:p>
          <a:p>
            <a:r>
              <a:rPr lang="es-AR" sz="3200" dirty="0"/>
              <a:t>Todo objeto de la secuencia precede a uno de los demás objetos (su sucesor o siguiente).</a:t>
            </a:r>
          </a:p>
          <a:p>
            <a:r>
              <a:rPr lang="es-AR" sz="3200" dirty="0"/>
              <a:t>Debe estar definido un indicador de fin de secuencia. Permite detener la enumeración por observación de la característica del último elemento.</a:t>
            </a:r>
          </a:p>
        </p:txBody>
      </p:sp>
    </p:spTree>
    <p:extLst>
      <p:ext uri="{BB962C8B-B14F-4D97-AF65-F5344CB8AC3E}">
        <p14:creationId xmlns:p14="http://schemas.microsoft.com/office/powerpoint/2010/main" val="3382780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E5B1B3-EF97-F722-0487-685C583A0FC7}"/>
              </a:ext>
            </a:extLst>
          </p:cNvPr>
          <p:cNvSpPr>
            <a:spLocks noGrp="1"/>
          </p:cNvSpPr>
          <p:nvPr>
            <p:ph type="title"/>
          </p:nvPr>
        </p:nvSpPr>
        <p:spPr/>
        <p:txBody>
          <a:bodyPr/>
          <a:lstStyle/>
          <a:p>
            <a:pPr algn="ctr"/>
            <a:r>
              <a:rPr lang="es-ES" b="1" dirty="0">
                <a:solidFill>
                  <a:srgbClr val="7030A0"/>
                </a:solidFill>
                <a:latin typeface="Verdana" panose="020B0604030504040204" pitchFamily="34" charset="0"/>
                <a:ea typeface="Verdana" panose="020B0604030504040204" pitchFamily="34" charset="0"/>
              </a:rPr>
              <a:t>Ejercitación</a:t>
            </a:r>
            <a:br>
              <a:rPr lang="es-AR" b="1" dirty="0">
                <a:solidFill>
                  <a:srgbClr val="7030A0"/>
                </a:solidFill>
                <a:latin typeface="Verdana" panose="020B0604030504040204" pitchFamily="34" charset="0"/>
                <a:ea typeface="Verdana" panose="020B0604030504040204" pitchFamily="34" charset="0"/>
              </a:rPr>
            </a:br>
            <a:endParaRPr lang="es-AR" dirty="0"/>
          </a:p>
        </p:txBody>
      </p:sp>
      <p:sp>
        <p:nvSpPr>
          <p:cNvPr id="3" name="Marcador de contenido 2">
            <a:extLst>
              <a:ext uri="{FF2B5EF4-FFF2-40B4-BE49-F238E27FC236}">
                <a16:creationId xmlns:a16="http://schemas.microsoft.com/office/drawing/2014/main" id="{5E237F7E-9FD7-7496-26F2-F30F1252D655}"/>
              </a:ext>
            </a:extLst>
          </p:cNvPr>
          <p:cNvSpPr>
            <a:spLocks noGrp="1"/>
          </p:cNvSpPr>
          <p:nvPr>
            <p:ph idx="1"/>
          </p:nvPr>
        </p:nvSpPr>
        <p:spPr>
          <a:xfrm>
            <a:off x="838200" y="1823892"/>
            <a:ext cx="10383982" cy="4668983"/>
          </a:xfrm>
        </p:spPr>
        <p:txBody>
          <a:bodyPr>
            <a:normAutofit/>
          </a:bodyPr>
          <a:lstStyle/>
          <a:p>
            <a:pPr marL="0" indent="0">
              <a:buNone/>
            </a:pPr>
            <a:r>
              <a:rPr lang="es-AR" sz="3200" dirty="0"/>
              <a:t>	</a:t>
            </a:r>
            <a:r>
              <a:rPr lang="es-AR" sz="4400" dirty="0"/>
              <a:t>Escribir un algoritmo que permita colocar el número suficiente de ladrillos de una pared, obteniendo cada ladrillo de una estiba de los mismos. Téngase en cuenta que la estiba puede estar vacía en algún momento.</a:t>
            </a:r>
          </a:p>
        </p:txBody>
      </p:sp>
    </p:spTree>
    <p:extLst>
      <p:ext uri="{BB962C8B-B14F-4D97-AF65-F5344CB8AC3E}">
        <p14:creationId xmlns:p14="http://schemas.microsoft.com/office/powerpoint/2010/main" val="2672318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E5B1B3-EF97-F722-0487-685C583A0FC7}"/>
              </a:ext>
            </a:extLst>
          </p:cNvPr>
          <p:cNvSpPr>
            <a:spLocks noGrp="1"/>
          </p:cNvSpPr>
          <p:nvPr>
            <p:ph type="title"/>
          </p:nvPr>
        </p:nvSpPr>
        <p:spPr/>
        <p:txBody>
          <a:bodyPr/>
          <a:lstStyle/>
          <a:p>
            <a:pPr algn="ctr"/>
            <a:r>
              <a:rPr lang="es-ES" b="1" dirty="0">
                <a:solidFill>
                  <a:srgbClr val="7030A0"/>
                </a:solidFill>
                <a:latin typeface="Verdana" panose="020B0604030504040204" pitchFamily="34" charset="0"/>
                <a:ea typeface="Verdana" panose="020B0604030504040204" pitchFamily="34" charset="0"/>
              </a:rPr>
              <a:t>Tratamiento de secuencia</a:t>
            </a:r>
            <a:br>
              <a:rPr lang="es-AR" b="1" dirty="0">
                <a:solidFill>
                  <a:srgbClr val="7030A0"/>
                </a:solidFill>
                <a:latin typeface="Verdana" panose="020B0604030504040204" pitchFamily="34" charset="0"/>
                <a:ea typeface="Verdana" panose="020B0604030504040204" pitchFamily="34" charset="0"/>
              </a:rPr>
            </a:br>
            <a:endParaRPr lang="es-AR" dirty="0"/>
          </a:p>
        </p:txBody>
      </p:sp>
      <p:sp>
        <p:nvSpPr>
          <p:cNvPr id="3" name="Marcador de contenido 2">
            <a:extLst>
              <a:ext uri="{FF2B5EF4-FFF2-40B4-BE49-F238E27FC236}">
                <a16:creationId xmlns:a16="http://schemas.microsoft.com/office/drawing/2014/main" id="{5E237F7E-9FD7-7496-26F2-F30F1252D655}"/>
              </a:ext>
            </a:extLst>
          </p:cNvPr>
          <p:cNvSpPr>
            <a:spLocks noGrp="1"/>
          </p:cNvSpPr>
          <p:nvPr>
            <p:ph idx="1"/>
          </p:nvPr>
        </p:nvSpPr>
        <p:spPr>
          <a:xfrm>
            <a:off x="838200" y="1823892"/>
            <a:ext cx="10383982" cy="4668983"/>
          </a:xfrm>
        </p:spPr>
        <p:txBody>
          <a:bodyPr>
            <a:normAutofit/>
          </a:bodyPr>
          <a:lstStyle/>
          <a:p>
            <a:pPr marL="0" indent="0">
              <a:buNone/>
            </a:pPr>
            <a:r>
              <a:rPr lang="es-AR" sz="3200" dirty="0"/>
              <a:t>Podemos resumir el tratamiento de una secuencia de la siguiente manera</a:t>
            </a:r>
          </a:p>
          <a:p>
            <a:pPr marL="0" indent="0">
              <a:buNone/>
            </a:pPr>
            <a:r>
              <a:rPr lang="es-AR" sz="3200" dirty="0"/>
              <a:t>	Obtener primer elemento</a:t>
            </a:r>
          </a:p>
          <a:p>
            <a:pPr marL="0" indent="0">
              <a:buNone/>
            </a:pPr>
            <a:r>
              <a:rPr lang="es-AR" sz="3200" dirty="0"/>
              <a:t>	Mientras No </a:t>
            </a:r>
            <a:r>
              <a:rPr lang="es-AR" sz="3200" dirty="0" err="1"/>
              <a:t>FinSecuencia</a:t>
            </a:r>
            <a:endParaRPr lang="es-AR" sz="3200" dirty="0"/>
          </a:p>
          <a:p>
            <a:pPr marL="0" indent="0">
              <a:buNone/>
            </a:pPr>
            <a:r>
              <a:rPr lang="es-AR" sz="3200" dirty="0"/>
              <a:t>		</a:t>
            </a:r>
            <a:r>
              <a:rPr lang="es-AR" sz="3200" dirty="0" err="1"/>
              <a:t>TratarElemento</a:t>
            </a:r>
            <a:endParaRPr lang="es-AR" sz="3200" dirty="0"/>
          </a:p>
          <a:p>
            <a:pPr marL="0" indent="0">
              <a:buNone/>
            </a:pPr>
            <a:r>
              <a:rPr lang="es-AR" sz="3200" dirty="0"/>
              <a:t>		Obtener elemento  siguiente</a:t>
            </a:r>
          </a:p>
          <a:p>
            <a:pPr marL="0" indent="0">
              <a:buNone/>
            </a:pPr>
            <a:r>
              <a:rPr lang="es-AR" sz="3200" dirty="0"/>
              <a:t>	</a:t>
            </a:r>
            <a:r>
              <a:rPr lang="es-AR" sz="3200" dirty="0" err="1"/>
              <a:t>FMientras</a:t>
            </a:r>
            <a:endParaRPr lang="es-AR" sz="3200" dirty="0"/>
          </a:p>
          <a:p>
            <a:pPr marL="0" indent="0">
              <a:buNone/>
            </a:pPr>
            <a:endParaRPr lang="es-AR" sz="4400" dirty="0"/>
          </a:p>
        </p:txBody>
      </p:sp>
    </p:spTree>
    <p:extLst>
      <p:ext uri="{BB962C8B-B14F-4D97-AF65-F5344CB8AC3E}">
        <p14:creationId xmlns:p14="http://schemas.microsoft.com/office/powerpoint/2010/main" val="112214767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428</TotalTime>
  <Words>576</Words>
  <Application>Microsoft Office PowerPoint</Application>
  <PresentationFormat>Panorámica</PresentationFormat>
  <Paragraphs>53</Paragraphs>
  <Slides>9</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9</vt:i4>
      </vt:variant>
    </vt:vector>
  </HeadingPairs>
  <TitlesOfParts>
    <vt:vector size="14" baseType="lpstr">
      <vt:lpstr>Aptos</vt:lpstr>
      <vt:lpstr>Aptos Display</vt:lpstr>
      <vt:lpstr>Arial</vt:lpstr>
      <vt:lpstr>Verdana</vt:lpstr>
      <vt:lpstr>Tema de Office</vt:lpstr>
      <vt:lpstr>Estructuras de Programas</vt:lpstr>
      <vt:lpstr>Acciones que se repiten </vt:lpstr>
      <vt:lpstr>Condición de Cese </vt:lpstr>
      <vt:lpstr>Condición de Continuación </vt:lpstr>
      <vt:lpstr>Grafica de Iteración </vt:lpstr>
      <vt:lpstr>Cuestiones a Considerar </vt:lpstr>
      <vt:lpstr>Noción de Secuencia </vt:lpstr>
      <vt:lpstr>Ejercitación </vt:lpstr>
      <vt:lpstr>Tratamiento de secuencia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Estructuras de Programas</dc:title>
  <dc:creator>Rafael Yurkevich</dc:creator>
  <cp:lastModifiedBy>Rafael Yurkevich</cp:lastModifiedBy>
  <cp:revision>5</cp:revision>
  <dcterms:created xsi:type="dcterms:W3CDTF">2024-03-20T15:53:10Z</dcterms:created>
  <dcterms:modified xsi:type="dcterms:W3CDTF">2024-03-21T21:06:46Z</dcterms:modified>
</cp:coreProperties>
</file>