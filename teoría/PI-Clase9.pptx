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57" r:id="rId7"/>
    <p:sldId id="258" r:id="rId8"/>
    <p:sldId id="264" r:id="rId9"/>
    <p:sldId id="271" r:id="rId10"/>
    <p:sldId id="272" r:id="rId11"/>
    <p:sldId id="275" r:id="rId12"/>
    <p:sldId id="274" r:id="rId13"/>
    <p:sldId id="276" r:id="rId14"/>
    <p:sldId id="282" r:id="rId15"/>
    <p:sldId id="277" r:id="rId16"/>
    <p:sldId id="278" r:id="rId17"/>
    <p:sldId id="280" r:id="rId18"/>
    <p:sldId id="279" r:id="rId19"/>
    <p:sldId id="281" r:id="rId20"/>
    <p:sldId id="273" r:id="rId21"/>
    <p:sldId id="265" r:id="rId22"/>
    <p:sldId id="259" r:id="rId23"/>
    <p:sldId id="260" r:id="rId24"/>
    <p:sldId id="262" r:id="rId25"/>
    <p:sldId id="261" r:id="rId26"/>
    <p:sldId id="263" r:id="rId27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980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968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551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13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7533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334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9318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0942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4490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648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178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28FA9-83FA-4642-8002-F7DB21F33DCD}" type="datetimeFigureOut">
              <a:rPr lang="es-AR" smtClean="0"/>
              <a:t>7/5/2021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9707C-C78B-44CB-A3F7-B0C48D5529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2360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980728"/>
            <a:ext cx="7772400" cy="3960439"/>
          </a:xfrm>
        </p:spPr>
        <p:txBody>
          <a:bodyPr>
            <a:normAutofit/>
          </a:bodyPr>
          <a:lstStyle/>
          <a:p>
            <a:r>
              <a:rPr lang="es-ES" sz="54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</a:t>
            </a:r>
            <a:br>
              <a:rPr lang="es-ES" sz="54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54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FUNCIONES</a:t>
            </a:r>
            <a:br>
              <a:rPr lang="es-ES" sz="54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54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PROCEDIMIENTOS</a:t>
            </a:r>
            <a:endParaRPr lang="es-AR" sz="5400" b="1" dirty="0">
              <a:solidFill>
                <a:srgbClr val="00B0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5373216"/>
            <a:ext cx="6400800" cy="265584"/>
          </a:xfrm>
        </p:spPr>
        <p:txBody>
          <a:bodyPr>
            <a:normAutofit fontScale="40000" lnSpcReduction="20000"/>
          </a:bodyPr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9517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es-ES" sz="4900" b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</a:t>
            </a:r>
            <a:r>
              <a:rPr lang="es-ES" sz="7200" b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4900" b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 </a:t>
            </a:r>
            <a:r>
              <a:rPr lang="es-ES" sz="4900" b="1" i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sz="4900" b="1" i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19256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smtClean="0"/>
              <a:t>	ARR-PAR</a:t>
            </a:r>
          </a:p>
          <a:p>
            <a:pPr marL="0" indent="0">
              <a:buNone/>
            </a:pPr>
            <a:r>
              <a:rPr lang="es-ES" dirty="0" smtClean="0"/>
              <a:t>	Mientras CC &lt;&gt; “marca”</a:t>
            </a:r>
          </a:p>
          <a:p>
            <a:pPr marL="0" indent="0">
              <a:buNone/>
            </a:pPr>
            <a:r>
              <a:rPr lang="es-ES" dirty="0" smtClean="0"/>
              <a:t>                	Si CC = “a” &amp; CA = “l”</a:t>
            </a:r>
          </a:p>
          <a:p>
            <a:pPr marL="0" indent="0">
              <a:buNone/>
            </a:pPr>
            <a:r>
              <a:rPr lang="es-ES" dirty="0" smtClean="0"/>
              <a:t>                  		</a:t>
            </a:r>
            <a:r>
              <a:rPr lang="es-ES" dirty="0" err="1" smtClean="0"/>
              <a:t>cont</a:t>
            </a:r>
            <a:r>
              <a:rPr lang="es-ES" dirty="0" smtClean="0"/>
              <a:t> += 1</a:t>
            </a:r>
          </a:p>
          <a:p>
            <a:pPr marL="0" indent="0">
              <a:buNone/>
            </a:pPr>
            <a:r>
              <a:rPr lang="es-ES" dirty="0" smtClean="0"/>
              <a:t>		</a:t>
            </a:r>
            <a:r>
              <a:rPr lang="es-ES" dirty="0" err="1" smtClean="0"/>
              <a:t>Fsi</a:t>
            </a:r>
            <a:endParaRPr lang="es-ES" dirty="0" smtClean="0"/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                   AV-PAR</a:t>
            </a:r>
          </a:p>
          <a:p>
            <a:pPr marL="0" indent="0">
              <a:buNone/>
            </a:pPr>
            <a:r>
              <a:rPr lang="es-ES" dirty="0" smtClean="0"/>
              <a:t>	</a:t>
            </a:r>
            <a:r>
              <a:rPr lang="es-ES" dirty="0" err="1" smtClean="0"/>
              <a:t>Fmientras</a:t>
            </a:r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	Escribir(“Hay “&amp;</a:t>
            </a:r>
            <a:r>
              <a:rPr lang="es-ES" dirty="0" err="1" smtClean="0"/>
              <a:t>cont</a:t>
            </a:r>
            <a:r>
              <a:rPr lang="es-ES" dirty="0" smtClean="0"/>
              <a:t>&amp;” caracteres ´la´”)</a:t>
            </a:r>
            <a:endParaRPr lang="es-AR" dirty="0" smtClean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172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</a:t>
            </a:r>
            <a:r>
              <a:rPr lang="es-ES" sz="60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 </a:t>
            </a:r>
            <a:r>
              <a:rPr lang="es-ES" b="1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dirty="0"/>
              <a:t>ARR-PAR Rutina</a:t>
            </a:r>
          </a:p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Si CC &lt;&gt; “Marca”</a:t>
            </a:r>
          </a:p>
          <a:p>
            <a:pPr marL="0" indent="0">
              <a:buNone/>
            </a:pPr>
            <a:r>
              <a:rPr lang="es-ES" dirty="0"/>
              <a:t> 	    CA=CC</a:t>
            </a:r>
          </a:p>
          <a:p>
            <a:pPr marL="0" indent="0">
              <a:buNone/>
            </a:pPr>
            <a:r>
              <a:rPr lang="es-ES" dirty="0"/>
              <a:t>               AV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Fsi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AV-PAR Rutina</a:t>
            </a:r>
          </a:p>
          <a:p>
            <a:pPr marL="0" indent="0">
              <a:buNone/>
            </a:pPr>
            <a:r>
              <a:rPr lang="es-ES" dirty="0"/>
              <a:t>	CA=CC</a:t>
            </a:r>
          </a:p>
          <a:p>
            <a:pPr marL="0" indent="0">
              <a:buNone/>
            </a:pPr>
            <a:r>
              <a:rPr lang="es-ES" dirty="0"/>
              <a:t>	AV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8875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es-ES" sz="4900" b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</a:t>
            </a:r>
            <a:r>
              <a:rPr lang="es-ES" sz="7200" b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4900" b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 </a:t>
            </a:r>
            <a:r>
              <a:rPr lang="es-ES" sz="4900" b="1" i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sz="4900" b="1" i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19256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smtClean="0"/>
              <a:t>	ARR-LA</a:t>
            </a:r>
          </a:p>
          <a:p>
            <a:pPr marL="0" indent="0">
              <a:buNone/>
            </a:pPr>
            <a:r>
              <a:rPr lang="es-ES" dirty="0" smtClean="0"/>
              <a:t>	Mientras CC &lt;&gt; “marca”</a:t>
            </a:r>
          </a:p>
          <a:p>
            <a:pPr marL="0" indent="0">
              <a:buNone/>
            </a:pPr>
            <a:r>
              <a:rPr lang="es-ES" dirty="0" smtClean="0"/>
              <a:t>		</a:t>
            </a:r>
            <a:r>
              <a:rPr lang="es-ES" dirty="0" err="1" smtClean="0"/>
              <a:t>cont</a:t>
            </a:r>
            <a:r>
              <a:rPr lang="es-ES" dirty="0" smtClean="0"/>
              <a:t> += 1</a:t>
            </a:r>
          </a:p>
          <a:p>
            <a:pPr marL="0" indent="0">
              <a:buNone/>
            </a:pPr>
            <a:r>
              <a:rPr lang="es-ES" dirty="0" smtClean="0"/>
              <a:t>		AV-LA</a:t>
            </a:r>
          </a:p>
          <a:p>
            <a:pPr marL="0" indent="0">
              <a:buNone/>
            </a:pPr>
            <a:r>
              <a:rPr lang="es-ES" dirty="0" smtClean="0"/>
              <a:t>	</a:t>
            </a:r>
            <a:r>
              <a:rPr lang="es-ES" dirty="0" err="1" smtClean="0"/>
              <a:t>Fmientras</a:t>
            </a:r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	Escribir(“Hay “&amp;</a:t>
            </a:r>
            <a:r>
              <a:rPr lang="es-ES" dirty="0" err="1" smtClean="0"/>
              <a:t>cont</a:t>
            </a:r>
            <a:r>
              <a:rPr lang="es-ES" dirty="0" smtClean="0"/>
              <a:t>&amp;” caracteres ´la´”)</a:t>
            </a:r>
            <a:endParaRPr lang="es-AR" dirty="0" smtClean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8064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</a:t>
            </a:r>
            <a:r>
              <a:rPr lang="es-ES" sz="60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 </a:t>
            </a:r>
            <a:r>
              <a:rPr lang="es-ES" b="1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dirty="0" smtClean="0"/>
              <a:t>ARR-LA </a:t>
            </a:r>
            <a:r>
              <a:rPr lang="es-ES" dirty="0"/>
              <a:t>Rutina</a:t>
            </a:r>
          </a:p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smtClean="0"/>
              <a:t>Mientras </a:t>
            </a:r>
            <a:r>
              <a:rPr lang="es-ES" dirty="0"/>
              <a:t>CC &lt;&gt; “Marca</a:t>
            </a:r>
            <a:r>
              <a:rPr lang="es-ES" dirty="0" smtClean="0"/>
              <a:t>” &amp; (CC&lt;&gt;“a” | CA&lt;&gt;”l”)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	    CA=CC</a:t>
            </a:r>
          </a:p>
          <a:p>
            <a:pPr marL="0" indent="0">
              <a:buNone/>
            </a:pPr>
            <a:r>
              <a:rPr lang="es-ES" dirty="0"/>
              <a:t>               </a:t>
            </a:r>
            <a:r>
              <a:rPr lang="es-ES" dirty="0" smtClean="0"/>
              <a:t>   AV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Fsi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AV-LA Rutina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	Repetir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smtClean="0"/>
              <a:t>	CA=CC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smtClean="0"/>
              <a:t>	AV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 smtClean="0"/>
              <a:t>Hata</a:t>
            </a:r>
            <a:r>
              <a:rPr lang="es-ES" dirty="0" smtClean="0"/>
              <a:t> que CC = “marca” | (CC=“a” &amp; CA=“l”)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2990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b="1" dirty="0">
              <a:solidFill>
                <a:srgbClr val="00B0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Un subprograma es un fragmento de </a:t>
            </a:r>
            <a:r>
              <a:rPr lang="es-ES" dirty="0" smtClean="0"/>
              <a:t>código </a:t>
            </a:r>
            <a:r>
              <a:rPr lang="es-ES" dirty="0"/>
              <a:t>que se comporta de manera independiente dentro de un programa.</a:t>
            </a:r>
          </a:p>
          <a:p>
            <a:r>
              <a:rPr lang="es-ES" dirty="0"/>
              <a:t>Los subprogramas pueden ser invocados varias veces desde otras partes del programa.</a:t>
            </a:r>
          </a:p>
          <a:p>
            <a:r>
              <a:rPr lang="es-ES" dirty="0"/>
              <a:t>Se comunican mediante el </a:t>
            </a:r>
            <a:r>
              <a:rPr lang="es-ES" i="1" dirty="0"/>
              <a:t>pasaje de </a:t>
            </a:r>
            <a:r>
              <a:rPr lang="es-ES" i="1" dirty="0" smtClean="0"/>
              <a:t>parámetros</a:t>
            </a:r>
            <a:r>
              <a:rPr lang="es-ES" dirty="0"/>
              <a:t>.</a:t>
            </a:r>
          </a:p>
          <a:p>
            <a:r>
              <a:rPr lang="es-ES" dirty="0"/>
              <a:t>Cada subprograma tiene su propio espacio de nombres (identificadores </a:t>
            </a:r>
            <a:r>
              <a:rPr lang="es-ES" i="1" dirty="0"/>
              <a:t>locales</a:t>
            </a:r>
            <a:r>
              <a:rPr lang="es-ES" dirty="0"/>
              <a:t>)</a:t>
            </a:r>
          </a:p>
          <a:p>
            <a:r>
              <a:rPr lang="es-ES" dirty="0"/>
              <a:t>Algunos identificadores pueden ser compartidos entre subprogramas y el programa principal (identificadores </a:t>
            </a:r>
            <a:r>
              <a:rPr lang="es-ES" i="1" dirty="0"/>
              <a:t>globales</a:t>
            </a:r>
            <a:r>
              <a:rPr lang="es-ES" dirty="0"/>
              <a:t>).</a:t>
            </a:r>
          </a:p>
          <a:p>
            <a:r>
              <a:rPr lang="es-ES" dirty="0"/>
              <a:t>Los subprogramas son una herramienta de </a:t>
            </a:r>
            <a:r>
              <a:rPr lang="es-ES" i="1" dirty="0" err="1" smtClean="0"/>
              <a:t>modularización</a:t>
            </a:r>
            <a:r>
              <a:rPr lang="es-ES" dirty="0"/>
              <a:t>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9188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b="1" u="sng" dirty="0" smtClean="0">
                <a:solidFill>
                  <a:srgbClr val="00B050"/>
                </a:solidFill>
              </a:rPr>
              <a:t>ESTRUCTURA DE UN BLOQUE</a:t>
            </a:r>
          </a:p>
          <a:p>
            <a:pPr marL="0" indent="0">
              <a:buNone/>
            </a:pPr>
            <a:r>
              <a:rPr lang="es-ES" b="1" i="1" dirty="0" smtClean="0">
                <a:solidFill>
                  <a:srgbClr val="00B050"/>
                </a:solidFill>
              </a:rPr>
              <a:t>BLOQUE</a:t>
            </a:r>
            <a:r>
              <a:rPr lang="es-ES" dirty="0"/>
              <a:t> es una </a:t>
            </a:r>
            <a:r>
              <a:rPr lang="es-ES" dirty="0" smtClean="0"/>
              <a:t>denominación genérica </a:t>
            </a:r>
            <a:r>
              <a:rPr lang="es-ES" dirty="0"/>
              <a:t>para la siguiente estructura </a:t>
            </a:r>
            <a:r>
              <a:rPr lang="es-ES" dirty="0" smtClean="0"/>
              <a:t>sintáctica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b="1" dirty="0" err="1"/>
              <a:t>const</a:t>
            </a:r>
            <a:r>
              <a:rPr lang="es-ES" dirty="0"/>
              <a:t> &lt;declaraciones de constantes</a:t>
            </a:r>
            <a:r>
              <a:rPr lang="es-ES" dirty="0" smtClean="0"/>
              <a:t>&gt;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err="1"/>
              <a:t>type</a:t>
            </a:r>
            <a:r>
              <a:rPr lang="es-ES" dirty="0"/>
              <a:t> &lt;declaraciones de tipos</a:t>
            </a:r>
            <a:r>
              <a:rPr lang="es-ES" dirty="0" smtClean="0"/>
              <a:t>&gt;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err="1"/>
              <a:t>var</a:t>
            </a:r>
            <a:r>
              <a:rPr lang="es-ES" dirty="0"/>
              <a:t> &lt;declaraciones de variables</a:t>
            </a:r>
            <a:r>
              <a:rPr lang="es-ES" dirty="0" smtClean="0"/>
              <a:t>&gt;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dirty="0"/>
              <a:t>&lt;declaraciones de subprogramas&gt; </a:t>
            </a:r>
            <a:endParaRPr lang="es-ES" dirty="0" smtClean="0"/>
          </a:p>
          <a:p>
            <a:pPr marL="0" indent="0">
              <a:buNone/>
            </a:pPr>
            <a:r>
              <a:rPr lang="es-ES" b="1" dirty="0" smtClean="0"/>
              <a:t>Begin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dirty="0"/>
              <a:t>&lt;instrucciones</a:t>
            </a:r>
            <a:r>
              <a:rPr lang="es-ES" dirty="0" smtClean="0"/>
              <a:t>&gt;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err="1"/>
              <a:t>end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0938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ES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</a:t>
            </a:r>
          </a:p>
          <a:p>
            <a:r>
              <a:rPr lang="es-ES" dirty="0"/>
              <a:t>Una </a:t>
            </a:r>
            <a:r>
              <a:rPr lang="es-ES" i="1" dirty="0" smtClean="0"/>
              <a:t>función</a:t>
            </a:r>
            <a:r>
              <a:rPr lang="es-ES" dirty="0"/>
              <a:t> es un subprograma que </a:t>
            </a:r>
            <a:r>
              <a:rPr lang="es-ES" i="1" dirty="0"/>
              <a:t>retorna</a:t>
            </a:r>
            <a:r>
              <a:rPr lang="es-ES" dirty="0"/>
              <a:t> un valor simple.</a:t>
            </a:r>
          </a:p>
          <a:p>
            <a:r>
              <a:rPr lang="es-ES" dirty="0"/>
              <a:t>Las funciones se invocan dentro de una </a:t>
            </a:r>
            <a:r>
              <a:rPr lang="es-ES" i="1" dirty="0" smtClean="0"/>
              <a:t>expresión</a:t>
            </a:r>
            <a:r>
              <a:rPr lang="es-ES" dirty="0"/>
              <a:t>.</a:t>
            </a:r>
          </a:p>
          <a:p>
            <a:r>
              <a:rPr lang="es-ES" dirty="0"/>
              <a:t>Funciones </a:t>
            </a:r>
            <a:r>
              <a:rPr lang="es-ES" dirty="0" smtClean="0"/>
              <a:t>estándar</a:t>
            </a:r>
            <a:r>
              <a:rPr lang="es-ES" dirty="0"/>
              <a:t>: </a:t>
            </a:r>
            <a:r>
              <a:rPr lang="es-ES" dirty="0" err="1"/>
              <a:t>ord</a:t>
            </a:r>
            <a:r>
              <a:rPr lang="es-ES" dirty="0"/>
              <a:t>, </a:t>
            </a:r>
            <a:r>
              <a:rPr lang="es-ES" dirty="0" err="1"/>
              <a:t>succ</a:t>
            </a:r>
            <a:r>
              <a:rPr lang="es-ES" dirty="0"/>
              <a:t>, </a:t>
            </a:r>
            <a:r>
              <a:rPr lang="es-ES" dirty="0" err="1"/>
              <a:t>pred</a:t>
            </a:r>
            <a:r>
              <a:rPr lang="es-ES" dirty="0"/>
              <a:t>, </a:t>
            </a:r>
            <a:r>
              <a:rPr lang="es-ES" dirty="0" err="1"/>
              <a:t>sqrt</a:t>
            </a:r>
            <a:r>
              <a:rPr lang="es-ES" dirty="0"/>
              <a:t>, </a:t>
            </a:r>
            <a:r>
              <a:rPr lang="es-ES" dirty="0" err="1"/>
              <a:t>chr</a:t>
            </a:r>
            <a:r>
              <a:rPr lang="es-ES" dirty="0"/>
              <a:t>, </a:t>
            </a:r>
            <a:r>
              <a:rPr lang="es-ES" dirty="0" err="1"/>
              <a:t>trunc</a:t>
            </a:r>
            <a:r>
              <a:rPr lang="es-ES" dirty="0"/>
              <a:t>, etc.</a:t>
            </a:r>
          </a:p>
          <a:p>
            <a:r>
              <a:rPr lang="es-ES" dirty="0"/>
              <a:t>Funciones definidas por el programador: se declaran en el programa luego de la </a:t>
            </a:r>
            <a:r>
              <a:rPr lang="es-ES" dirty="0" smtClean="0"/>
              <a:t>declaración </a:t>
            </a:r>
            <a:r>
              <a:rPr lang="es-ES" dirty="0"/>
              <a:t>de variables.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7864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AR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Declaración </a:t>
            </a:r>
            <a:r>
              <a:rPr lang="es-AR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una </a:t>
            </a:r>
            <a:r>
              <a:rPr lang="es-AR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función</a:t>
            </a:r>
            <a:endParaRPr lang="es-AR" b="1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AR" dirty="0"/>
              <a:t>Sintaxis:</a:t>
            </a:r>
          </a:p>
          <a:p>
            <a:pPr marL="0" indent="0">
              <a:buNone/>
            </a:pPr>
            <a:r>
              <a:rPr lang="es-AR" b="1" dirty="0" err="1"/>
              <a:t>function</a:t>
            </a:r>
            <a:r>
              <a:rPr lang="es-AR" dirty="0"/>
              <a:t> nombre ( </a:t>
            </a:r>
            <a:r>
              <a:rPr lang="es-AR" dirty="0" err="1"/>
              <a:t>lista_de_parametros</a:t>
            </a:r>
            <a:r>
              <a:rPr lang="es-AR" dirty="0"/>
              <a:t>) : tipo</a:t>
            </a:r>
            <a:r>
              <a:rPr lang="es-AR" dirty="0" smtClean="0"/>
              <a:t>;</a:t>
            </a:r>
          </a:p>
          <a:p>
            <a:pPr marL="0" indent="0">
              <a:buNone/>
            </a:pPr>
            <a:r>
              <a:rPr lang="es-AR" dirty="0" smtClean="0"/>
              <a:t> </a:t>
            </a:r>
            <a:r>
              <a:rPr lang="es-AR" b="1" dirty="0" err="1"/>
              <a:t>const</a:t>
            </a:r>
            <a:r>
              <a:rPr lang="es-AR" dirty="0"/>
              <a:t> 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... </a:t>
            </a:r>
          </a:p>
          <a:p>
            <a:pPr marL="0" indent="0">
              <a:buNone/>
            </a:pPr>
            <a:r>
              <a:rPr lang="es-AR" b="1" dirty="0" smtClean="0"/>
              <a:t> </a:t>
            </a:r>
            <a:r>
              <a:rPr lang="es-AR" b="1" dirty="0" err="1" smtClean="0"/>
              <a:t>type</a:t>
            </a:r>
            <a:r>
              <a:rPr lang="es-AR" dirty="0" smtClean="0"/>
              <a:t> </a:t>
            </a:r>
          </a:p>
          <a:p>
            <a:pPr marL="0" indent="0">
              <a:buNone/>
            </a:pPr>
            <a:r>
              <a:rPr lang="es-AR" dirty="0" smtClean="0"/>
              <a:t> ... </a:t>
            </a:r>
          </a:p>
          <a:p>
            <a:pPr marL="0" indent="0">
              <a:buNone/>
            </a:pPr>
            <a:r>
              <a:rPr lang="es-AR" b="1" dirty="0" smtClean="0"/>
              <a:t> </a:t>
            </a:r>
            <a:r>
              <a:rPr lang="es-AR" b="1" dirty="0" err="1" smtClean="0"/>
              <a:t>var</a:t>
            </a:r>
            <a:r>
              <a:rPr lang="es-AR" dirty="0" smtClean="0"/>
              <a:t> </a:t>
            </a:r>
          </a:p>
          <a:p>
            <a:pPr marL="0" indent="0">
              <a:buNone/>
            </a:pPr>
            <a:r>
              <a:rPr lang="es-AR" dirty="0" smtClean="0"/>
              <a:t> ... </a:t>
            </a:r>
          </a:p>
          <a:p>
            <a:pPr marL="0" indent="0">
              <a:buNone/>
            </a:pPr>
            <a:r>
              <a:rPr lang="es-AR" i="1" dirty="0" smtClean="0"/>
              <a:t>(* </a:t>
            </a:r>
            <a:r>
              <a:rPr lang="es-AR" i="1" dirty="0"/>
              <a:t>subprogramas *)</a:t>
            </a:r>
            <a:r>
              <a:rPr lang="es-AR" dirty="0"/>
              <a:t> </a:t>
            </a:r>
            <a:r>
              <a:rPr lang="es-AR" dirty="0" smtClean="0"/>
              <a:t>...</a:t>
            </a:r>
          </a:p>
          <a:p>
            <a:pPr marL="0" indent="0">
              <a:buNone/>
            </a:pPr>
            <a:r>
              <a:rPr lang="es-AR" dirty="0" smtClean="0"/>
              <a:t> </a:t>
            </a:r>
            <a:r>
              <a:rPr lang="es-AR" b="1" dirty="0" err="1"/>
              <a:t>begin</a:t>
            </a:r>
            <a:r>
              <a:rPr lang="es-AR" dirty="0"/>
              <a:t> </a:t>
            </a: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 ...</a:t>
            </a:r>
          </a:p>
          <a:p>
            <a:pPr marL="0" indent="0">
              <a:buNone/>
            </a:pPr>
            <a:r>
              <a:rPr lang="es-AR" dirty="0" smtClean="0"/>
              <a:t> </a:t>
            </a:r>
            <a:r>
              <a:rPr lang="es-AR" b="1" dirty="0" err="1"/>
              <a:t>end</a:t>
            </a:r>
            <a:r>
              <a:rPr lang="es-AR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117370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84576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ES" sz="3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Parámetros </a:t>
            </a:r>
            <a:r>
              <a:rPr lang="es-ES" sz="3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nominales y </a:t>
            </a:r>
            <a:r>
              <a:rPr lang="es-ES" sz="3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efectivos</a:t>
            </a:r>
          </a:p>
          <a:p>
            <a:pPr marL="0" indent="0" algn="ctr">
              <a:buNone/>
            </a:pPr>
            <a:endParaRPr lang="es-ES" sz="3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ES" dirty="0"/>
              <a:t>Los </a:t>
            </a:r>
            <a:r>
              <a:rPr lang="es-ES" dirty="0" smtClean="0"/>
              <a:t>parámetros </a:t>
            </a:r>
            <a:r>
              <a:rPr lang="es-ES" dirty="0"/>
              <a:t>nominales son los </a:t>
            </a:r>
            <a:r>
              <a:rPr lang="es-ES" i="1" dirty="0"/>
              <a:t>nombres</a:t>
            </a:r>
            <a:r>
              <a:rPr lang="es-ES" dirty="0"/>
              <a:t> que aparecen en el encabezado de la </a:t>
            </a:r>
            <a:r>
              <a:rPr lang="es-ES" dirty="0" smtClean="0"/>
              <a:t>función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i="1" dirty="0" smtClean="0"/>
              <a:t>    (* base y </a:t>
            </a:r>
            <a:r>
              <a:rPr lang="es-ES" i="1" dirty="0"/>
              <a:t>exponente son </a:t>
            </a:r>
            <a:r>
              <a:rPr lang="es-ES" i="1" dirty="0" smtClean="0"/>
              <a:t>parámetros </a:t>
            </a:r>
            <a:r>
              <a:rPr lang="es-ES" i="1" dirty="0"/>
              <a:t>nominales *)</a:t>
            </a:r>
            <a:r>
              <a:rPr lang="es-ES" dirty="0"/>
              <a:t> </a:t>
            </a:r>
            <a:endParaRPr lang="es-ES" dirty="0" smtClean="0"/>
          </a:p>
          <a:p>
            <a:pPr marL="0" indent="0">
              <a:buNone/>
            </a:pPr>
            <a:r>
              <a:rPr lang="es-ES" b="1" dirty="0" smtClean="0"/>
              <a:t>    </a:t>
            </a:r>
            <a:r>
              <a:rPr lang="es-ES" b="1" dirty="0" err="1" smtClean="0"/>
              <a:t>function</a:t>
            </a:r>
            <a:r>
              <a:rPr lang="es-ES" dirty="0" smtClean="0"/>
              <a:t> </a:t>
            </a:r>
            <a:r>
              <a:rPr lang="es-ES" dirty="0"/>
              <a:t>potencia(base: </a:t>
            </a:r>
            <a:r>
              <a:rPr lang="es-ES" b="1" dirty="0"/>
              <a:t>real</a:t>
            </a:r>
            <a:r>
              <a:rPr lang="es-ES" dirty="0"/>
              <a:t>; exponente: </a:t>
            </a:r>
            <a:r>
              <a:rPr lang="es-ES" b="1" dirty="0" err="1"/>
              <a:t>integer</a:t>
            </a:r>
            <a:r>
              <a:rPr lang="es-ES" dirty="0"/>
              <a:t>): </a:t>
            </a:r>
            <a:r>
              <a:rPr lang="es-ES" b="1" dirty="0"/>
              <a:t>real</a:t>
            </a:r>
            <a:r>
              <a:rPr lang="es-ES" dirty="0" smtClean="0"/>
              <a:t>;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Los </a:t>
            </a:r>
            <a:r>
              <a:rPr lang="es-ES" dirty="0" smtClean="0"/>
              <a:t>parámetros </a:t>
            </a:r>
            <a:r>
              <a:rPr lang="es-ES" dirty="0"/>
              <a:t>efectivos son las </a:t>
            </a:r>
            <a:r>
              <a:rPr lang="es-ES" i="1" dirty="0"/>
              <a:t>expresiones</a:t>
            </a:r>
            <a:r>
              <a:rPr lang="es-ES" dirty="0"/>
              <a:t> que aparecen en la </a:t>
            </a:r>
            <a:r>
              <a:rPr lang="es-ES" dirty="0" smtClean="0"/>
              <a:t>invocación </a:t>
            </a:r>
            <a:r>
              <a:rPr lang="es-ES" dirty="0"/>
              <a:t>de la </a:t>
            </a:r>
            <a:r>
              <a:rPr lang="es-ES" dirty="0" smtClean="0"/>
              <a:t>función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    </a:t>
            </a:r>
            <a:r>
              <a:rPr lang="es-ES" dirty="0" err="1" smtClean="0"/>
              <a:t>pot</a:t>
            </a:r>
            <a:r>
              <a:rPr lang="es-ES" dirty="0" smtClean="0"/>
              <a:t>:= potencia(pi,23); ... </a:t>
            </a:r>
          </a:p>
          <a:p>
            <a:pPr marL="0" indent="0">
              <a:buNone/>
            </a:pPr>
            <a:endParaRPr lang="es-ES" dirty="0" smtClean="0"/>
          </a:p>
          <a:p>
            <a:r>
              <a:rPr lang="es-ES" dirty="0" smtClean="0"/>
              <a:t>Para </a:t>
            </a:r>
            <a:r>
              <a:rPr lang="es-ES" dirty="0"/>
              <a:t>cada </a:t>
            </a:r>
            <a:r>
              <a:rPr lang="es-ES" dirty="0" smtClean="0"/>
              <a:t>parámetro</a:t>
            </a:r>
            <a:r>
              <a:rPr lang="es-ES" dirty="0"/>
              <a:t>, el tipo del </a:t>
            </a:r>
            <a:r>
              <a:rPr lang="es-ES" dirty="0" smtClean="0"/>
              <a:t>parámetro </a:t>
            </a:r>
            <a:r>
              <a:rPr lang="es-ES" dirty="0"/>
              <a:t>nominal y el tipo del respectivo </a:t>
            </a:r>
            <a:r>
              <a:rPr lang="es-ES" dirty="0" smtClean="0"/>
              <a:t>parámetro </a:t>
            </a:r>
            <a:r>
              <a:rPr lang="es-ES" dirty="0"/>
              <a:t>efectivo deben ser </a:t>
            </a:r>
            <a:r>
              <a:rPr lang="es-ES" b="1" dirty="0"/>
              <a:t>compatibles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528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s-ES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Recomendaciones de estilo</a:t>
            </a:r>
          </a:p>
          <a:p>
            <a:r>
              <a:rPr lang="es-ES" dirty="0"/>
              <a:t>No utilizar pasaje por referencia con funciones.</a:t>
            </a:r>
          </a:p>
          <a:p>
            <a:r>
              <a:rPr lang="es-ES" dirty="0"/>
              <a:t>No hacer entrada y salida dentro de funciones (</a:t>
            </a:r>
            <a:r>
              <a:rPr lang="es-ES" dirty="0" err="1"/>
              <a:t>read</a:t>
            </a:r>
            <a:r>
              <a:rPr lang="es-ES" dirty="0"/>
              <a:t>, </a:t>
            </a:r>
            <a:r>
              <a:rPr lang="es-ES" dirty="0" err="1"/>
              <a:t>write</a:t>
            </a:r>
            <a:r>
              <a:rPr lang="es-ES" dirty="0"/>
              <a:t>, </a:t>
            </a:r>
            <a:r>
              <a:rPr lang="es-ES" dirty="0" err="1"/>
              <a:t>etc</a:t>
            </a:r>
            <a:r>
              <a:rPr lang="es-ES" dirty="0"/>
              <a:t>)</a:t>
            </a:r>
          </a:p>
          <a:p>
            <a:r>
              <a:rPr lang="es-ES" dirty="0"/>
              <a:t>No utilizar variables globales (declaradas en el programa principal) dentro de subprogramas.</a:t>
            </a:r>
          </a:p>
          <a:p>
            <a:r>
              <a:rPr lang="es-ES" dirty="0"/>
              <a:t>Asignar una sola vez y al final el valor de la </a:t>
            </a:r>
            <a:r>
              <a:rPr lang="es-ES" dirty="0" smtClean="0"/>
              <a:t>función</a:t>
            </a:r>
            <a:r>
              <a:rPr lang="es-ES" dirty="0"/>
              <a:t>.</a:t>
            </a:r>
          </a:p>
          <a:p>
            <a:r>
              <a:rPr lang="es-ES" dirty="0"/>
              <a:t>Definir funciones para todo </a:t>
            </a:r>
            <a:r>
              <a:rPr lang="es-ES" dirty="0" smtClean="0"/>
              <a:t>cálculo </a:t>
            </a:r>
            <a:r>
              <a:rPr lang="es-ES" dirty="0"/>
              <a:t>intermedio que sea independiente.</a:t>
            </a:r>
          </a:p>
          <a:p>
            <a:r>
              <a:rPr lang="es-ES" dirty="0" smtClean="0"/>
              <a:t>Sólo </a:t>
            </a:r>
            <a:r>
              <a:rPr lang="es-ES" dirty="0"/>
              <a:t>definir funciones cuya </a:t>
            </a:r>
            <a:r>
              <a:rPr lang="es-ES" dirty="0" smtClean="0"/>
              <a:t>semántica </a:t>
            </a:r>
            <a:r>
              <a:rPr lang="es-ES" dirty="0"/>
              <a:t>sea clara.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5359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496" y="1600200"/>
            <a:ext cx="9001000" cy="5069160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s-AR" sz="45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Ejemplo de </a:t>
            </a:r>
            <a:r>
              <a:rPr lang="es-AR" sz="45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endParaRPr lang="es-AR" sz="4500" b="1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45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potencia(base : </a:t>
            </a:r>
            <a:r>
              <a:rPr lang="es-AR" sz="4500" b="1" dirty="0"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; exponente : </a:t>
            </a:r>
            <a:r>
              <a:rPr lang="es-AR" sz="4500" b="1" dirty="0" err="1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) : </a:t>
            </a:r>
            <a:r>
              <a:rPr lang="es-AR" sz="4500" b="1" dirty="0"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s-AR" sz="4500" i="1" dirty="0" smtClean="0">
                <a:latin typeface="Arial" panose="020B0604020202020204" pitchFamily="34" charset="0"/>
                <a:cs typeface="Arial" panose="020B0604020202020204" pitchFamily="34" charset="0"/>
              </a:rPr>
              <a:t>(* </a:t>
            </a:r>
            <a:r>
              <a:rPr lang="es-AR" sz="4500" i="1" dirty="0">
                <a:latin typeface="Arial" panose="020B0604020202020204" pitchFamily="34" charset="0"/>
                <a:cs typeface="Arial" panose="020B0604020202020204" pitchFamily="34" charset="0"/>
              </a:rPr>
              <a:t>pre </a:t>
            </a:r>
            <a:r>
              <a:rPr lang="es-AR" sz="4500" i="1" dirty="0" err="1">
                <a:latin typeface="Arial" panose="020B0604020202020204" pitchFamily="34" charset="0"/>
                <a:cs typeface="Arial" panose="020B0604020202020204" pitchFamily="34" charset="0"/>
              </a:rPr>
              <a:t>condicion</a:t>
            </a:r>
            <a:r>
              <a:rPr lang="es-AR" sz="4500" i="1" dirty="0">
                <a:latin typeface="Arial" panose="020B0604020202020204" pitchFamily="34" charset="0"/>
                <a:cs typeface="Arial" panose="020B0604020202020204" pitchFamily="34" charset="0"/>
              </a:rPr>
              <a:t>: (base&lt;&gt;0) </a:t>
            </a:r>
            <a:r>
              <a:rPr lang="es-AR" sz="4500" i="1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AR" sz="4500" i="1" dirty="0">
                <a:latin typeface="Arial" panose="020B0604020202020204" pitchFamily="34" charset="0"/>
                <a:cs typeface="Arial" panose="020B0604020202020204" pitchFamily="34" charset="0"/>
              </a:rPr>
              <a:t> (exponente&lt;&gt;0) </a:t>
            </a:r>
            <a:r>
              <a:rPr lang="es-AR" sz="4500" i="1" dirty="0" smtClean="0">
                <a:latin typeface="Arial" panose="020B0604020202020204" pitchFamily="34" charset="0"/>
                <a:cs typeface="Arial" panose="020B0604020202020204" pitchFamily="34" charset="0"/>
              </a:rPr>
              <a:t>*)</a:t>
            </a:r>
          </a:p>
          <a:p>
            <a:pPr marL="0" indent="0">
              <a:buNone/>
            </a:pP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endParaRPr lang="es-AR" sz="45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4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dirty="0" err="1">
                <a:latin typeface="Arial" panose="020B0604020202020204" pitchFamily="34" charset="0"/>
                <a:cs typeface="Arial" panose="020B0604020202020204" pitchFamily="34" charset="0"/>
              </a:rPr>
              <a:t>pot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s-AR" sz="4500" b="1" dirty="0"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i 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AR" sz="4500" b="1" dirty="0" err="1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negativo 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AR" sz="4500" b="1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s-AR" sz="4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pPr marL="0" indent="0">
              <a:buNone/>
            </a:pP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negativo:= exponente &lt; 0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exponente:= </a:t>
            </a:r>
            <a:r>
              <a:rPr lang="es-AR" sz="4500" b="1" dirty="0" err="1">
                <a:latin typeface="Arial" panose="020B0604020202020204" pitchFamily="34" charset="0"/>
                <a:cs typeface="Arial" panose="020B0604020202020204" pitchFamily="34" charset="0"/>
              </a:rPr>
              <a:t>abs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(exponente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dirty="0" err="1">
                <a:latin typeface="Arial" panose="020B0604020202020204" pitchFamily="34" charset="0"/>
                <a:cs typeface="Arial" panose="020B0604020202020204" pitchFamily="34" charset="0"/>
              </a:rPr>
              <a:t>pot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:= 1; </a:t>
            </a:r>
            <a:endParaRPr lang="es-AR" sz="4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4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i:= 1 </a:t>
            </a:r>
            <a:r>
              <a:rPr lang="es-AR" sz="45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 exponente </a:t>
            </a:r>
            <a:r>
              <a:rPr lang="es-AR" sz="4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marL="0" indent="0">
              <a:buNone/>
            </a:pPr>
            <a:r>
              <a:rPr lang="es-AR" sz="4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dirty="0" err="1">
                <a:latin typeface="Arial" panose="020B0604020202020204" pitchFamily="34" charset="0"/>
                <a:cs typeface="Arial" panose="020B0604020202020204" pitchFamily="34" charset="0"/>
              </a:rPr>
              <a:t>pot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:= </a:t>
            </a:r>
            <a:r>
              <a:rPr lang="es-AR" sz="4500" dirty="0" err="1">
                <a:latin typeface="Arial" panose="020B0604020202020204" pitchFamily="34" charset="0"/>
                <a:cs typeface="Arial" panose="020B0604020202020204" pitchFamily="34" charset="0"/>
              </a:rPr>
              <a:t>pot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 * base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b="1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 negativo </a:t>
            </a:r>
            <a:r>
              <a:rPr lang="es-AR" sz="45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endParaRPr lang="es-AR" sz="45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4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potencia:= 1 / </a:t>
            </a:r>
            <a:r>
              <a:rPr lang="es-AR" sz="4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pot</a:t>
            </a:r>
            <a:endParaRPr lang="es-AR" sz="4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AR" sz="4500" b="1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4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     potencia</a:t>
            </a:r>
            <a:r>
              <a:rPr lang="es-AR" sz="4500" dirty="0">
                <a:latin typeface="Arial" panose="020B0604020202020204" pitchFamily="34" charset="0"/>
                <a:cs typeface="Arial" panose="020B0604020202020204" pitchFamily="34" charset="0"/>
              </a:rPr>
              <a:t>:= </a:t>
            </a:r>
            <a:r>
              <a:rPr lang="es-AR" sz="4500" dirty="0" err="1">
                <a:latin typeface="Arial" panose="020B0604020202020204" pitchFamily="34" charset="0"/>
                <a:cs typeface="Arial" panose="020B0604020202020204" pitchFamily="34" charset="0"/>
              </a:rPr>
              <a:t>pot</a:t>
            </a: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s-AR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45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347864" y="4890740"/>
            <a:ext cx="5688632" cy="120032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>
                <a:alpha val="99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Desplegar las 10 primeras potencias de un número</a:t>
            </a:r>
            <a:endParaRPr kumimoji="0" lang="es-AR" altLang="es-A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 err="1" smtClean="0">
                <a:ln>
                  <a:noFill/>
                </a:ln>
                <a:solidFill>
                  <a:srgbClr val="224FFF"/>
                </a:solidFill>
                <a:effectLst/>
                <a:latin typeface="+mn-lt"/>
                <a:cs typeface="Times New Roman" pitchFamily="18" charset="0"/>
              </a:rPr>
              <a:t>ReadLn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(base);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 err="1" smtClean="0">
                <a:ln>
                  <a:noFill/>
                </a:ln>
                <a:solidFill>
                  <a:srgbClr val="224FFF"/>
                </a:solidFill>
                <a:effectLst/>
                <a:latin typeface="+mn-lt"/>
                <a:cs typeface="Times New Roman" pitchFamily="18" charset="0"/>
              </a:rPr>
              <a:t>for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 i:= 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FF0032"/>
                </a:solidFill>
                <a:effectLst/>
                <a:latin typeface="+mn-lt"/>
                <a:cs typeface="Times New Roman" pitchFamily="18" charset="0"/>
              </a:rPr>
              <a:t>1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 </a:t>
            </a:r>
            <a:r>
              <a:rPr kumimoji="0" lang="es-AR" altLang="es-AR" b="1" i="0" u="none" strike="noStrike" cap="none" normalizeH="0" baseline="0" dirty="0" smtClean="0">
                <a:ln>
                  <a:noFill/>
                </a:ln>
                <a:solidFill>
                  <a:srgbClr val="224FFF"/>
                </a:solidFill>
                <a:effectLst/>
                <a:latin typeface="+mn-lt"/>
                <a:cs typeface="Times New Roman" pitchFamily="18" charset="0"/>
              </a:rPr>
              <a:t>to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 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FF0032"/>
                </a:solidFill>
                <a:effectLst/>
                <a:latin typeface="+mn-lt"/>
                <a:cs typeface="Times New Roman" pitchFamily="18" charset="0"/>
              </a:rPr>
              <a:t>10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 </a:t>
            </a:r>
            <a:r>
              <a:rPr kumimoji="0" lang="es-AR" altLang="es-AR" b="1" i="0" u="none" strike="noStrike" cap="none" normalizeH="0" baseline="0" dirty="0" smtClean="0">
                <a:ln>
                  <a:noFill/>
                </a:ln>
                <a:solidFill>
                  <a:srgbClr val="224FFF"/>
                </a:solidFill>
                <a:effectLst/>
                <a:latin typeface="+mn-lt"/>
                <a:cs typeface="Times New Roman" pitchFamily="18" charset="0"/>
              </a:rPr>
              <a:t>do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 smtClean="0">
                <a:ln>
                  <a:noFill/>
                </a:ln>
                <a:solidFill>
                  <a:srgbClr val="224FFF"/>
                </a:solidFill>
                <a:effectLst/>
                <a:latin typeface="+mn-lt"/>
                <a:cs typeface="Times New Roman" pitchFamily="18" charset="0"/>
              </a:rPr>
              <a:t>        </a:t>
            </a:r>
            <a:r>
              <a:rPr kumimoji="0" lang="es-AR" altLang="es-AR" b="1" i="0" u="none" strike="noStrike" cap="none" normalizeH="0" baseline="0" dirty="0" err="1" smtClean="0">
                <a:ln>
                  <a:noFill/>
                </a:ln>
                <a:solidFill>
                  <a:srgbClr val="224FFF"/>
                </a:solidFill>
                <a:effectLst/>
                <a:latin typeface="+mn-lt"/>
                <a:cs typeface="Times New Roman" pitchFamily="18" charset="0"/>
              </a:rPr>
              <a:t>WriteLn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(base: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FF0032"/>
                </a:solidFill>
                <a:effectLst/>
                <a:latin typeface="+mn-lt"/>
                <a:cs typeface="Times New Roman" pitchFamily="18" charset="0"/>
              </a:rPr>
              <a:t>6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: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FF0032"/>
                </a:solidFill>
                <a:effectLst/>
                <a:latin typeface="+mn-lt"/>
                <a:cs typeface="Times New Roman" pitchFamily="18" charset="0"/>
              </a:rPr>
              <a:t>2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, 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B86B"/>
                </a:solidFill>
                <a:effectLst/>
                <a:latin typeface="+mn-lt"/>
                <a:cs typeface="Times New Roman" pitchFamily="18" charset="0"/>
              </a:rPr>
              <a:t>'^'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, i: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FF0032"/>
                </a:solidFill>
                <a:effectLst/>
                <a:latin typeface="+mn-lt"/>
                <a:cs typeface="Times New Roman" pitchFamily="18" charset="0"/>
              </a:rPr>
              <a:t>2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, 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B86B"/>
                </a:solidFill>
                <a:effectLst/>
                <a:latin typeface="+mn-lt"/>
                <a:cs typeface="Times New Roman" pitchFamily="18" charset="0"/>
              </a:rPr>
              <a:t>'='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, potencia(</a:t>
            </a:r>
            <a:r>
              <a:rPr kumimoji="0" lang="es-AR" altLang="es-AR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base,i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):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FF0032"/>
                </a:solidFill>
                <a:effectLst/>
                <a:latin typeface="+mn-lt"/>
                <a:cs typeface="Times New Roman" pitchFamily="18" charset="0"/>
              </a:rPr>
              <a:t>10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: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FF0032"/>
                </a:solidFill>
                <a:effectLst/>
                <a:latin typeface="+mn-lt"/>
                <a:cs typeface="Times New Roman" pitchFamily="18" charset="0"/>
              </a:rPr>
              <a:t>2</a:t>
            </a:r>
            <a:r>
              <a:rPr kumimoji="0" lang="es-AR" altLang="es-A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itchFamily="18" charset="0"/>
              </a:rPr>
              <a:t>);</a:t>
            </a:r>
            <a:endParaRPr kumimoji="0" lang="es-AR" altLang="es-A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883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Procedimientos</a:t>
            </a:r>
            <a:endParaRPr lang="es-ES" b="1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ES" dirty="0" smtClean="0"/>
              <a:t>Los </a:t>
            </a:r>
            <a:r>
              <a:rPr lang="es-ES" dirty="0"/>
              <a:t>procedimientos no retornan un valor en su nombre.</a:t>
            </a:r>
          </a:p>
          <a:p>
            <a:r>
              <a:rPr lang="es-ES" dirty="0"/>
              <a:t>Se invocan como una </a:t>
            </a:r>
            <a:r>
              <a:rPr lang="es-ES" dirty="0" smtClean="0"/>
              <a:t>instrucción </a:t>
            </a:r>
            <a:r>
              <a:rPr lang="es-ES" dirty="0"/>
              <a:t>independiente.</a:t>
            </a:r>
          </a:p>
          <a:p>
            <a:r>
              <a:rPr lang="es-ES" dirty="0"/>
              <a:t>Solo pueden retornar valores en sus </a:t>
            </a:r>
            <a:r>
              <a:rPr lang="es-ES" dirty="0" smtClean="0"/>
              <a:t>parámetros </a:t>
            </a:r>
            <a:r>
              <a:rPr lang="es-ES" dirty="0"/>
              <a:t>(por referencia).</a:t>
            </a:r>
          </a:p>
          <a:p>
            <a:r>
              <a:rPr lang="es-ES" dirty="0"/>
              <a:t>El encabezado de un </a:t>
            </a:r>
            <a:r>
              <a:rPr lang="es-ES" dirty="0" err="1"/>
              <a:t>procemiento</a:t>
            </a:r>
            <a:r>
              <a:rPr lang="es-ES" dirty="0"/>
              <a:t> tiene esta forma:</a:t>
            </a:r>
          </a:p>
          <a:p>
            <a:r>
              <a:rPr lang="es-ES" b="1" dirty="0" err="1"/>
              <a:t>procedure</a:t>
            </a:r>
            <a:r>
              <a:rPr lang="es-ES" dirty="0"/>
              <a:t> nombre ( </a:t>
            </a:r>
            <a:r>
              <a:rPr lang="es-ES" dirty="0" err="1"/>
              <a:t>parametros</a:t>
            </a:r>
            <a:r>
              <a:rPr lang="es-ES" dirty="0"/>
              <a:t> ... ); </a:t>
            </a:r>
          </a:p>
        </p:txBody>
      </p:sp>
    </p:spTree>
    <p:extLst>
      <p:ext uri="{BB962C8B-B14F-4D97-AF65-F5344CB8AC3E}">
        <p14:creationId xmlns:p14="http://schemas.microsoft.com/office/powerpoint/2010/main" val="31833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018"/>
          </a:xfrm>
        </p:spPr>
        <p:txBody>
          <a:bodyPr>
            <a:normAutofit fontScale="90000"/>
          </a:bodyPr>
          <a:lstStyle/>
          <a:p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9766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b="1" dirty="0" err="1"/>
              <a:t>Function</a:t>
            </a:r>
            <a:r>
              <a:rPr lang="es-ES" b="1" dirty="0"/>
              <a:t> resto (</a:t>
            </a:r>
            <a:r>
              <a:rPr lang="es-ES" b="1" dirty="0" err="1"/>
              <a:t>dividendo:integer,divisor:integer</a:t>
            </a:r>
            <a:r>
              <a:rPr lang="es-ES" b="1" dirty="0"/>
              <a:t>), </a:t>
            </a:r>
            <a:r>
              <a:rPr lang="es-ES" b="1" dirty="0" err="1"/>
              <a:t>integer</a:t>
            </a:r>
            <a:r>
              <a:rPr lang="es-ES" b="1" dirty="0"/>
              <a:t>;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Begin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IF divisor = 0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  resto:= 0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</a:t>
            </a:r>
            <a:r>
              <a:rPr lang="es-ES" b="1" dirty="0" err="1"/>
              <a:t>else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  resto:= dividendo-((dividendo/divisor)*divisor);</a:t>
            </a:r>
            <a:endParaRPr lang="es-AR" dirty="0"/>
          </a:p>
          <a:p>
            <a:pPr marL="0" indent="0">
              <a:buNone/>
            </a:pPr>
            <a:r>
              <a:rPr lang="es-ES" b="1" dirty="0" err="1"/>
              <a:t>End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 </a:t>
            </a:r>
            <a:endParaRPr lang="es-AR" dirty="0"/>
          </a:p>
          <a:p>
            <a:pPr marL="0" indent="0">
              <a:buNone/>
            </a:pPr>
            <a:r>
              <a:rPr lang="es-ES" b="1" dirty="0" err="1"/>
              <a:t>Function</a:t>
            </a:r>
            <a:r>
              <a:rPr lang="es-ES" b="1" dirty="0"/>
              <a:t> resto2 (</a:t>
            </a:r>
            <a:r>
              <a:rPr lang="es-ES" b="1" dirty="0" err="1"/>
              <a:t>dividendo:integer,divisor:integer</a:t>
            </a:r>
            <a:r>
              <a:rPr lang="es-ES" b="1" dirty="0"/>
              <a:t>), </a:t>
            </a:r>
            <a:r>
              <a:rPr lang="es-ES" b="1" dirty="0" err="1"/>
              <a:t>integer</a:t>
            </a:r>
            <a:r>
              <a:rPr lang="es-ES" b="1" dirty="0"/>
              <a:t>;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Begin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IF divisor = 0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  resto2:= 0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</a:t>
            </a:r>
            <a:r>
              <a:rPr lang="es-ES" b="1" dirty="0" err="1"/>
              <a:t>Else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  </a:t>
            </a:r>
            <a:r>
              <a:rPr lang="es-ES" b="1" dirty="0" err="1"/>
              <a:t>begin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  resto2:=dividendo;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  </a:t>
            </a:r>
            <a:r>
              <a:rPr lang="es-ES" b="1" dirty="0" err="1"/>
              <a:t>while</a:t>
            </a:r>
            <a:r>
              <a:rPr lang="es-ES" b="1" dirty="0"/>
              <a:t> (resto2&gt;divisor) do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        resto2:= resto2-divisor;</a:t>
            </a:r>
            <a:endParaRPr lang="es-AR" dirty="0"/>
          </a:p>
          <a:p>
            <a:pPr marL="0" indent="0">
              <a:buNone/>
            </a:pPr>
            <a:r>
              <a:rPr lang="es-ES" b="1" dirty="0"/>
              <a:t>         </a:t>
            </a:r>
            <a:r>
              <a:rPr lang="es-ES" b="1" dirty="0" err="1"/>
              <a:t>end</a:t>
            </a:r>
            <a:r>
              <a:rPr lang="es-ES" b="1" dirty="0"/>
              <a:t>;</a:t>
            </a:r>
            <a:endParaRPr lang="es-AR" dirty="0"/>
          </a:p>
          <a:p>
            <a:pPr marL="0" indent="0">
              <a:buNone/>
            </a:pPr>
            <a:r>
              <a:rPr lang="es-ES" b="1" dirty="0" err="1"/>
              <a:t>End</a:t>
            </a: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5131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E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Ejemplo. Procedimiento de entrada</a:t>
            </a:r>
          </a:p>
          <a:p>
            <a:pPr marL="0" indent="0">
              <a:buNone/>
            </a:pPr>
            <a:r>
              <a:rPr lang="es-ES" dirty="0" smtClean="0"/>
              <a:t>Leer un arreglo.</a:t>
            </a:r>
            <a:endParaRPr lang="es-ES" sz="3400" dirty="0" smtClean="0"/>
          </a:p>
          <a:p>
            <a:pPr marL="0" indent="0">
              <a:buNone/>
            </a:pPr>
            <a:r>
              <a:rPr lang="es-ES" sz="3400" b="1" dirty="0" err="1" smtClean="0"/>
              <a:t>procedure</a:t>
            </a:r>
            <a:r>
              <a:rPr lang="es-ES" sz="3400" dirty="0" smtClean="0"/>
              <a:t> </a:t>
            </a:r>
            <a:r>
              <a:rPr lang="es-ES" sz="3400" dirty="0" err="1" smtClean="0"/>
              <a:t>LeerArreglo</a:t>
            </a:r>
            <a:r>
              <a:rPr lang="es-ES" sz="3400" dirty="0" smtClean="0"/>
              <a:t>(</a:t>
            </a:r>
            <a:r>
              <a:rPr lang="es-ES" sz="3400" b="1" dirty="0" err="1" smtClean="0"/>
              <a:t>var</a:t>
            </a:r>
            <a:r>
              <a:rPr lang="es-ES" sz="3400" dirty="0" smtClean="0"/>
              <a:t> A: arreglo);</a:t>
            </a:r>
          </a:p>
          <a:p>
            <a:pPr marL="0" indent="0">
              <a:buNone/>
            </a:pPr>
            <a:r>
              <a:rPr lang="es-ES" sz="3400" dirty="0" smtClean="0"/>
              <a:t> </a:t>
            </a:r>
            <a:r>
              <a:rPr lang="es-ES" sz="3400" b="1" dirty="0" err="1" smtClean="0"/>
              <a:t>var</a:t>
            </a:r>
            <a:r>
              <a:rPr lang="es-ES" sz="3400" dirty="0" smtClean="0"/>
              <a:t> i: </a:t>
            </a:r>
            <a:r>
              <a:rPr lang="es-ES" sz="3400" b="1" dirty="0" err="1" smtClean="0"/>
              <a:t>integer</a:t>
            </a:r>
            <a:r>
              <a:rPr lang="es-ES" sz="3400" dirty="0" smtClean="0"/>
              <a:t>;</a:t>
            </a:r>
          </a:p>
          <a:p>
            <a:pPr marL="0" indent="0">
              <a:buNone/>
            </a:pPr>
            <a:r>
              <a:rPr lang="es-ES" sz="3400" dirty="0" smtClean="0"/>
              <a:t> </a:t>
            </a:r>
            <a:r>
              <a:rPr lang="es-ES" sz="3400" b="1" dirty="0" err="1" smtClean="0"/>
              <a:t>begin</a:t>
            </a:r>
            <a:endParaRPr lang="es-ES" sz="3400" b="1" dirty="0" smtClean="0"/>
          </a:p>
          <a:p>
            <a:pPr marL="0" indent="0">
              <a:buNone/>
            </a:pPr>
            <a:r>
              <a:rPr lang="es-ES" sz="3400" b="1" dirty="0"/>
              <a:t> </a:t>
            </a:r>
            <a:r>
              <a:rPr lang="es-ES" sz="3400" b="1" dirty="0" smtClean="0"/>
              <a:t>   </a:t>
            </a:r>
            <a:r>
              <a:rPr lang="es-ES" sz="3400" dirty="0" smtClean="0"/>
              <a:t> </a:t>
            </a:r>
            <a:r>
              <a:rPr lang="es-ES" sz="3400" b="1" dirty="0" err="1" smtClean="0"/>
              <a:t>for</a:t>
            </a:r>
            <a:r>
              <a:rPr lang="es-ES" sz="3400" dirty="0" smtClean="0"/>
              <a:t> i:= 1 </a:t>
            </a:r>
            <a:r>
              <a:rPr lang="es-ES" sz="3400" b="1" dirty="0" smtClean="0"/>
              <a:t>to</a:t>
            </a:r>
            <a:r>
              <a:rPr lang="es-ES" sz="3400" dirty="0" smtClean="0"/>
              <a:t> N </a:t>
            </a:r>
            <a:r>
              <a:rPr lang="es-ES" sz="3400" b="1" dirty="0" smtClean="0"/>
              <a:t>do</a:t>
            </a:r>
          </a:p>
          <a:p>
            <a:pPr marL="0" indent="0">
              <a:buNone/>
            </a:pPr>
            <a:r>
              <a:rPr lang="es-ES" sz="3400" b="1" dirty="0"/>
              <a:t> </a:t>
            </a:r>
            <a:r>
              <a:rPr lang="es-ES" sz="3400" b="1" dirty="0" smtClean="0"/>
              <a:t>   </a:t>
            </a:r>
            <a:r>
              <a:rPr lang="es-ES" sz="3400" dirty="0" smtClean="0"/>
              <a:t> </a:t>
            </a:r>
            <a:r>
              <a:rPr lang="es-ES" sz="3400" b="1" dirty="0" err="1" smtClean="0"/>
              <a:t>begin</a:t>
            </a:r>
            <a:endParaRPr lang="es-ES" sz="3400" b="1" dirty="0" smtClean="0"/>
          </a:p>
          <a:p>
            <a:pPr marL="0" indent="0">
              <a:buNone/>
            </a:pPr>
            <a:r>
              <a:rPr lang="es-ES" sz="3400" b="1" dirty="0"/>
              <a:t> </a:t>
            </a:r>
            <a:r>
              <a:rPr lang="es-ES" sz="3400" b="1" dirty="0" smtClean="0"/>
              <a:t>        </a:t>
            </a:r>
            <a:r>
              <a:rPr lang="es-ES" sz="3400" dirty="0" smtClean="0"/>
              <a:t> </a:t>
            </a:r>
            <a:r>
              <a:rPr lang="es-ES" sz="3400" b="1" dirty="0" err="1" smtClean="0"/>
              <a:t>Write</a:t>
            </a:r>
            <a:r>
              <a:rPr lang="es-ES" sz="3400" dirty="0" smtClean="0"/>
              <a:t>('Ingrese celda ',i,': ');</a:t>
            </a:r>
          </a:p>
          <a:p>
            <a:pPr marL="0" indent="0">
              <a:buNone/>
            </a:pPr>
            <a:r>
              <a:rPr lang="es-ES" sz="3400" dirty="0"/>
              <a:t> </a:t>
            </a:r>
            <a:r>
              <a:rPr lang="es-ES" sz="3400" dirty="0" smtClean="0"/>
              <a:t>         </a:t>
            </a:r>
            <a:r>
              <a:rPr lang="es-ES" sz="3400" b="1" dirty="0" err="1" smtClean="0"/>
              <a:t>ReadLn</a:t>
            </a:r>
            <a:r>
              <a:rPr lang="es-ES" sz="3400" dirty="0" smtClean="0"/>
              <a:t>(A[i]);</a:t>
            </a:r>
          </a:p>
          <a:p>
            <a:pPr marL="0" indent="0">
              <a:buNone/>
            </a:pPr>
            <a:r>
              <a:rPr lang="es-ES" sz="3400" dirty="0"/>
              <a:t> </a:t>
            </a:r>
            <a:r>
              <a:rPr lang="es-ES" sz="3400" dirty="0" smtClean="0"/>
              <a:t>    </a:t>
            </a:r>
            <a:r>
              <a:rPr lang="es-ES" sz="3400" b="1" dirty="0" err="1" smtClean="0"/>
              <a:t>end</a:t>
            </a:r>
            <a:r>
              <a:rPr lang="es-ES" sz="3400" dirty="0" smtClean="0"/>
              <a:t>; </a:t>
            </a:r>
          </a:p>
          <a:p>
            <a:pPr marL="0" indent="0">
              <a:buNone/>
            </a:pPr>
            <a:r>
              <a:rPr lang="es-ES" sz="3400" b="1" dirty="0" err="1" smtClean="0"/>
              <a:t>end</a:t>
            </a:r>
            <a:r>
              <a:rPr lang="es-ES" sz="3400" dirty="0" smtClean="0"/>
              <a:t>; </a:t>
            </a:r>
          </a:p>
          <a:p>
            <a:r>
              <a:rPr lang="es-ES" sz="3400" dirty="0" smtClean="0"/>
              <a:t>Notar la utilización de </a:t>
            </a:r>
            <a:r>
              <a:rPr lang="es-ES" sz="3400" b="1" dirty="0" err="1" smtClean="0"/>
              <a:t>var</a:t>
            </a:r>
            <a:endParaRPr lang="es-ES" sz="3400" dirty="0" smtClean="0"/>
          </a:p>
        </p:txBody>
      </p:sp>
    </p:spTree>
    <p:extLst>
      <p:ext uri="{BB962C8B-B14F-4D97-AF65-F5344CB8AC3E}">
        <p14:creationId xmlns:p14="http://schemas.microsoft.com/office/powerpoint/2010/main" val="67946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E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Ejemplo. Procedimiento de salida</a:t>
            </a:r>
          </a:p>
          <a:p>
            <a:pPr marL="0" indent="0">
              <a:buNone/>
            </a:pPr>
            <a:r>
              <a:rPr lang="es-ES" dirty="0" smtClean="0"/>
              <a:t>Mostrar un arreglo.</a:t>
            </a:r>
          </a:p>
          <a:p>
            <a:pPr marL="0" indent="0">
              <a:buNone/>
            </a:pPr>
            <a:r>
              <a:rPr lang="es-ES" b="1" dirty="0" err="1" smtClean="0"/>
              <a:t>procedure</a:t>
            </a:r>
            <a:r>
              <a:rPr lang="es-ES" dirty="0" smtClean="0"/>
              <a:t> </a:t>
            </a:r>
            <a:r>
              <a:rPr lang="es-ES" dirty="0" err="1" smtClean="0"/>
              <a:t>MostrarArreglo</a:t>
            </a:r>
            <a:r>
              <a:rPr lang="es-ES" dirty="0" smtClean="0"/>
              <a:t>(A: arreglo);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err="1" smtClean="0"/>
              <a:t>var</a:t>
            </a:r>
            <a:r>
              <a:rPr lang="es-ES" dirty="0" smtClean="0"/>
              <a:t> 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     i : </a:t>
            </a:r>
            <a:r>
              <a:rPr lang="es-ES" b="1" dirty="0" err="1" smtClean="0"/>
              <a:t>integer</a:t>
            </a:r>
            <a:r>
              <a:rPr lang="es-ES" dirty="0" smtClean="0"/>
              <a:t>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err="1" smtClean="0"/>
              <a:t>begin</a:t>
            </a:r>
            <a:endParaRPr lang="es-ES" b="1" dirty="0" smtClean="0"/>
          </a:p>
          <a:p>
            <a:pPr marL="0" indent="0">
              <a:buNone/>
            </a:pPr>
            <a:r>
              <a:rPr lang="es-ES" b="1" dirty="0"/>
              <a:t> </a:t>
            </a:r>
            <a:r>
              <a:rPr lang="es-ES" b="1" dirty="0" smtClean="0"/>
              <a:t>    </a:t>
            </a:r>
            <a:r>
              <a:rPr lang="es-ES" dirty="0" smtClean="0"/>
              <a:t> </a:t>
            </a:r>
            <a:r>
              <a:rPr lang="es-ES" b="1" dirty="0" err="1" smtClean="0"/>
              <a:t>for</a:t>
            </a:r>
            <a:r>
              <a:rPr lang="es-ES" dirty="0" smtClean="0"/>
              <a:t> i:= 1 </a:t>
            </a:r>
            <a:r>
              <a:rPr lang="es-ES" b="1" dirty="0" smtClean="0"/>
              <a:t>to</a:t>
            </a:r>
            <a:r>
              <a:rPr lang="es-ES" dirty="0" smtClean="0"/>
              <a:t> N </a:t>
            </a:r>
            <a:r>
              <a:rPr lang="es-ES" b="1" dirty="0" smtClean="0"/>
              <a:t>do</a:t>
            </a:r>
          </a:p>
          <a:p>
            <a:pPr marL="0" indent="0">
              <a:buNone/>
            </a:pPr>
            <a:r>
              <a:rPr lang="es-ES" b="1" dirty="0"/>
              <a:t> </a:t>
            </a:r>
            <a:r>
              <a:rPr lang="es-ES" b="1" dirty="0" smtClean="0"/>
              <a:t>          </a:t>
            </a:r>
            <a:r>
              <a:rPr lang="es-ES" dirty="0" smtClean="0"/>
              <a:t> </a:t>
            </a:r>
            <a:r>
              <a:rPr lang="es-ES" b="1" dirty="0" err="1" smtClean="0"/>
              <a:t>WriteLn</a:t>
            </a:r>
            <a:r>
              <a:rPr lang="es-ES" dirty="0" smtClean="0"/>
              <a:t>(i,'--&gt;',A[i]);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err="1" smtClean="0"/>
              <a:t>end</a:t>
            </a:r>
            <a:r>
              <a:rPr lang="es-ES" dirty="0" smtClean="0"/>
              <a:t>; </a:t>
            </a:r>
          </a:p>
          <a:p>
            <a:r>
              <a:rPr lang="es-ES" dirty="0" smtClean="0"/>
              <a:t>Notar que no utilizamos </a:t>
            </a:r>
            <a:r>
              <a:rPr lang="es-ES" b="1" dirty="0" err="1" smtClean="0"/>
              <a:t>var</a:t>
            </a:r>
            <a:endParaRPr lang="es-ES" dirty="0" smtClean="0"/>
          </a:p>
          <a:p>
            <a:pPr marL="0" indent="0">
              <a:buNone/>
            </a:pPr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5759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E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Ejemplo. Intercambio de variables</a:t>
            </a:r>
          </a:p>
          <a:p>
            <a:pPr marL="0" indent="0">
              <a:buNone/>
            </a:pPr>
            <a:r>
              <a:rPr lang="es-ES" i="1" dirty="0" smtClean="0"/>
              <a:t>(* el tipo T es cualquiera *)</a:t>
            </a:r>
          </a:p>
          <a:p>
            <a:pPr marL="0" indent="0">
              <a:buNone/>
            </a:pPr>
            <a:r>
              <a:rPr lang="es-ES" b="1" dirty="0" err="1" smtClean="0"/>
              <a:t>procedure</a:t>
            </a:r>
            <a:r>
              <a:rPr lang="es-ES" dirty="0" smtClean="0"/>
              <a:t> intercambio(</a:t>
            </a:r>
            <a:r>
              <a:rPr lang="es-ES" b="1" dirty="0" err="1" smtClean="0"/>
              <a:t>var</a:t>
            </a:r>
            <a:r>
              <a:rPr lang="es-ES" dirty="0" smtClean="0"/>
              <a:t> </a:t>
            </a:r>
            <a:r>
              <a:rPr lang="es-ES" dirty="0" err="1" smtClean="0"/>
              <a:t>a,b</a:t>
            </a:r>
            <a:r>
              <a:rPr lang="es-ES" dirty="0" smtClean="0"/>
              <a:t>: T);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err="1" smtClean="0"/>
              <a:t>var</a:t>
            </a:r>
            <a:endParaRPr lang="es-ES" b="1" dirty="0" smtClean="0"/>
          </a:p>
          <a:p>
            <a:pPr marL="0" indent="0">
              <a:buNone/>
            </a:pPr>
            <a:r>
              <a:rPr lang="es-ES" b="1" dirty="0"/>
              <a:t> </a:t>
            </a:r>
            <a:r>
              <a:rPr lang="es-ES" b="1" dirty="0" smtClean="0"/>
              <a:t>     </a:t>
            </a:r>
            <a:r>
              <a:rPr lang="es-ES" dirty="0" smtClean="0"/>
              <a:t> </a:t>
            </a:r>
            <a:r>
              <a:rPr lang="es-ES" dirty="0" err="1" smtClean="0"/>
              <a:t>aux</a:t>
            </a:r>
            <a:r>
              <a:rPr lang="es-ES" dirty="0" smtClean="0"/>
              <a:t>: T;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err="1" smtClean="0"/>
              <a:t>begin</a:t>
            </a:r>
            <a:endParaRPr lang="es-ES" b="1" dirty="0" smtClean="0"/>
          </a:p>
          <a:p>
            <a:pPr marL="0" indent="0">
              <a:buNone/>
            </a:pPr>
            <a:r>
              <a:rPr lang="es-ES" b="1" dirty="0"/>
              <a:t> </a:t>
            </a:r>
            <a:r>
              <a:rPr lang="es-ES" b="1" dirty="0" smtClean="0"/>
              <a:t>    </a:t>
            </a:r>
            <a:r>
              <a:rPr lang="es-ES" dirty="0" smtClean="0"/>
              <a:t> </a:t>
            </a:r>
            <a:r>
              <a:rPr lang="es-ES" dirty="0" err="1" smtClean="0"/>
              <a:t>aux</a:t>
            </a:r>
            <a:r>
              <a:rPr lang="es-ES" dirty="0" smtClean="0"/>
              <a:t>:= b;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     b:= a;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     a:= </a:t>
            </a:r>
            <a:r>
              <a:rPr lang="es-ES" dirty="0" err="1" smtClean="0"/>
              <a:t>aux</a:t>
            </a:r>
            <a:r>
              <a:rPr lang="es-ES" dirty="0" smtClean="0"/>
              <a:t>;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err="1" smtClean="0"/>
              <a:t>end</a:t>
            </a:r>
            <a:r>
              <a:rPr lang="es-ES" dirty="0" smtClean="0"/>
              <a:t>; </a:t>
            </a:r>
          </a:p>
          <a:p>
            <a:r>
              <a:rPr lang="es-ES" dirty="0" smtClean="0"/>
              <a:t>Notar la utilización de </a:t>
            </a:r>
            <a:r>
              <a:rPr lang="es-ES" b="1" dirty="0" err="1" smtClean="0"/>
              <a:t>var</a:t>
            </a:r>
            <a:r>
              <a:rPr lang="es-ES" dirty="0" smtClean="0"/>
              <a:t> en ambos parámetros.</a:t>
            </a:r>
          </a:p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171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600200"/>
            <a:ext cx="8856984" cy="4525963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s-E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Ejemplo. Modificar un arreglo</a:t>
            </a:r>
          </a:p>
          <a:p>
            <a:pPr marL="0" indent="0" algn="ctr">
              <a:buNone/>
            </a:pPr>
            <a:endParaRPr lang="es-ES" b="1" dirty="0" smtClean="0"/>
          </a:p>
          <a:p>
            <a:r>
              <a:rPr lang="es-ES" dirty="0" smtClean="0"/>
              <a:t>Sumar algo a todos los elementos.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 err="1" smtClean="0"/>
              <a:t>procedure</a:t>
            </a:r>
            <a:r>
              <a:rPr lang="es-ES" dirty="0" smtClean="0"/>
              <a:t> </a:t>
            </a:r>
            <a:r>
              <a:rPr lang="es-ES" dirty="0" err="1" smtClean="0"/>
              <a:t>SumarATodos</a:t>
            </a:r>
            <a:r>
              <a:rPr lang="es-ES" dirty="0" smtClean="0"/>
              <a:t>(incremento: </a:t>
            </a:r>
            <a:r>
              <a:rPr lang="es-ES" b="1" dirty="0" err="1" smtClean="0"/>
              <a:t>integer</a:t>
            </a:r>
            <a:r>
              <a:rPr lang="es-ES" dirty="0" smtClean="0"/>
              <a:t>; </a:t>
            </a:r>
            <a:r>
              <a:rPr lang="es-ES" b="1" dirty="0" err="1" smtClean="0"/>
              <a:t>var</a:t>
            </a:r>
            <a:r>
              <a:rPr lang="es-ES" dirty="0" smtClean="0"/>
              <a:t> A: arreglo);</a:t>
            </a:r>
          </a:p>
          <a:p>
            <a:pPr marL="0" indent="0">
              <a:buNone/>
            </a:pPr>
            <a:r>
              <a:rPr lang="es-ES" b="1" dirty="0" err="1" smtClean="0"/>
              <a:t>var</a:t>
            </a:r>
            <a:r>
              <a:rPr lang="es-ES" dirty="0" smtClean="0"/>
              <a:t> i : </a:t>
            </a:r>
            <a:r>
              <a:rPr lang="es-ES" b="1" dirty="0" err="1" smtClean="0"/>
              <a:t>integer</a:t>
            </a:r>
            <a:r>
              <a:rPr lang="es-ES" dirty="0" smtClean="0"/>
              <a:t>;</a:t>
            </a:r>
          </a:p>
          <a:p>
            <a:pPr marL="0" indent="0">
              <a:buNone/>
            </a:pPr>
            <a:r>
              <a:rPr lang="es-ES" b="1" dirty="0" err="1" smtClean="0"/>
              <a:t>begin</a:t>
            </a:r>
            <a:endParaRPr lang="es-ES" b="1" dirty="0" smtClean="0"/>
          </a:p>
          <a:p>
            <a:pPr marL="0" indent="0">
              <a:buNone/>
            </a:pPr>
            <a:r>
              <a:rPr lang="es-ES" b="1" dirty="0"/>
              <a:t> </a:t>
            </a:r>
            <a:r>
              <a:rPr lang="es-ES" b="1" dirty="0" smtClean="0"/>
              <a:t>   </a:t>
            </a:r>
            <a:r>
              <a:rPr lang="es-ES" b="1" dirty="0" err="1" smtClean="0"/>
              <a:t>for</a:t>
            </a:r>
            <a:r>
              <a:rPr lang="es-ES" dirty="0" smtClean="0"/>
              <a:t> i:= 1 </a:t>
            </a:r>
            <a:r>
              <a:rPr lang="es-ES" b="1" dirty="0" smtClean="0"/>
              <a:t>to</a:t>
            </a:r>
            <a:r>
              <a:rPr lang="es-ES" dirty="0" smtClean="0"/>
              <a:t> N </a:t>
            </a:r>
            <a:r>
              <a:rPr lang="es-ES" b="1" dirty="0" smtClean="0"/>
              <a:t>do</a:t>
            </a:r>
          </a:p>
          <a:p>
            <a:pPr marL="0" indent="0">
              <a:buNone/>
            </a:pPr>
            <a:r>
              <a:rPr lang="es-ES" b="1" dirty="0"/>
              <a:t> </a:t>
            </a:r>
            <a:r>
              <a:rPr lang="es-ES" b="1" dirty="0" smtClean="0"/>
              <a:t>        </a:t>
            </a:r>
            <a:r>
              <a:rPr lang="es-ES" dirty="0" smtClean="0"/>
              <a:t> A[i]:= A[i] + incremento;</a:t>
            </a:r>
          </a:p>
          <a:p>
            <a:pPr marL="0" indent="0">
              <a:buNone/>
            </a:pPr>
            <a:r>
              <a:rPr lang="es-ES" b="1" dirty="0" err="1" smtClean="0"/>
              <a:t>end</a:t>
            </a:r>
            <a:r>
              <a:rPr lang="es-ES" dirty="0" smtClean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243861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22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Recomendaciones de estilo.</a:t>
            </a:r>
          </a:p>
          <a:p>
            <a:pPr marL="0" indent="0" algn="ctr">
              <a:buNone/>
            </a:pPr>
            <a:endParaRPr lang="es-ES" sz="2200" b="1" u="sng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ES" sz="2200" dirty="0" smtClean="0"/>
              <a:t>Ubique sus procedimientos en alguna de las siguientes clases:</a:t>
            </a:r>
          </a:p>
          <a:p>
            <a:r>
              <a:rPr lang="es-ES" sz="2200" i="1" dirty="0" smtClean="0"/>
              <a:t>Salida</a:t>
            </a:r>
            <a:r>
              <a:rPr lang="es-ES" sz="2200" dirty="0" smtClean="0"/>
              <a:t>. Despliegan resultados en la salida. Estos procedimientos no hacen entrada. No tienen parámetros por referencia.</a:t>
            </a:r>
          </a:p>
          <a:p>
            <a:r>
              <a:rPr lang="es-ES" sz="2200" i="1" dirty="0" smtClean="0"/>
              <a:t>Entrada</a:t>
            </a:r>
            <a:r>
              <a:rPr lang="es-ES" sz="2200" dirty="0" smtClean="0"/>
              <a:t>. Ingresan datos desde la entrada y lo cargan en variables. No hacen salida, salvo para "pedir" los datos. Sus parámetros son por referencia.</a:t>
            </a:r>
          </a:p>
          <a:p>
            <a:r>
              <a:rPr lang="es-ES" sz="2200" i="1" dirty="0" smtClean="0"/>
              <a:t>Internos</a:t>
            </a:r>
            <a:r>
              <a:rPr lang="es-ES" sz="2200" dirty="0" smtClean="0"/>
              <a:t>. NO hacen entrada salida. Reciben datos del programa y retornan éstos modificados. Contienen los dos tipos de parámetros.</a:t>
            </a:r>
          </a:p>
          <a:p>
            <a:r>
              <a:rPr lang="es-ES" sz="2200" dirty="0" smtClean="0"/>
              <a:t>NO utilice variables globales. Todos los valores compartidos deben pasarse como parámetros.</a:t>
            </a:r>
          </a:p>
        </p:txBody>
      </p:sp>
    </p:spTree>
    <p:extLst>
      <p:ext uri="{BB962C8B-B14F-4D97-AF65-F5344CB8AC3E}">
        <p14:creationId xmlns:p14="http://schemas.microsoft.com/office/powerpoint/2010/main" val="181148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Pasaje de </a:t>
            </a:r>
            <a:r>
              <a:rPr lang="es-ES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parámetros</a:t>
            </a:r>
            <a:endParaRPr lang="es-E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ES" b="1" dirty="0" smtClean="0"/>
              <a:t>Por </a:t>
            </a:r>
            <a:r>
              <a:rPr lang="es-ES" b="1" dirty="0"/>
              <a:t>valor:</a:t>
            </a:r>
            <a:r>
              <a:rPr lang="es-ES" dirty="0"/>
              <a:t> Son los </a:t>
            </a:r>
            <a:r>
              <a:rPr lang="es-ES" dirty="0" smtClean="0"/>
              <a:t>parámetros</a:t>
            </a:r>
            <a:r>
              <a:rPr lang="es-ES" dirty="0"/>
              <a:t> </a:t>
            </a:r>
            <a:r>
              <a:rPr lang="es-ES" b="1" dirty="0"/>
              <a:t>no</a:t>
            </a:r>
            <a:r>
              <a:rPr lang="es-ES" dirty="0"/>
              <a:t> precedidos por </a:t>
            </a:r>
            <a:r>
              <a:rPr lang="es-ES" dirty="0" err="1" smtClean="0"/>
              <a:t>var</a:t>
            </a:r>
            <a:endParaRPr lang="es-ES" dirty="0" smtClean="0"/>
          </a:p>
          <a:p>
            <a:pPr lvl="1"/>
            <a:r>
              <a:rPr lang="es-ES" dirty="0" smtClean="0"/>
              <a:t>En </a:t>
            </a:r>
            <a:r>
              <a:rPr lang="es-ES" dirty="0"/>
              <a:t>el momento de la </a:t>
            </a:r>
            <a:r>
              <a:rPr lang="es-ES" dirty="0" smtClean="0"/>
              <a:t>invocación </a:t>
            </a:r>
            <a:r>
              <a:rPr lang="es-ES" dirty="0"/>
              <a:t>se realiza una copia de los valores de los </a:t>
            </a:r>
            <a:r>
              <a:rPr lang="es-ES" dirty="0" smtClean="0"/>
              <a:t>parámetros </a:t>
            </a:r>
            <a:r>
              <a:rPr lang="es-ES" dirty="0"/>
              <a:t>efectivos a l</a:t>
            </a:r>
            <a:r>
              <a:rPr lang="es-ES" dirty="0" smtClean="0"/>
              <a:t>os parámetros nominales.</a:t>
            </a:r>
          </a:p>
          <a:p>
            <a:pPr lvl="1"/>
            <a:r>
              <a:rPr lang="es-ES" dirty="0" smtClean="0"/>
              <a:t>Los parámetros </a:t>
            </a:r>
            <a:r>
              <a:rPr lang="es-ES" dirty="0"/>
              <a:t>efectivos pueden ser </a:t>
            </a:r>
            <a:r>
              <a:rPr lang="es-ES" i="1" dirty="0"/>
              <a:t>expresiones</a:t>
            </a:r>
            <a:endParaRPr lang="es-ES" dirty="0"/>
          </a:p>
          <a:p>
            <a:r>
              <a:rPr lang="es-ES" b="1" dirty="0" smtClean="0"/>
              <a:t>Pasaje </a:t>
            </a:r>
            <a:r>
              <a:rPr lang="es-ES" b="1" dirty="0"/>
              <a:t>por referencia:</a:t>
            </a:r>
            <a:r>
              <a:rPr lang="es-ES" dirty="0"/>
              <a:t> Son los </a:t>
            </a:r>
            <a:r>
              <a:rPr lang="es-ES" dirty="0" smtClean="0"/>
              <a:t>parámetros </a:t>
            </a:r>
            <a:r>
              <a:rPr lang="es-ES" dirty="0"/>
              <a:t>precedidos por </a:t>
            </a:r>
            <a:r>
              <a:rPr lang="es-ES" dirty="0" err="1" smtClean="0"/>
              <a:t>var</a:t>
            </a:r>
            <a:endParaRPr lang="es-ES" dirty="0" smtClean="0"/>
          </a:p>
          <a:p>
            <a:pPr lvl="1"/>
            <a:r>
              <a:rPr lang="es-ES" dirty="0" smtClean="0"/>
              <a:t>Los parámetros </a:t>
            </a:r>
            <a:r>
              <a:rPr lang="es-ES" dirty="0"/>
              <a:t>efectivos deben ser </a:t>
            </a:r>
            <a:r>
              <a:rPr lang="es-ES" b="1" dirty="0" smtClean="0"/>
              <a:t>variables</a:t>
            </a:r>
            <a:r>
              <a:rPr lang="es-ES" dirty="0" smtClean="0"/>
              <a:t>.</a:t>
            </a:r>
          </a:p>
          <a:p>
            <a:pPr lvl="1"/>
            <a:r>
              <a:rPr lang="es-ES" dirty="0" smtClean="0"/>
              <a:t>En </a:t>
            </a:r>
            <a:r>
              <a:rPr lang="es-ES" dirty="0"/>
              <a:t>el momento de la </a:t>
            </a:r>
            <a:r>
              <a:rPr lang="es-ES" dirty="0" smtClean="0"/>
              <a:t>invocación </a:t>
            </a:r>
            <a:r>
              <a:rPr lang="es-ES" dirty="0"/>
              <a:t>el </a:t>
            </a:r>
            <a:r>
              <a:rPr lang="es-ES" dirty="0" smtClean="0"/>
              <a:t>parámetro </a:t>
            </a:r>
            <a:r>
              <a:rPr lang="es-ES" dirty="0"/>
              <a:t>nominal comparte el mismo espacio de memoria que el </a:t>
            </a:r>
            <a:r>
              <a:rPr lang="es-ES" dirty="0" smtClean="0"/>
              <a:t>parámetro </a:t>
            </a:r>
            <a:r>
              <a:rPr lang="es-ES" dirty="0"/>
              <a:t>efectivo. (alias de variables</a:t>
            </a:r>
            <a:r>
              <a:rPr lang="es-ES" dirty="0" smtClean="0"/>
              <a:t>).</a:t>
            </a:r>
          </a:p>
          <a:p>
            <a:pPr lvl="1"/>
            <a:r>
              <a:rPr lang="es-ES" dirty="0" smtClean="0"/>
              <a:t>Toda modificación </a:t>
            </a:r>
            <a:r>
              <a:rPr lang="es-ES" dirty="0"/>
              <a:t>del </a:t>
            </a:r>
            <a:r>
              <a:rPr lang="es-ES" dirty="0" smtClean="0"/>
              <a:t>parámetro </a:t>
            </a:r>
            <a:r>
              <a:rPr lang="es-ES" dirty="0"/>
              <a:t>nominal se refleja en el </a:t>
            </a:r>
            <a:r>
              <a:rPr lang="es-ES" dirty="0" smtClean="0"/>
              <a:t>parámetro </a:t>
            </a:r>
            <a:r>
              <a:rPr lang="es-ES" dirty="0"/>
              <a:t>efectivo.</a:t>
            </a:r>
          </a:p>
          <a:p>
            <a:r>
              <a:rPr lang="es-ES" dirty="0"/>
              <a:t>En cambio, cuando el pasaje es por valor el </a:t>
            </a:r>
            <a:r>
              <a:rPr lang="es-ES" dirty="0" smtClean="0"/>
              <a:t>parámetro </a:t>
            </a:r>
            <a:r>
              <a:rPr lang="es-ES" dirty="0"/>
              <a:t>efectivo no sufre modificaciones.</a:t>
            </a:r>
          </a:p>
          <a:p>
            <a:r>
              <a:rPr lang="es-ES" dirty="0"/>
              <a:t>No recomendamos utilizar pasaje por referencia para </a:t>
            </a:r>
            <a:r>
              <a:rPr lang="es-ES" i="1" dirty="0"/>
              <a:t>funciones</a:t>
            </a:r>
            <a:r>
              <a:rPr lang="es-ES" dirty="0"/>
              <a:t>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5743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PROCEDIMIENTOS</a:t>
            </a:r>
          </a:p>
          <a:p>
            <a:r>
              <a:rPr lang="es-ES" dirty="0" smtClean="0"/>
              <a:t>Los </a:t>
            </a:r>
            <a:r>
              <a:rPr lang="es-ES" dirty="0"/>
              <a:t>procedimientos no retornan un valor en su nombre.</a:t>
            </a:r>
          </a:p>
          <a:p>
            <a:r>
              <a:rPr lang="es-ES" dirty="0"/>
              <a:t>Se invocan como una </a:t>
            </a:r>
            <a:r>
              <a:rPr lang="es-ES" dirty="0" smtClean="0"/>
              <a:t>instrucción </a:t>
            </a:r>
            <a:r>
              <a:rPr lang="es-ES" dirty="0"/>
              <a:t>independiente.</a:t>
            </a:r>
          </a:p>
          <a:p>
            <a:r>
              <a:rPr lang="es-ES" dirty="0"/>
              <a:t>Solo pueden retornar valores en sus </a:t>
            </a:r>
            <a:r>
              <a:rPr lang="es-ES" dirty="0" smtClean="0"/>
              <a:t>parámetros </a:t>
            </a:r>
            <a:r>
              <a:rPr lang="es-ES" dirty="0"/>
              <a:t>(por referencia).</a:t>
            </a:r>
          </a:p>
          <a:p>
            <a:r>
              <a:rPr lang="es-ES" dirty="0"/>
              <a:t>El encabezado de un </a:t>
            </a:r>
            <a:r>
              <a:rPr lang="es-ES" dirty="0" smtClean="0"/>
              <a:t>procedimiento </a:t>
            </a:r>
            <a:r>
              <a:rPr lang="es-ES" dirty="0"/>
              <a:t>tiene esta forma:</a:t>
            </a:r>
          </a:p>
          <a:p>
            <a:pPr marL="0" indent="0">
              <a:buNone/>
            </a:pPr>
            <a:r>
              <a:rPr lang="es-ES" b="1" dirty="0" smtClean="0"/>
              <a:t>	</a:t>
            </a:r>
            <a:r>
              <a:rPr lang="es-ES" b="1" dirty="0" err="1" smtClean="0"/>
              <a:t>procedure</a:t>
            </a:r>
            <a:r>
              <a:rPr lang="es-ES" dirty="0" smtClean="0"/>
              <a:t> </a:t>
            </a:r>
            <a:r>
              <a:rPr lang="es-ES" dirty="0"/>
              <a:t>nombre ( </a:t>
            </a:r>
            <a:r>
              <a:rPr lang="es-ES" dirty="0" err="1"/>
              <a:t>parametros</a:t>
            </a:r>
            <a:r>
              <a:rPr lang="es-ES" dirty="0"/>
              <a:t> ... ); 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533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AR" b="1" u="sng" dirty="0">
                <a:solidFill>
                  <a:srgbClr val="00B050"/>
                </a:solidFill>
              </a:rPr>
              <a:t>Encabezados</a:t>
            </a:r>
          </a:p>
          <a:p>
            <a:pPr marL="0" indent="0">
              <a:buNone/>
            </a:pPr>
            <a:r>
              <a:rPr lang="es-AR" dirty="0"/>
              <a:t>Todo bloque viene precedido de un encabezado:</a:t>
            </a:r>
          </a:p>
          <a:p>
            <a:r>
              <a:rPr lang="es-AR" dirty="0" smtClean="0"/>
              <a:t>Programa</a:t>
            </a:r>
          </a:p>
          <a:p>
            <a:pPr marL="0" indent="0">
              <a:buNone/>
            </a:pPr>
            <a:r>
              <a:rPr lang="es-AR" b="1" dirty="0"/>
              <a:t>	</a:t>
            </a:r>
            <a:r>
              <a:rPr lang="es-AR" b="1" dirty="0" err="1" smtClean="0"/>
              <a:t>program</a:t>
            </a:r>
            <a:r>
              <a:rPr lang="es-AR" dirty="0"/>
              <a:t> </a:t>
            </a:r>
            <a:r>
              <a:rPr lang="es-AR" i="1" dirty="0"/>
              <a:t>identificador</a:t>
            </a:r>
            <a:r>
              <a:rPr lang="es-AR" dirty="0"/>
              <a:t>;</a:t>
            </a:r>
          </a:p>
          <a:p>
            <a:r>
              <a:rPr lang="es-AR" dirty="0" smtClean="0"/>
              <a:t>Procedimientos</a:t>
            </a:r>
          </a:p>
          <a:p>
            <a:pPr marL="0" indent="0">
              <a:buNone/>
            </a:pPr>
            <a:r>
              <a:rPr lang="es-AR" b="1" dirty="0"/>
              <a:t>	</a:t>
            </a:r>
            <a:r>
              <a:rPr lang="es-AR" b="1" dirty="0" err="1" smtClean="0"/>
              <a:t>procedure</a:t>
            </a:r>
            <a:r>
              <a:rPr lang="es-AR" dirty="0"/>
              <a:t> </a:t>
            </a:r>
            <a:r>
              <a:rPr lang="es-AR" i="1" dirty="0"/>
              <a:t>nombre</a:t>
            </a:r>
            <a:r>
              <a:rPr lang="es-AR" dirty="0"/>
              <a:t>(</a:t>
            </a:r>
            <a:r>
              <a:rPr lang="es-AR" i="1" dirty="0" err="1"/>
              <a:t>parametros</a:t>
            </a:r>
            <a:r>
              <a:rPr lang="es-AR" dirty="0"/>
              <a:t> ...);</a:t>
            </a:r>
          </a:p>
          <a:p>
            <a:r>
              <a:rPr lang="es-AR" dirty="0" smtClean="0"/>
              <a:t>Funciones</a:t>
            </a:r>
          </a:p>
          <a:p>
            <a:pPr marL="0" indent="0">
              <a:buNone/>
            </a:pPr>
            <a:r>
              <a:rPr lang="es-AR" b="1" dirty="0"/>
              <a:t>	</a:t>
            </a:r>
            <a:r>
              <a:rPr lang="es-AR" b="1" dirty="0" err="1" smtClean="0"/>
              <a:t>function</a:t>
            </a:r>
            <a:r>
              <a:rPr lang="es-AR" dirty="0"/>
              <a:t> </a:t>
            </a:r>
            <a:r>
              <a:rPr lang="es-AR" i="1" dirty="0"/>
              <a:t>nombre</a:t>
            </a:r>
            <a:r>
              <a:rPr lang="es-AR" dirty="0"/>
              <a:t>(</a:t>
            </a:r>
            <a:r>
              <a:rPr lang="es-AR" i="1" dirty="0" err="1"/>
              <a:t>parametros</a:t>
            </a:r>
            <a:r>
              <a:rPr lang="es-AR" dirty="0"/>
              <a:t>...) : tipo;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5684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484784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AR" b="1" u="sng" dirty="0" smtClean="0">
                <a:solidFill>
                  <a:srgbClr val="00B050"/>
                </a:solidFill>
              </a:rPr>
              <a:t>Ejemplo</a:t>
            </a:r>
            <a:endParaRPr lang="es-AR" b="1" dirty="0" smtClean="0"/>
          </a:p>
          <a:p>
            <a:pPr marL="0" indent="0">
              <a:buNone/>
            </a:pPr>
            <a:endParaRPr lang="es-AR" b="1" dirty="0"/>
          </a:p>
          <a:p>
            <a:pPr marL="0" indent="0">
              <a:buNone/>
            </a:pPr>
            <a:r>
              <a:rPr lang="es-AR" b="1" dirty="0" err="1" smtClean="0"/>
              <a:t>program</a:t>
            </a:r>
            <a:r>
              <a:rPr lang="es-AR" dirty="0" smtClean="0"/>
              <a:t> triangulo; </a:t>
            </a:r>
          </a:p>
          <a:p>
            <a:pPr marL="0" indent="0">
              <a:buNone/>
            </a:pPr>
            <a:r>
              <a:rPr lang="es-AR" b="1" dirty="0" err="1" smtClean="0"/>
              <a:t>var</a:t>
            </a:r>
            <a:r>
              <a:rPr lang="es-AR" dirty="0" smtClean="0"/>
              <a:t> </a:t>
            </a:r>
          </a:p>
          <a:p>
            <a:pPr marL="0" indent="0">
              <a:buNone/>
            </a:pPr>
            <a:r>
              <a:rPr lang="es-AR" dirty="0" smtClean="0"/>
              <a:t>       </a:t>
            </a:r>
            <a:r>
              <a:rPr lang="es-AR" dirty="0" err="1" smtClean="0"/>
              <a:t>baset</a:t>
            </a:r>
            <a:r>
              <a:rPr lang="es-AR" dirty="0" smtClean="0"/>
              <a:t>,</a:t>
            </a:r>
          </a:p>
          <a:p>
            <a:pPr marL="0" indent="0">
              <a:buNone/>
            </a:pPr>
            <a:r>
              <a:rPr lang="es-AR" dirty="0"/>
              <a:t> </a:t>
            </a:r>
            <a:r>
              <a:rPr lang="es-AR" dirty="0" smtClean="0"/>
              <a:t>      </a:t>
            </a:r>
            <a:r>
              <a:rPr lang="es-AR" dirty="0" err="1" smtClean="0"/>
              <a:t>alturat</a:t>
            </a:r>
            <a:r>
              <a:rPr lang="es-AR" dirty="0" smtClean="0"/>
              <a:t>,</a:t>
            </a:r>
          </a:p>
          <a:p>
            <a:pPr marL="0" indent="0">
              <a:buNone/>
            </a:pPr>
            <a:r>
              <a:rPr lang="es-AR" dirty="0"/>
              <a:t> </a:t>
            </a:r>
            <a:r>
              <a:rPr lang="es-AR" dirty="0" smtClean="0"/>
              <a:t>      </a:t>
            </a:r>
            <a:r>
              <a:rPr lang="es-AR" dirty="0" err="1" smtClean="0"/>
              <a:t>areat</a:t>
            </a:r>
            <a:r>
              <a:rPr lang="es-AR" dirty="0" smtClean="0"/>
              <a:t> : </a:t>
            </a:r>
            <a:r>
              <a:rPr lang="es-AR" b="1" dirty="0"/>
              <a:t>real</a:t>
            </a:r>
            <a:r>
              <a:rPr lang="es-AR" dirty="0" smtClean="0"/>
              <a:t>;</a:t>
            </a:r>
          </a:p>
          <a:p>
            <a:pPr marL="0" indent="0">
              <a:buNone/>
            </a:pPr>
            <a:r>
              <a:rPr lang="es-A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215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AR" sz="5600" i="1" dirty="0" smtClean="0"/>
              <a:t>(* </a:t>
            </a:r>
            <a:r>
              <a:rPr lang="es-AR" sz="5600" i="1" dirty="0" err="1" smtClean="0"/>
              <a:t>declaracion</a:t>
            </a:r>
            <a:r>
              <a:rPr lang="es-AR" sz="5600" i="1" dirty="0" smtClean="0"/>
              <a:t> de procedimientos *)</a:t>
            </a:r>
            <a:r>
              <a:rPr lang="es-AR" sz="1400" i="1" dirty="0" smtClean="0"/>
              <a:t> </a:t>
            </a:r>
          </a:p>
          <a:p>
            <a:pPr marL="0" indent="0">
              <a:buNone/>
            </a:pPr>
            <a:r>
              <a:rPr lang="es-AR" sz="5600" b="1" dirty="0" err="1" smtClean="0"/>
              <a:t>procedure</a:t>
            </a:r>
            <a:r>
              <a:rPr lang="es-AR" sz="5600" dirty="0" smtClean="0"/>
              <a:t> </a:t>
            </a:r>
            <a:r>
              <a:rPr lang="es-AR" sz="5600" dirty="0" err="1" smtClean="0"/>
              <a:t>LeerDatos</a:t>
            </a:r>
            <a:r>
              <a:rPr lang="es-AR" sz="5600" dirty="0" smtClean="0"/>
              <a:t>(</a:t>
            </a:r>
            <a:r>
              <a:rPr lang="es-AR" sz="5600" b="1" dirty="0" err="1" smtClean="0"/>
              <a:t>var</a:t>
            </a:r>
            <a:r>
              <a:rPr lang="es-AR" sz="5600" dirty="0" smtClean="0"/>
              <a:t> </a:t>
            </a:r>
            <a:r>
              <a:rPr lang="es-AR" sz="5600" dirty="0" err="1" smtClean="0"/>
              <a:t>base,altura</a:t>
            </a:r>
            <a:r>
              <a:rPr lang="es-AR" sz="5600" dirty="0" smtClean="0"/>
              <a:t> : </a:t>
            </a:r>
            <a:r>
              <a:rPr lang="es-AR" sz="5600" b="1" dirty="0" smtClean="0"/>
              <a:t>real</a:t>
            </a:r>
            <a:r>
              <a:rPr lang="es-AR" sz="5600" dirty="0" smtClean="0"/>
              <a:t>); </a:t>
            </a:r>
          </a:p>
          <a:p>
            <a:pPr marL="0" indent="0">
              <a:buNone/>
            </a:pPr>
            <a:r>
              <a:rPr lang="es-AR" sz="5600" b="1" dirty="0" smtClean="0"/>
              <a:t>Begin</a:t>
            </a:r>
          </a:p>
          <a:p>
            <a:pPr marL="0" indent="0">
              <a:buNone/>
            </a:pPr>
            <a:r>
              <a:rPr lang="es-AR" sz="5600" b="1" dirty="0" smtClean="0"/>
              <a:t>   </a:t>
            </a:r>
            <a:r>
              <a:rPr lang="es-AR" sz="5600" dirty="0" smtClean="0"/>
              <a:t> </a:t>
            </a:r>
            <a:r>
              <a:rPr lang="es-AR" sz="5600" i="1" dirty="0" smtClean="0"/>
              <a:t>(* lectura de la base *)</a:t>
            </a:r>
          </a:p>
          <a:p>
            <a:pPr marL="0" indent="0">
              <a:buNone/>
            </a:pPr>
            <a:r>
              <a:rPr lang="es-AR" sz="5600" i="1" dirty="0" smtClean="0"/>
              <a:t>   </a:t>
            </a:r>
            <a:r>
              <a:rPr lang="es-AR" sz="5600" dirty="0" smtClean="0"/>
              <a:t> </a:t>
            </a:r>
            <a:r>
              <a:rPr lang="es-AR" sz="5600" b="1" dirty="0" err="1" smtClean="0"/>
              <a:t>Write</a:t>
            </a:r>
            <a:r>
              <a:rPr lang="es-AR" sz="5600" dirty="0" smtClean="0"/>
              <a:t>('Ingrese base del triangulo: ');</a:t>
            </a:r>
          </a:p>
          <a:p>
            <a:pPr marL="0" indent="0">
              <a:buNone/>
            </a:pPr>
            <a:r>
              <a:rPr lang="es-AR" sz="5600" dirty="0" smtClean="0"/>
              <a:t>    </a:t>
            </a:r>
            <a:r>
              <a:rPr lang="es-AR" sz="5600" b="1" dirty="0" err="1" smtClean="0"/>
              <a:t>ReadLn</a:t>
            </a:r>
            <a:r>
              <a:rPr lang="es-AR" sz="5600" dirty="0" smtClean="0"/>
              <a:t>(base); </a:t>
            </a:r>
          </a:p>
          <a:p>
            <a:pPr marL="0" indent="0">
              <a:buNone/>
            </a:pPr>
            <a:r>
              <a:rPr lang="es-AR" sz="5600" i="1" dirty="0" smtClean="0"/>
              <a:t>     (* </a:t>
            </a:r>
            <a:r>
              <a:rPr lang="es-AR" sz="5600" i="1" dirty="0" err="1" smtClean="0"/>
              <a:t>validacion</a:t>
            </a:r>
            <a:r>
              <a:rPr lang="es-AR" sz="5600" i="1" dirty="0" smtClean="0"/>
              <a:t> *)</a:t>
            </a:r>
            <a:r>
              <a:rPr lang="es-AR" sz="5600" dirty="0" smtClean="0"/>
              <a:t> </a:t>
            </a:r>
          </a:p>
          <a:p>
            <a:pPr marL="0" indent="0">
              <a:buNone/>
            </a:pPr>
            <a:r>
              <a:rPr lang="es-AR" sz="5600" b="1" dirty="0" smtClean="0"/>
              <a:t>    </a:t>
            </a:r>
            <a:r>
              <a:rPr lang="es-AR" sz="5600" b="1" dirty="0" err="1" smtClean="0"/>
              <a:t>while</a:t>
            </a:r>
            <a:r>
              <a:rPr lang="es-AR" sz="5600" dirty="0" smtClean="0"/>
              <a:t> base &lt;= 0 </a:t>
            </a:r>
            <a:r>
              <a:rPr lang="es-AR" sz="5600" b="1" dirty="0" smtClean="0"/>
              <a:t>do</a:t>
            </a:r>
          </a:p>
          <a:p>
            <a:pPr marL="0" indent="0">
              <a:buNone/>
            </a:pPr>
            <a:r>
              <a:rPr lang="es-AR" sz="5600" b="1" dirty="0" smtClean="0"/>
              <a:t>    </a:t>
            </a:r>
            <a:r>
              <a:rPr lang="es-AR" sz="5600" b="1" dirty="0" err="1" smtClean="0"/>
              <a:t>begin</a:t>
            </a:r>
            <a:r>
              <a:rPr lang="es-AR" sz="5600" dirty="0" smtClean="0"/>
              <a:t> </a:t>
            </a:r>
          </a:p>
          <a:p>
            <a:pPr marL="0" indent="0">
              <a:buNone/>
            </a:pPr>
            <a:r>
              <a:rPr lang="es-AR" sz="5600" b="1" dirty="0" smtClean="0"/>
              <a:t>            </a:t>
            </a:r>
            <a:r>
              <a:rPr lang="es-AR" sz="5600" b="1" dirty="0" err="1" smtClean="0"/>
              <a:t>WriteLn</a:t>
            </a:r>
            <a:r>
              <a:rPr lang="es-AR" sz="5600" dirty="0" smtClean="0"/>
              <a:t>('La base debe ser un real positivo');</a:t>
            </a:r>
          </a:p>
          <a:p>
            <a:pPr marL="0" indent="0">
              <a:buNone/>
            </a:pPr>
            <a:r>
              <a:rPr lang="es-AR" sz="5600" dirty="0" smtClean="0"/>
              <a:t>             </a:t>
            </a:r>
            <a:r>
              <a:rPr lang="es-AR" sz="5600" b="1" dirty="0" err="1" smtClean="0"/>
              <a:t>Write</a:t>
            </a:r>
            <a:r>
              <a:rPr lang="es-AR" sz="5600" dirty="0" smtClean="0"/>
              <a:t>('Ingrese base del triangulo: '); </a:t>
            </a:r>
          </a:p>
          <a:p>
            <a:pPr marL="0" indent="0">
              <a:buNone/>
            </a:pPr>
            <a:r>
              <a:rPr lang="es-AR" sz="5600" b="1" dirty="0" smtClean="0"/>
              <a:t>             </a:t>
            </a:r>
            <a:r>
              <a:rPr lang="es-AR" sz="5600" b="1" dirty="0" err="1" smtClean="0"/>
              <a:t>ReadLn</a:t>
            </a:r>
            <a:r>
              <a:rPr lang="es-AR" sz="5600" dirty="0" smtClean="0"/>
              <a:t>(base);</a:t>
            </a:r>
          </a:p>
          <a:p>
            <a:pPr marL="0" indent="0">
              <a:buNone/>
            </a:pPr>
            <a:r>
              <a:rPr lang="es-AR" sz="5600" dirty="0" smtClean="0"/>
              <a:t>     </a:t>
            </a:r>
            <a:r>
              <a:rPr lang="es-AR" sz="5600" b="1" dirty="0" err="1" smtClean="0"/>
              <a:t>end</a:t>
            </a:r>
            <a:r>
              <a:rPr lang="es-AR" sz="5600" dirty="0" smtClean="0"/>
              <a:t>; </a:t>
            </a:r>
          </a:p>
          <a:p>
            <a:pPr marL="0" indent="0">
              <a:buNone/>
            </a:pPr>
            <a:r>
              <a:rPr lang="es-AR" sz="5600" i="1" dirty="0" smtClean="0"/>
              <a:t>    (* lectura de la altura *)</a:t>
            </a:r>
          </a:p>
          <a:p>
            <a:pPr marL="0" indent="0">
              <a:buNone/>
            </a:pPr>
            <a:r>
              <a:rPr lang="es-AR" sz="5600" i="1" dirty="0" smtClean="0"/>
              <a:t>    </a:t>
            </a:r>
            <a:r>
              <a:rPr lang="es-AR" sz="5600" dirty="0" smtClean="0"/>
              <a:t> </a:t>
            </a:r>
            <a:r>
              <a:rPr lang="es-AR" sz="5600" b="1" dirty="0" err="1" smtClean="0"/>
              <a:t>Write</a:t>
            </a:r>
            <a:r>
              <a:rPr lang="es-AR" sz="5600" dirty="0" smtClean="0"/>
              <a:t>('Ingrese altura del triangulo: ');</a:t>
            </a:r>
          </a:p>
          <a:p>
            <a:pPr marL="0" indent="0">
              <a:buNone/>
            </a:pPr>
            <a:r>
              <a:rPr lang="es-AR" sz="5600" dirty="0" smtClean="0"/>
              <a:t>     </a:t>
            </a:r>
            <a:r>
              <a:rPr lang="es-AR" sz="5600" b="1" dirty="0" err="1" smtClean="0"/>
              <a:t>ReadLn</a:t>
            </a:r>
            <a:r>
              <a:rPr lang="es-AR" sz="5600" dirty="0" smtClean="0"/>
              <a:t>(altura); </a:t>
            </a:r>
            <a:r>
              <a:rPr lang="es-AR" sz="5600" i="1" dirty="0" smtClean="0"/>
              <a:t>(* </a:t>
            </a:r>
            <a:r>
              <a:rPr lang="es-AR" sz="5600" i="1" dirty="0" err="1" smtClean="0"/>
              <a:t>validacion</a:t>
            </a:r>
            <a:r>
              <a:rPr lang="es-AR" sz="5600" i="1" dirty="0" smtClean="0"/>
              <a:t> *)</a:t>
            </a:r>
          </a:p>
          <a:p>
            <a:pPr marL="0" indent="0">
              <a:buNone/>
            </a:pPr>
            <a:r>
              <a:rPr lang="es-AR" sz="5600" i="1" dirty="0" smtClean="0"/>
              <a:t>    </a:t>
            </a:r>
            <a:r>
              <a:rPr lang="es-AR" sz="5600" dirty="0" smtClean="0"/>
              <a:t> </a:t>
            </a:r>
            <a:r>
              <a:rPr lang="es-AR" sz="5600" b="1" dirty="0" err="1" smtClean="0"/>
              <a:t>while</a:t>
            </a:r>
            <a:r>
              <a:rPr lang="es-AR" sz="5600" dirty="0" smtClean="0"/>
              <a:t> altura &lt;= 0 </a:t>
            </a:r>
            <a:r>
              <a:rPr lang="es-AR" sz="5600" b="1" dirty="0" smtClean="0"/>
              <a:t>do</a:t>
            </a:r>
            <a:r>
              <a:rPr lang="es-AR" sz="5600" dirty="0" smtClean="0"/>
              <a:t> </a:t>
            </a:r>
          </a:p>
          <a:p>
            <a:pPr marL="0" indent="0">
              <a:buNone/>
            </a:pPr>
            <a:r>
              <a:rPr lang="es-AR" sz="5600" b="1" dirty="0" smtClean="0"/>
              <a:t>     </a:t>
            </a:r>
            <a:r>
              <a:rPr lang="es-AR" sz="5600" b="1" dirty="0" err="1" smtClean="0"/>
              <a:t>begin</a:t>
            </a:r>
            <a:r>
              <a:rPr lang="es-AR" sz="5600" dirty="0" smtClean="0"/>
              <a:t> </a:t>
            </a:r>
          </a:p>
          <a:p>
            <a:pPr marL="0" indent="0">
              <a:buNone/>
            </a:pPr>
            <a:r>
              <a:rPr lang="es-AR" sz="5600" b="1" dirty="0" smtClean="0"/>
              <a:t>               </a:t>
            </a:r>
            <a:r>
              <a:rPr lang="es-AR" sz="5600" b="1" dirty="0" err="1" smtClean="0"/>
              <a:t>WriteLn</a:t>
            </a:r>
            <a:r>
              <a:rPr lang="es-AR" sz="5600" dirty="0" smtClean="0"/>
              <a:t>('La altura debe ser un real positivo');</a:t>
            </a:r>
          </a:p>
          <a:p>
            <a:pPr marL="0" indent="0">
              <a:buNone/>
            </a:pPr>
            <a:r>
              <a:rPr lang="es-AR" sz="5600" dirty="0" smtClean="0"/>
              <a:t>               </a:t>
            </a:r>
            <a:r>
              <a:rPr lang="es-AR" sz="5600" b="1" dirty="0" err="1" smtClean="0"/>
              <a:t>Write</a:t>
            </a:r>
            <a:r>
              <a:rPr lang="es-AR" sz="5600" dirty="0" smtClean="0"/>
              <a:t>('Ingrese altura del triangulo: ');</a:t>
            </a:r>
          </a:p>
          <a:p>
            <a:pPr marL="0" indent="0">
              <a:buNone/>
            </a:pPr>
            <a:r>
              <a:rPr lang="es-AR" sz="5600" dirty="0" smtClean="0"/>
              <a:t>               </a:t>
            </a:r>
            <a:r>
              <a:rPr lang="es-AR" sz="5600" b="1" dirty="0" err="1" smtClean="0"/>
              <a:t>ReadLn</a:t>
            </a:r>
            <a:r>
              <a:rPr lang="es-AR" sz="5600" dirty="0" smtClean="0"/>
              <a:t>(altura); </a:t>
            </a:r>
          </a:p>
          <a:p>
            <a:pPr marL="0" indent="0">
              <a:buNone/>
            </a:pPr>
            <a:r>
              <a:rPr lang="es-AR" sz="5600" b="1" dirty="0" smtClean="0"/>
              <a:t>     </a:t>
            </a:r>
            <a:r>
              <a:rPr lang="es-AR" sz="5600" b="1" dirty="0" err="1" smtClean="0"/>
              <a:t>end</a:t>
            </a:r>
            <a:r>
              <a:rPr lang="es-AR" sz="5600" dirty="0" smtClean="0"/>
              <a:t>;</a:t>
            </a:r>
          </a:p>
          <a:p>
            <a:pPr marL="0" indent="0">
              <a:buNone/>
            </a:pPr>
            <a:r>
              <a:rPr lang="es-AR" sz="5600" b="1" dirty="0" err="1" smtClean="0"/>
              <a:t>end</a:t>
            </a:r>
            <a:r>
              <a:rPr lang="es-AR" sz="5600" dirty="0" smtClean="0"/>
              <a:t>; { </a:t>
            </a:r>
            <a:r>
              <a:rPr lang="es-AR" sz="5600" dirty="0" err="1" smtClean="0"/>
              <a:t>LeerDatos</a:t>
            </a:r>
            <a:r>
              <a:rPr lang="es-AR" sz="5600" dirty="0" smtClean="0"/>
              <a:t> }</a:t>
            </a:r>
            <a:br>
              <a:rPr lang="es-AR" sz="5600" dirty="0" smtClean="0"/>
            </a:br>
            <a:endParaRPr lang="es-AR" sz="5600" dirty="0" smtClean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7955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AR" b="1" dirty="0" err="1" smtClean="0"/>
              <a:t>function</a:t>
            </a:r>
            <a:r>
              <a:rPr lang="es-AR" dirty="0" smtClean="0"/>
              <a:t> </a:t>
            </a:r>
            <a:r>
              <a:rPr lang="es-AR" dirty="0" err="1" smtClean="0"/>
              <a:t>CalcularAreaTriangulo</a:t>
            </a:r>
            <a:r>
              <a:rPr lang="es-AR" dirty="0" smtClean="0"/>
              <a:t>(</a:t>
            </a:r>
            <a:r>
              <a:rPr lang="es-AR" dirty="0" err="1" smtClean="0"/>
              <a:t>base,altura</a:t>
            </a:r>
            <a:r>
              <a:rPr lang="es-AR" dirty="0" smtClean="0"/>
              <a:t> : </a:t>
            </a:r>
            <a:r>
              <a:rPr lang="es-AR" b="1" dirty="0" smtClean="0"/>
              <a:t>real</a:t>
            </a:r>
            <a:r>
              <a:rPr lang="es-AR" dirty="0" smtClean="0"/>
              <a:t>) : </a:t>
            </a:r>
            <a:r>
              <a:rPr lang="es-AR" b="1" dirty="0" smtClean="0"/>
              <a:t>real</a:t>
            </a:r>
            <a:r>
              <a:rPr lang="es-AR" dirty="0" smtClean="0"/>
              <a:t>;</a:t>
            </a:r>
          </a:p>
          <a:p>
            <a:pPr marL="0" indent="0">
              <a:buNone/>
            </a:pPr>
            <a:r>
              <a:rPr lang="es-AR" b="1" dirty="0" smtClean="0"/>
              <a:t>Begin</a:t>
            </a:r>
          </a:p>
          <a:p>
            <a:pPr marL="0" indent="0">
              <a:buNone/>
            </a:pPr>
            <a:r>
              <a:rPr lang="es-AR" b="1" dirty="0"/>
              <a:t> </a:t>
            </a:r>
            <a:r>
              <a:rPr lang="es-AR" b="1" dirty="0" smtClean="0"/>
              <a:t>  </a:t>
            </a:r>
            <a:r>
              <a:rPr lang="es-AR" dirty="0" smtClean="0"/>
              <a:t> </a:t>
            </a:r>
            <a:r>
              <a:rPr lang="es-AR" dirty="0" err="1" smtClean="0"/>
              <a:t>CalcularAreaTriangulo</a:t>
            </a:r>
            <a:r>
              <a:rPr lang="es-AR" dirty="0" smtClean="0"/>
              <a:t>:= base * altura / 2;</a:t>
            </a:r>
          </a:p>
          <a:p>
            <a:pPr marL="0" indent="0">
              <a:buNone/>
            </a:pPr>
            <a:r>
              <a:rPr lang="es-AR" b="1" dirty="0" err="1" smtClean="0"/>
              <a:t>end</a:t>
            </a:r>
            <a:r>
              <a:rPr lang="es-AR" dirty="0" smtClean="0"/>
              <a:t>; { </a:t>
            </a:r>
            <a:r>
              <a:rPr lang="es-AR" dirty="0" err="1" smtClean="0"/>
              <a:t>areaTriangulo</a:t>
            </a:r>
            <a:r>
              <a:rPr lang="es-AR" dirty="0" smtClean="0"/>
              <a:t> }</a:t>
            </a:r>
          </a:p>
          <a:p>
            <a:pPr marL="0" indent="0">
              <a:buNone/>
            </a:pPr>
            <a:r>
              <a:rPr lang="es-AR" b="1" dirty="0" err="1" smtClean="0"/>
              <a:t>procedure</a:t>
            </a:r>
            <a:r>
              <a:rPr lang="es-AR" dirty="0" smtClean="0"/>
              <a:t> </a:t>
            </a:r>
            <a:r>
              <a:rPr lang="es-AR" dirty="0" err="1" smtClean="0"/>
              <a:t>MostrarResultado</a:t>
            </a:r>
            <a:r>
              <a:rPr lang="es-AR" dirty="0" smtClean="0"/>
              <a:t>(</a:t>
            </a:r>
            <a:r>
              <a:rPr lang="es-AR" dirty="0" err="1" smtClean="0"/>
              <a:t>area</a:t>
            </a:r>
            <a:r>
              <a:rPr lang="es-AR" dirty="0" smtClean="0"/>
              <a:t> : </a:t>
            </a:r>
            <a:r>
              <a:rPr lang="es-AR" b="1" dirty="0" smtClean="0"/>
              <a:t>real</a:t>
            </a:r>
            <a:r>
              <a:rPr lang="es-AR" dirty="0" smtClean="0"/>
              <a:t>);</a:t>
            </a:r>
          </a:p>
          <a:p>
            <a:pPr marL="0" indent="0">
              <a:buNone/>
            </a:pPr>
            <a:r>
              <a:rPr lang="es-AR" b="1" dirty="0" smtClean="0"/>
              <a:t>Begin</a:t>
            </a:r>
          </a:p>
          <a:p>
            <a:pPr marL="0" indent="0">
              <a:buNone/>
            </a:pPr>
            <a:r>
              <a:rPr lang="es-AR" b="1" dirty="0" smtClean="0"/>
              <a:t>    </a:t>
            </a:r>
            <a:r>
              <a:rPr lang="es-AR" b="1" dirty="0" err="1" smtClean="0"/>
              <a:t>WriteLn</a:t>
            </a:r>
            <a:r>
              <a:rPr lang="es-AR" dirty="0" smtClean="0"/>
              <a:t>;</a:t>
            </a:r>
          </a:p>
          <a:p>
            <a:pPr marL="0" indent="0">
              <a:buNone/>
            </a:pPr>
            <a:r>
              <a:rPr lang="es-AR" b="1" dirty="0" smtClean="0"/>
              <a:t>    </a:t>
            </a:r>
            <a:r>
              <a:rPr lang="es-AR" b="1" dirty="0" err="1" smtClean="0"/>
              <a:t>WriteLn</a:t>
            </a:r>
            <a:r>
              <a:rPr lang="es-AR" dirty="0" smtClean="0"/>
              <a:t>;</a:t>
            </a:r>
          </a:p>
          <a:p>
            <a:pPr marL="0" indent="0">
              <a:buNone/>
            </a:pPr>
            <a:r>
              <a:rPr lang="es-AR" b="1" dirty="0" smtClean="0"/>
              <a:t>    </a:t>
            </a:r>
            <a:r>
              <a:rPr lang="es-AR" b="1" dirty="0" err="1" smtClean="0"/>
              <a:t>WriteLn</a:t>
            </a:r>
            <a:r>
              <a:rPr lang="es-AR" dirty="0" smtClean="0"/>
              <a:t>( ' ***********');</a:t>
            </a:r>
          </a:p>
          <a:p>
            <a:pPr marL="0" indent="0">
              <a:buNone/>
            </a:pPr>
            <a:r>
              <a:rPr lang="es-AR" b="1" dirty="0" smtClean="0"/>
              <a:t>    </a:t>
            </a:r>
            <a:r>
              <a:rPr lang="es-AR" b="1" dirty="0" err="1" smtClean="0"/>
              <a:t>WriteLn</a:t>
            </a:r>
            <a:r>
              <a:rPr lang="es-AR" dirty="0" smtClean="0"/>
              <a:t>( ' El </a:t>
            </a:r>
            <a:r>
              <a:rPr lang="es-AR" dirty="0" err="1" smtClean="0"/>
              <a:t>area</a:t>
            </a:r>
            <a:r>
              <a:rPr lang="es-AR" dirty="0" smtClean="0"/>
              <a:t> del triangulo es: ', area:8:2);</a:t>
            </a:r>
          </a:p>
          <a:p>
            <a:pPr marL="0" indent="0">
              <a:buNone/>
            </a:pPr>
            <a:r>
              <a:rPr lang="es-AR" b="1" dirty="0" smtClean="0"/>
              <a:t>    </a:t>
            </a:r>
            <a:r>
              <a:rPr lang="es-AR" b="1" dirty="0" err="1" smtClean="0"/>
              <a:t>WriteLn</a:t>
            </a:r>
            <a:r>
              <a:rPr lang="es-AR" dirty="0" smtClean="0"/>
              <a:t>( ' ***********');</a:t>
            </a:r>
          </a:p>
          <a:p>
            <a:pPr marL="0" indent="0">
              <a:buNone/>
            </a:pPr>
            <a:r>
              <a:rPr lang="es-AR" b="1" dirty="0" smtClean="0"/>
              <a:t>    </a:t>
            </a:r>
            <a:r>
              <a:rPr lang="es-AR" b="1" dirty="0" err="1" smtClean="0"/>
              <a:t>WriteLn</a:t>
            </a:r>
            <a:r>
              <a:rPr lang="es-AR" dirty="0" smtClean="0"/>
              <a:t>;</a:t>
            </a:r>
          </a:p>
          <a:p>
            <a:pPr marL="0" indent="0">
              <a:buNone/>
            </a:pPr>
            <a:r>
              <a:rPr lang="es-AR" b="1" dirty="0" err="1" smtClean="0"/>
              <a:t>end</a:t>
            </a:r>
            <a:r>
              <a:rPr lang="es-AR" dirty="0" smtClean="0"/>
              <a:t>; { </a:t>
            </a:r>
            <a:r>
              <a:rPr lang="es-AR" dirty="0" err="1" smtClean="0"/>
              <a:t>MostrarResultado</a:t>
            </a:r>
            <a:r>
              <a:rPr lang="es-AR" dirty="0" smtClean="0"/>
              <a:t> }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0586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SUBPROGRAMAS, FUNCIONES Y PROCEDIMIENTOS</a:t>
            </a:r>
            <a:endParaRPr lang="es-A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b="1" dirty="0" err="1" smtClean="0"/>
              <a:t>begin</a:t>
            </a:r>
            <a:r>
              <a:rPr lang="es-AR" dirty="0" smtClean="0"/>
              <a:t> </a:t>
            </a:r>
            <a:r>
              <a:rPr lang="es-AR" i="1" dirty="0" smtClean="0"/>
              <a:t>(* programa principal *)</a:t>
            </a:r>
          </a:p>
          <a:p>
            <a:pPr marL="0" indent="0">
              <a:buNone/>
            </a:pPr>
            <a:r>
              <a:rPr lang="es-AR" i="1" dirty="0"/>
              <a:t> </a:t>
            </a:r>
            <a:r>
              <a:rPr lang="es-AR" i="1" dirty="0" smtClean="0"/>
              <a:t>   </a:t>
            </a:r>
            <a:r>
              <a:rPr lang="es-AR" dirty="0" smtClean="0"/>
              <a:t> </a:t>
            </a:r>
            <a:r>
              <a:rPr lang="es-AR" dirty="0" err="1" smtClean="0"/>
              <a:t>LeerDatos</a:t>
            </a:r>
            <a:r>
              <a:rPr lang="es-AR" dirty="0" smtClean="0"/>
              <a:t>(</a:t>
            </a:r>
            <a:r>
              <a:rPr lang="es-AR" dirty="0" err="1" smtClean="0"/>
              <a:t>baset,alturat</a:t>
            </a:r>
            <a:r>
              <a:rPr lang="es-AR" dirty="0" smtClean="0"/>
              <a:t>);</a:t>
            </a:r>
          </a:p>
          <a:p>
            <a:pPr marL="0" indent="0">
              <a:buNone/>
            </a:pPr>
            <a:r>
              <a:rPr lang="es-AR" dirty="0" smtClean="0"/>
              <a:t>     </a:t>
            </a:r>
            <a:r>
              <a:rPr lang="es-AR" dirty="0" err="1" smtClean="0"/>
              <a:t>areat</a:t>
            </a:r>
            <a:r>
              <a:rPr lang="es-AR" dirty="0" smtClean="0"/>
              <a:t> := </a:t>
            </a:r>
            <a:r>
              <a:rPr lang="es-AR" dirty="0" err="1" smtClean="0"/>
              <a:t>CalcularAreaTriangulo</a:t>
            </a:r>
            <a:r>
              <a:rPr lang="es-AR" dirty="0" smtClean="0"/>
              <a:t>(</a:t>
            </a:r>
            <a:r>
              <a:rPr lang="es-AR" dirty="0" err="1" smtClean="0"/>
              <a:t>baset,alturat</a:t>
            </a:r>
            <a:r>
              <a:rPr lang="es-AR" dirty="0" smtClean="0"/>
              <a:t>);</a:t>
            </a:r>
          </a:p>
          <a:p>
            <a:pPr marL="0" indent="0">
              <a:buNone/>
            </a:pPr>
            <a:r>
              <a:rPr lang="es-AR" dirty="0" smtClean="0"/>
              <a:t>     </a:t>
            </a:r>
            <a:r>
              <a:rPr lang="es-AR" dirty="0" err="1" smtClean="0"/>
              <a:t>MostrarResultado</a:t>
            </a:r>
            <a:r>
              <a:rPr lang="es-AR" dirty="0" smtClean="0"/>
              <a:t>(</a:t>
            </a:r>
            <a:r>
              <a:rPr lang="es-AR" dirty="0" err="1" smtClean="0"/>
              <a:t>areat</a:t>
            </a:r>
            <a:r>
              <a:rPr lang="es-AR" dirty="0" smtClean="0"/>
              <a:t>);</a:t>
            </a:r>
          </a:p>
          <a:p>
            <a:pPr marL="0" indent="0">
              <a:buNone/>
            </a:pPr>
            <a:r>
              <a:rPr lang="es-AR" b="1" dirty="0" err="1" smtClean="0"/>
              <a:t>end</a:t>
            </a:r>
            <a:r>
              <a:rPr lang="es-AR" dirty="0" smtClean="0"/>
              <a:t>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0163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1015</Words>
  <Application>Microsoft Office PowerPoint</Application>
  <PresentationFormat>Presentación en pantalla (4:3)</PresentationFormat>
  <Paragraphs>281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Tema de Office</vt:lpstr>
      <vt:lpstr>SUBPROGRAMAS FUNCIONES PROCEDIMIENTOS</vt:lpstr>
      <vt:lpstr>Contar las “la”</vt:lpstr>
      <vt:lpstr>Contar las “la”</vt:lpstr>
      <vt:lpstr>Contar las “la”</vt:lpstr>
      <vt:lpstr>Contar las “la”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Presentación de PowerPoint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  <vt:lpstr>SUBPROGRAMAS, FUNCIONES Y PROCEDIMIENTOS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SUBPROGRAMAS FUNCIONES PROCEDIMIENTOS</dc:title>
  <dc:creator>Planificacion</dc:creator>
  <cp:lastModifiedBy>Planificacion</cp:lastModifiedBy>
  <cp:revision>18</cp:revision>
  <dcterms:created xsi:type="dcterms:W3CDTF">2021-05-07T13:50:47Z</dcterms:created>
  <dcterms:modified xsi:type="dcterms:W3CDTF">2021-05-07T20:52:12Z</dcterms:modified>
</cp:coreProperties>
</file>