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4228728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896811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135172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2257047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1673781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199964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60335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2077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168641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2021542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0DAD122-E6C6-4D92-9197-43F81B1CB85C}" type="datetimeFigureOut">
              <a:rPr lang="es-AR" smtClean="0"/>
              <a:t>22/3/2021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CC87416-CE44-45B7-B690-1404C8FDFDBD}" type="slidenum">
              <a:rPr lang="es-AR" smtClean="0"/>
              <a:t>‹Nº›</a:t>
            </a:fld>
            <a:endParaRPr lang="es-AR"/>
          </a:p>
        </p:txBody>
      </p:sp>
    </p:spTree>
    <p:extLst>
      <p:ext uri="{BB962C8B-B14F-4D97-AF65-F5344CB8AC3E}">
        <p14:creationId xmlns:p14="http://schemas.microsoft.com/office/powerpoint/2010/main" val="116653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DAD122-E6C6-4D92-9197-43F81B1CB85C}" type="datetimeFigureOut">
              <a:rPr lang="es-AR" smtClean="0"/>
              <a:t>22/3/2021</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C87416-CE44-45B7-B690-1404C8FDFDBD}" type="slidenum">
              <a:rPr lang="es-AR" smtClean="0"/>
              <a:t>‹Nº›</a:t>
            </a:fld>
            <a:endParaRPr lang="es-AR"/>
          </a:p>
        </p:txBody>
      </p:sp>
    </p:spTree>
    <p:extLst>
      <p:ext uri="{BB962C8B-B14F-4D97-AF65-F5344CB8AC3E}">
        <p14:creationId xmlns:p14="http://schemas.microsoft.com/office/powerpoint/2010/main" val="1366002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b="1" dirty="0" smtClean="0">
                <a:solidFill>
                  <a:srgbClr val="0070C0"/>
                </a:solidFill>
                <a:latin typeface="Verdana" panose="020B0604030504040204" pitchFamily="34" charset="0"/>
                <a:ea typeface="Verdana" panose="020B0604030504040204" pitchFamily="34" charset="0"/>
              </a:rPr>
              <a:t>OPERADORES</a:t>
            </a:r>
            <a:r>
              <a:rPr lang="es-ES" dirty="0" smtClean="0"/>
              <a:t>	</a:t>
            </a:r>
            <a:endParaRPr lang="es-AR" dirty="0"/>
          </a:p>
        </p:txBody>
      </p:sp>
      <p:sp>
        <p:nvSpPr>
          <p:cNvPr id="3" name="2 Subtítulo"/>
          <p:cNvSpPr>
            <a:spLocks noGrp="1"/>
          </p:cNvSpPr>
          <p:nvPr>
            <p:ph type="subTitle" idx="1"/>
          </p:nvPr>
        </p:nvSpPr>
        <p:spPr/>
        <p:txBody>
          <a:bodyPr/>
          <a:lstStyle/>
          <a:p>
            <a:r>
              <a:rPr lang="es-ES" dirty="0" smtClean="0"/>
              <a:t>Asignación y Operadores</a:t>
            </a:r>
          </a:p>
          <a:p>
            <a:endParaRPr lang="es-AR" dirty="0"/>
          </a:p>
        </p:txBody>
      </p:sp>
    </p:spTree>
    <p:extLst>
      <p:ext uri="{BB962C8B-B14F-4D97-AF65-F5344CB8AC3E}">
        <p14:creationId xmlns:p14="http://schemas.microsoft.com/office/powerpoint/2010/main" val="188752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0070C0"/>
                </a:solidFill>
                <a:latin typeface="Verdana" panose="020B0604030504040204" pitchFamily="34" charset="0"/>
                <a:ea typeface="Verdana" panose="020B0604030504040204" pitchFamily="34" charset="0"/>
              </a:rPr>
              <a:t>Asignación</a:t>
            </a:r>
            <a:endParaRPr lang="es-AR" b="1" dirty="0">
              <a:solidFill>
                <a:srgbClr val="0070C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lstStyle/>
          <a:p>
            <a:r>
              <a:rPr lang="es-ES" dirty="0"/>
              <a:t>El operador asignación </a:t>
            </a:r>
            <a:r>
              <a:rPr lang="es-ES" dirty="0" smtClean="0"/>
              <a:t>:=, </a:t>
            </a:r>
            <a:r>
              <a:rPr lang="es-ES" dirty="0"/>
              <a:t>es un operador binario que asigna el valor del término de la derecha al operando de la </a:t>
            </a:r>
            <a:r>
              <a:rPr lang="es-ES" dirty="0" smtClean="0"/>
              <a:t>izquierda.</a:t>
            </a:r>
          </a:p>
          <a:p>
            <a:endParaRPr lang="es-ES" dirty="0" smtClean="0"/>
          </a:p>
          <a:p>
            <a:r>
              <a:rPr lang="es-ES" dirty="0" smtClean="0"/>
              <a:t>Esto es A:=30 asigna el valor 30 a la variable A</a:t>
            </a:r>
          </a:p>
          <a:p>
            <a:endParaRPr lang="es-ES" dirty="0" smtClean="0"/>
          </a:p>
          <a:p>
            <a:r>
              <a:rPr lang="es-ES" dirty="0" err="1" smtClean="0"/>
              <a:t>Tambien</a:t>
            </a:r>
            <a:r>
              <a:rPr lang="es-ES" dirty="0" smtClean="0"/>
              <a:t> A:= 30+B suma el valor de B al valor 30 y el resultado se lo asigna a </a:t>
            </a:r>
            <a:r>
              <a:rPr lang="es-ES" dirty="0" err="1" smtClean="0"/>
              <a:t>A</a:t>
            </a:r>
            <a:endParaRPr lang="es-AR" dirty="0"/>
          </a:p>
        </p:txBody>
      </p:sp>
    </p:spTree>
    <p:extLst>
      <p:ext uri="{BB962C8B-B14F-4D97-AF65-F5344CB8AC3E}">
        <p14:creationId xmlns:p14="http://schemas.microsoft.com/office/powerpoint/2010/main" val="3400561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0070C0"/>
                </a:solidFill>
                <a:latin typeface="Verdana" panose="020B0604030504040204" pitchFamily="34" charset="0"/>
                <a:ea typeface="Verdana" panose="020B0604030504040204" pitchFamily="34" charset="0"/>
              </a:rPr>
              <a:t>Asignación</a:t>
            </a:r>
            <a:endParaRPr lang="es-AR" dirty="0"/>
          </a:p>
        </p:txBody>
      </p:sp>
      <p:sp>
        <p:nvSpPr>
          <p:cNvPr id="3" name="2 Marcador de contenido"/>
          <p:cNvSpPr>
            <a:spLocks noGrp="1"/>
          </p:cNvSpPr>
          <p:nvPr>
            <p:ph idx="1"/>
          </p:nvPr>
        </p:nvSpPr>
        <p:spPr/>
        <p:txBody>
          <a:bodyPr/>
          <a:lstStyle/>
          <a:p>
            <a:r>
              <a:rPr lang="es-ES" dirty="0"/>
              <a:t>El operando de la izquierda suele ser el identificador de una variable. El término de la derecha es, en general, una expresión de un tipo de dato compatible; en particular puede ser una constante u otra </a:t>
            </a:r>
            <a:r>
              <a:rPr lang="es-ES" dirty="0" smtClean="0"/>
              <a:t>variable</a:t>
            </a:r>
          </a:p>
          <a:p>
            <a:r>
              <a:rPr lang="es-ES" dirty="0"/>
              <a:t>No debe confundirse el operador asignación </a:t>
            </a:r>
            <a:r>
              <a:rPr lang="es-ES" dirty="0" smtClean="0"/>
              <a:t>(:=) </a:t>
            </a:r>
            <a:r>
              <a:rPr lang="es-ES" dirty="0"/>
              <a:t>con el operador relacional de igualdad </a:t>
            </a:r>
            <a:r>
              <a:rPr lang="es-ES" dirty="0" smtClean="0"/>
              <a:t>(=) </a:t>
            </a:r>
            <a:r>
              <a:rPr lang="es-ES" dirty="0"/>
              <a:t>que se verá más adelante</a:t>
            </a:r>
            <a:endParaRPr lang="es-AR" dirty="0"/>
          </a:p>
        </p:txBody>
      </p:sp>
    </p:spTree>
    <p:extLst>
      <p:ext uri="{BB962C8B-B14F-4D97-AF65-F5344CB8AC3E}">
        <p14:creationId xmlns:p14="http://schemas.microsoft.com/office/powerpoint/2010/main" val="224384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0070C0"/>
                </a:solidFill>
                <a:latin typeface="Verdana" panose="020B0604030504040204" pitchFamily="34" charset="0"/>
                <a:ea typeface="Verdana" panose="020B0604030504040204" pitchFamily="34" charset="0"/>
              </a:rPr>
              <a:t>Asignación</a:t>
            </a:r>
            <a:endParaRPr lang="es-AR" b="1" dirty="0">
              <a:solidFill>
                <a:srgbClr val="0070C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lstStyle/>
          <a:p>
            <a:r>
              <a:rPr lang="es-ES" dirty="0"/>
              <a:t>Además </a:t>
            </a:r>
            <a:r>
              <a:rPr lang="es-ES" dirty="0" smtClean="0"/>
              <a:t>los lenguajes suelen disponer </a:t>
            </a:r>
            <a:r>
              <a:rPr lang="es-ES" dirty="0"/>
              <a:t>de otros operadores que combinan la asignación con otras operaciones (operadores aritméticos </a:t>
            </a:r>
            <a:r>
              <a:rPr lang="es-ES" i="1" dirty="0"/>
              <a:t>combinados</a:t>
            </a:r>
            <a:r>
              <a:rPr lang="es-ES" dirty="0" smtClean="0"/>
              <a:t>).</a:t>
            </a:r>
          </a:p>
          <a:p>
            <a:r>
              <a:rPr lang="es-ES" dirty="0" smtClean="0"/>
              <a:t>En particular en JAVA el símbolo de asignación es </a:t>
            </a:r>
            <a:r>
              <a:rPr lang="es-ES" b="1" dirty="0" smtClean="0"/>
              <a:t>=  </a:t>
            </a:r>
            <a:r>
              <a:rPr lang="es-ES" dirty="0" smtClean="0"/>
              <a:t>y el operador relacional de la igualdad es </a:t>
            </a:r>
            <a:r>
              <a:rPr lang="es-ES" b="1" dirty="0" smtClean="0"/>
              <a:t>==</a:t>
            </a:r>
          </a:p>
          <a:p>
            <a:endParaRPr lang="es-ES" b="1" dirty="0" smtClean="0"/>
          </a:p>
          <a:p>
            <a:endParaRPr lang="es-AR" b="1" dirty="0"/>
          </a:p>
        </p:txBody>
      </p:sp>
    </p:spTree>
    <p:extLst>
      <p:ext uri="{BB962C8B-B14F-4D97-AF65-F5344CB8AC3E}">
        <p14:creationId xmlns:p14="http://schemas.microsoft.com/office/powerpoint/2010/main" val="1798019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576064"/>
          </a:xfrm>
        </p:spPr>
        <p:txBody>
          <a:bodyPr>
            <a:normAutofit fontScale="90000"/>
          </a:bodyPr>
          <a:lstStyle/>
          <a:p>
            <a:r>
              <a:rPr lang="es-ES" sz="3200" b="1" dirty="0" smtClean="0">
                <a:solidFill>
                  <a:srgbClr val="0070C0"/>
                </a:solidFill>
                <a:latin typeface="Verdana" panose="020B0604030504040204" pitchFamily="34" charset="0"/>
                <a:ea typeface="Verdana" panose="020B0604030504040204" pitchFamily="34" charset="0"/>
              </a:rPr>
              <a:t>Asignación (ejemplo)</a:t>
            </a:r>
            <a:endParaRPr lang="es-AR" sz="3200" b="1" dirty="0">
              <a:solidFill>
                <a:srgbClr val="0070C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a:xfrm>
            <a:off x="467544" y="620688"/>
            <a:ext cx="8229600" cy="6093296"/>
          </a:xfrm>
        </p:spPr>
        <p:txBody>
          <a:bodyPr>
            <a:noAutofit/>
          </a:bodyPr>
          <a:lstStyle/>
          <a:p>
            <a:pPr marL="0" indent="0">
              <a:buNone/>
            </a:pPr>
            <a:r>
              <a:rPr lang="es-AR" sz="1600" dirty="0" err="1"/>
              <a:t>public</a:t>
            </a:r>
            <a:r>
              <a:rPr lang="es-AR" sz="1600" dirty="0" smtClean="0"/>
              <a:t> </a:t>
            </a:r>
            <a:r>
              <a:rPr lang="es-AR" sz="1600" dirty="0" err="1"/>
              <a:t>class</a:t>
            </a:r>
            <a:r>
              <a:rPr lang="es-AR" sz="1600" dirty="0" smtClean="0"/>
              <a:t> </a:t>
            </a:r>
            <a:r>
              <a:rPr lang="es-AR" sz="1600" dirty="0" err="1" smtClean="0"/>
              <a:t>OpAsignacion</a:t>
            </a:r>
            <a:r>
              <a:rPr lang="es-AR" sz="1600" dirty="0" smtClean="0"/>
              <a:t>  {</a:t>
            </a:r>
          </a:p>
          <a:p>
            <a:pPr marL="0" indent="0">
              <a:buNone/>
            </a:pPr>
            <a:r>
              <a:rPr lang="es-AR" sz="1600" dirty="0" smtClean="0"/>
              <a:t>     </a:t>
            </a:r>
            <a:r>
              <a:rPr lang="es-AR" sz="1600" dirty="0" err="1" smtClean="0"/>
              <a:t>public</a:t>
            </a:r>
            <a:r>
              <a:rPr lang="es-AR" sz="1600" dirty="0" smtClean="0"/>
              <a:t> </a:t>
            </a:r>
            <a:r>
              <a:rPr lang="es-AR" sz="1600" dirty="0" err="1"/>
              <a:t>static</a:t>
            </a:r>
            <a:r>
              <a:rPr lang="es-AR" sz="1600" dirty="0" smtClean="0"/>
              <a:t> </a:t>
            </a:r>
            <a:r>
              <a:rPr lang="es-AR" sz="1600" dirty="0" err="1"/>
              <a:t>void</a:t>
            </a:r>
            <a:r>
              <a:rPr lang="es-AR" sz="1600" dirty="0" smtClean="0"/>
              <a:t> </a:t>
            </a:r>
            <a:r>
              <a:rPr lang="es-AR" sz="1600" dirty="0" err="1" smtClean="0"/>
              <a:t>main</a:t>
            </a:r>
            <a:r>
              <a:rPr lang="es-AR" sz="1600" dirty="0" smtClean="0"/>
              <a:t>(</a:t>
            </a:r>
            <a:r>
              <a:rPr lang="es-AR" sz="1600" dirty="0" err="1"/>
              <a:t>String</a:t>
            </a:r>
            <a:r>
              <a:rPr lang="es-AR" sz="1600" dirty="0" smtClean="0"/>
              <a:t>[] </a:t>
            </a:r>
            <a:r>
              <a:rPr lang="es-AR" sz="1600" dirty="0" err="1" smtClean="0"/>
              <a:t>args</a:t>
            </a:r>
            <a:r>
              <a:rPr lang="es-AR" sz="1600" dirty="0" smtClean="0"/>
              <a:t>) {</a:t>
            </a:r>
          </a:p>
          <a:p>
            <a:pPr marL="0" indent="0">
              <a:buNone/>
            </a:pPr>
            <a:r>
              <a:rPr lang="es-AR" sz="1600" dirty="0" smtClean="0"/>
              <a:t>          </a:t>
            </a:r>
            <a:r>
              <a:rPr lang="es-AR" sz="1600" dirty="0" err="1" smtClean="0"/>
              <a:t>int</a:t>
            </a:r>
            <a:r>
              <a:rPr lang="es-AR" sz="1600" dirty="0" smtClean="0"/>
              <a:t> </a:t>
            </a:r>
            <a:r>
              <a:rPr lang="es-AR" sz="1600" dirty="0" err="1" smtClean="0"/>
              <a:t>i,j</a:t>
            </a:r>
            <a:r>
              <a:rPr lang="es-AR" sz="1600" dirty="0" smtClean="0"/>
              <a:t>;</a:t>
            </a:r>
          </a:p>
          <a:p>
            <a:pPr marL="0" indent="0">
              <a:buNone/>
            </a:pPr>
            <a:r>
              <a:rPr lang="es-AR" sz="1600" dirty="0"/>
              <a:t> </a:t>
            </a:r>
            <a:r>
              <a:rPr lang="es-AR" sz="1600" dirty="0" smtClean="0"/>
              <a:t>         </a:t>
            </a:r>
            <a:r>
              <a:rPr lang="es-AR" sz="1600" dirty="0" err="1" smtClean="0"/>
              <a:t>double</a:t>
            </a:r>
            <a:r>
              <a:rPr lang="es-AR" sz="1600" dirty="0" smtClean="0"/>
              <a:t> x;</a:t>
            </a:r>
          </a:p>
          <a:p>
            <a:pPr marL="0" indent="0">
              <a:buNone/>
            </a:pPr>
            <a:r>
              <a:rPr lang="es-AR" sz="1600" dirty="0" smtClean="0"/>
              <a:t>          </a:t>
            </a:r>
            <a:r>
              <a:rPr lang="es-AR" sz="1600" dirty="0" err="1" smtClean="0"/>
              <a:t>char</a:t>
            </a:r>
            <a:r>
              <a:rPr lang="es-AR" sz="1600" dirty="0" smtClean="0"/>
              <a:t> c</a:t>
            </a:r>
            <a:r>
              <a:rPr lang="es-AR" sz="1600" dirty="0"/>
              <a:t>;</a:t>
            </a:r>
            <a:r>
              <a:rPr lang="es-AR" sz="1600" dirty="0" smtClean="0"/>
              <a:t> </a:t>
            </a:r>
          </a:p>
          <a:p>
            <a:pPr marL="0" indent="0">
              <a:buNone/>
            </a:pPr>
            <a:r>
              <a:rPr lang="es-AR" sz="1600" dirty="0"/>
              <a:t> </a:t>
            </a:r>
            <a:r>
              <a:rPr lang="es-AR" sz="1600" dirty="0" smtClean="0"/>
              <a:t>         </a:t>
            </a:r>
            <a:r>
              <a:rPr lang="es-AR" sz="1600" dirty="0" err="1" smtClean="0"/>
              <a:t>boolean</a:t>
            </a:r>
            <a:r>
              <a:rPr lang="es-AR" sz="1600" dirty="0" smtClean="0"/>
              <a:t> b</a:t>
            </a:r>
            <a:r>
              <a:rPr lang="es-AR" sz="1600" dirty="0"/>
              <a:t>;</a:t>
            </a:r>
            <a:r>
              <a:rPr lang="es-AR" sz="1600" dirty="0" smtClean="0"/>
              <a:t> </a:t>
            </a:r>
          </a:p>
          <a:p>
            <a:pPr marL="0" indent="0">
              <a:buNone/>
            </a:pPr>
            <a:r>
              <a:rPr lang="es-AR" sz="1600" dirty="0"/>
              <a:t> </a:t>
            </a:r>
            <a:r>
              <a:rPr lang="es-AR" sz="1600" dirty="0" smtClean="0"/>
              <a:t>         </a:t>
            </a:r>
            <a:r>
              <a:rPr lang="es-AR" sz="1600" dirty="0" err="1" smtClean="0"/>
              <a:t>String</a:t>
            </a:r>
            <a:r>
              <a:rPr lang="es-AR" sz="1600" dirty="0" smtClean="0"/>
              <a:t> s;</a:t>
            </a:r>
          </a:p>
          <a:p>
            <a:pPr marL="0" indent="0">
              <a:buNone/>
            </a:pPr>
            <a:r>
              <a:rPr lang="es-AR" sz="1600" dirty="0"/>
              <a:t> </a:t>
            </a:r>
            <a:r>
              <a:rPr lang="es-AR" sz="1600" dirty="0" smtClean="0"/>
              <a:t>         i </a:t>
            </a:r>
            <a:r>
              <a:rPr lang="es-AR" sz="1600" dirty="0"/>
              <a:t>=</a:t>
            </a:r>
            <a:r>
              <a:rPr lang="es-AR" sz="1600" dirty="0" smtClean="0"/>
              <a:t> 15;</a:t>
            </a:r>
          </a:p>
          <a:p>
            <a:pPr marL="0" indent="0">
              <a:buNone/>
            </a:pPr>
            <a:r>
              <a:rPr lang="es-AR" sz="1600" dirty="0"/>
              <a:t> </a:t>
            </a:r>
            <a:r>
              <a:rPr lang="es-AR" sz="1600" dirty="0" smtClean="0"/>
              <a:t>         j </a:t>
            </a:r>
            <a:r>
              <a:rPr lang="es-AR" sz="1600" dirty="0"/>
              <a:t>=</a:t>
            </a:r>
            <a:r>
              <a:rPr lang="es-AR" sz="1600" dirty="0" smtClean="0"/>
              <a:t> i;</a:t>
            </a:r>
          </a:p>
          <a:p>
            <a:pPr marL="0" indent="0">
              <a:buNone/>
            </a:pPr>
            <a:r>
              <a:rPr lang="es-AR" sz="1600" dirty="0"/>
              <a:t> </a:t>
            </a:r>
            <a:r>
              <a:rPr lang="es-AR" sz="1600" dirty="0" smtClean="0"/>
              <a:t>         x </a:t>
            </a:r>
            <a:r>
              <a:rPr lang="es-AR" sz="1600" dirty="0"/>
              <a:t>=</a:t>
            </a:r>
            <a:r>
              <a:rPr lang="es-AR" sz="1600" dirty="0" smtClean="0"/>
              <a:t> 12.345;</a:t>
            </a:r>
          </a:p>
          <a:p>
            <a:pPr marL="0" indent="0">
              <a:buNone/>
            </a:pPr>
            <a:r>
              <a:rPr lang="es-AR" sz="1600" dirty="0"/>
              <a:t> </a:t>
            </a:r>
            <a:r>
              <a:rPr lang="es-AR" sz="1600" dirty="0" smtClean="0"/>
              <a:t>         c </a:t>
            </a:r>
            <a:r>
              <a:rPr lang="es-AR" sz="1600" dirty="0"/>
              <a:t>=</a:t>
            </a:r>
            <a:r>
              <a:rPr lang="es-AR" sz="1600" dirty="0" smtClean="0"/>
              <a:t> </a:t>
            </a:r>
            <a:r>
              <a:rPr lang="es-AR" sz="1600" dirty="0"/>
              <a:t>'A</a:t>
            </a:r>
            <a:r>
              <a:rPr lang="es-AR" sz="1600" dirty="0" smtClean="0"/>
              <a:t>';</a:t>
            </a:r>
          </a:p>
          <a:p>
            <a:pPr marL="0" indent="0">
              <a:buNone/>
            </a:pPr>
            <a:r>
              <a:rPr lang="es-AR" sz="1600" dirty="0"/>
              <a:t> </a:t>
            </a:r>
            <a:r>
              <a:rPr lang="es-AR" sz="1600" dirty="0" smtClean="0"/>
              <a:t>         b </a:t>
            </a:r>
            <a:r>
              <a:rPr lang="es-AR" sz="1600" dirty="0"/>
              <a:t>=</a:t>
            </a:r>
            <a:r>
              <a:rPr lang="es-AR" sz="1600" dirty="0" smtClean="0"/>
              <a:t> </a:t>
            </a:r>
            <a:r>
              <a:rPr lang="es-AR" sz="1600" dirty="0"/>
              <a:t>false</a:t>
            </a:r>
            <a:r>
              <a:rPr lang="es-AR" sz="1600" dirty="0" smtClean="0"/>
              <a:t>;</a:t>
            </a:r>
          </a:p>
          <a:p>
            <a:pPr marL="0" indent="0">
              <a:buNone/>
            </a:pPr>
            <a:r>
              <a:rPr lang="es-AR" sz="1600" dirty="0"/>
              <a:t> </a:t>
            </a:r>
            <a:r>
              <a:rPr lang="es-AR" sz="1600" dirty="0" smtClean="0"/>
              <a:t>         s </a:t>
            </a:r>
            <a:r>
              <a:rPr lang="es-AR" sz="1600" dirty="0"/>
              <a:t>=</a:t>
            </a:r>
            <a:r>
              <a:rPr lang="es-AR" sz="1600" dirty="0" smtClean="0"/>
              <a:t> </a:t>
            </a:r>
            <a:r>
              <a:rPr lang="es-AR" sz="1600" dirty="0"/>
              <a:t>"Hola</a:t>
            </a:r>
            <a:r>
              <a:rPr lang="es-AR" sz="1600" dirty="0" smtClean="0"/>
              <a:t>";</a:t>
            </a:r>
          </a:p>
          <a:p>
            <a:pPr marL="0" indent="0">
              <a:buNone/>
            </a:pPr>
            <a:r>
              <a:rPr lang="es-AR" sz="1600" dirty="0"/>
              <a:t> </a:t>
            </a:r>
            <a:r>
              <a:rPr lang="es-AR" sz="1600" dirty="0" smtClean="0"/>
              <a:t>        </a:t>
            </a:r>
            <a:r>
              <a:rPr lang="es-AR" sz="1600" dirty="0" err="1"/>
              <a:t>System</a:t>
            </a:r>
            <a:r>
              <a:rPr lang="es-AR" sz="1600" dirty="0" err="1" smtClean="0"/>
              <a:t>.out.println</a:t>
            </a:r>
            <a:r>
              <a:rPr lang="es-AR" sz="1600" dirty="0" smtClean="0"/>
              <a:t>(</a:t>
            </a:r>
            <a:r>
              <a:rPr lang="es-AR" sz="1600" dirty="0"/>
              <a:t>"i = "</a:t>
            </a:r>
            <a:r>
              <a:rPr lang="es-AR" sz="1600" dirty="0" smtClean="0"/>
              <a:t> </a:t>
            </a:r>
            <a:r>
              <a:rPr lang="es-AR" sz="1600" dirty="0"/>
              <a:t>+</a:t>
            </a:r>
            <a:r>
              <a:rPr lang="es-AR" sz="1600" dirty="0" smtClean="0"/>
              <a:t> i);</a:t>
            </a:r>
          </a:p>
          <a:p>
            <a:pPr marL="0" indent="0">
              <a:buNone/>
            </a:pPr>
            <a:r>
              <a:rPr lang="es-AR" sz="1600" dirty="0"/>
              <a:t> </a:t>
            </a:r>
            <a:r>
              <a:rPr lang="es-AR" sz="1600" dirty="0" smtClean="0"/>
              <a:t>        </a:t>
            </a:r>
            <a:r>
              <a:rPr lang="es-AR" sz="1600" dirty="0" err="1"/>
              <a:t>System</a:t>
            </a:r>
            <a:r>
              <a:rPr lang="es-AR" sz="1600" dirty="0" err="1" smtClean="0"/>
              <a:t>.out.println</a:t>
            </a:r>
            <a:r>
              <a:rPr lang="es-AR" sz="1600" dirty="0" smtClean="0"/>
              <a:t>(</a:t>
            </a:r>
            <a:r>
              <a:rPr lang="es-AR" sz="1600" dirty="0"/>
              <a:t>"j = "</a:t>
            </a:r>
            <a:r>
              <a:rPr lang="es-AR" sz="1600" dirty="0" smtClean="0"/>
              <a:t> </a:t>
            </a:r>
            <a:r>
              <a:rPr lang="es-AR" sz="1600" dirty="0"/>
              <a:t>+</a:t>
            </a:r>
            <a:r>
              <a:rPr lang="es-AR" sz="1600" dirty="0" smtClean="0"/>
              <a:t> j);</a:t>
            </a:r>
          </a:p>
          <a:p>
            <a:pPr marL="0" indent="0">
              <a:buNone/>
            </a:pPr>
            <a:r>
              <a:rPr lang="es-AR" sz="1600" dirty="0"/>
              <a:t> </a:t>
            </a:r>
            <a:r>
              <a:rPr lang="es-AR" sz="1600" dirty="0" smtClean="0"/>
              <a:t>        </a:t>
            </a:r>
            <a:r>
              <a:rPr lang="es-AR" sz="1600" dirty="0" err="1"/>
              <a:t>System</a:t>
            </a:r>
            <a:r>
              <a:rPr lang="es-AR" sz="1600" dirty="0" err="1" smtClean="0"/>
              <a:t>.out.println</a:t>
            </a:r>
            <a:r>
              <a:rPr lang="es-AR" sz="1600" dirty="0" smtClean="0"/>
              <a:t>(</a:t>
            </a:r>
            <a:r>
              <a:rPr lang="es-AR" sz="1600" dirty="0"/>
              <a:t>"x = "</a:t>
            </a:r>
            <a:r>
              <a:rPr lang="es-AR" sz="1600" dirty="0" smtClean="0"/>
              <a:t> </a:t>
            </a:r>
            <a:r>
              <a:rPr lang="es-AR" sz="1600" dirty="0"/>
              <a:t>+</a:t>
            </a:r>
            <a:r>
              <a:rPr lang="es-AR" sz="1600" dirty="0" smtClean="0"/>
              <a:t> x)</a:t>
            </a:r>
            <a:r>
              <a:rPr lang="es-AR" sz="1600" dirty="0"/>
              <a:t>;</a:t>
            </a:r>
            <a:r>
              <a:rPr lang="es-AR" sz="1600" dirty="0" smtClean="0"/>
              <a:t> </a:t>
            </a:r>
          </a:p>
          <a:p>
            <a:pPr marL="0" indent="0">
              <a:buNone/>
            </a:pPr>
            <a:r>
              <a:rPr lang="es-AR" sz="1600" dirty="0"/>
              <a:t> </a:t>
            </a:r>
            <a:r>
              <a:rPr lang="es-AR" sz="1600" dirty="0" smtClean="0"/>
              <a:t>        </a:t>
            </a:r>
            <a:r>
              <a:rPr lang="es-AR" sz="1600" dirty="0" err="1" smtClean="0"/>
              <a:t>System.out.println</a:t>
            </a:r>
            <a:r>
              <a:rPr lang="es-AR" sz="1600" dirty="0" smtClean="0"/>
              <a:t>(</a:t>
            </a:r>
            <a:r>
              <a:rPr lang="es-AR" sz="1600" dirty="0"/>
              <a:t>"c = "</a:t>
            </a:r>
            <a:r>
              <a:rPr lang="es-AR" sz="1600" dirty="0" smtClean="0"/>
              <a:t> </a:t>
            </a:r>
            <a:r>
              <a:rPr lang="es-AR" sz="1600" dirty="0"/>
              <a:t>+</a:t>
            </a:r>
            <a:r>
              <a:rPr lang="es-AR" sz="1600" dirty="0" smtClean="0"/>
              <a:t> c);</a:t>
            </a:r>
          </a:p>
          <a:p>
            <a:pPr marL="0" indent="0">
              <a:buNone/>
            </a:pPr>
            <a:r>
              <a:rPr lang="es-AR" sz="1600" dirty="0"/>
              <a:t> </a:t>
            </a:r>
            <a:r>
              <a:rPr lang="es-AR" sz="1600" dirty="0" smtClean="0"/>
              <a:t>        </a:t>
            </a:r>
            <a:r>
              <a:rPr lang="es-AR" sz="1600" dirty="0" err="1"/>
              <a:t>System</a:t>
            </a:r>
            <a:r>
              <a:rPr lang="es-AR" sz="1600" dirty="0" err="1" smtClean="0"/>
              <a:t>.out.println</a:t>
            </a:r>
            <a:r>
              <a:rPr lang="es-AR" sz="1600" dirty="0" smtClean="0"/>
              <a:t>(</a:t>
            </a:r>
            <a:r>
              <a:rPr lang="es-AR" sz="1600" dirty="0"/>
              <a:t>"b = "</a:t>
            </a:r>
            <a:r>
              <a:rPr lang="es-AR" sz="1600" dirty="0" smtClean="0"/>
              <a:t> </a:t>
            </a:r>
            <a:r>
              <a:rPr lang="es-AR" sz="1600" dirty="0"/>
              <a:t>+</a:t>
            </a:r>
            <a:r>
              <a:rPr lang="es-AR" sz="1600" dirty="0" smtClean="0"/>
              <a:t> b)</a:t>
            </a:r>
            <a:r>
              <a:rPr lang="es-AR" sz="1600" dirty="0"/>
              <a:t>;</a:t>
            </a:r>
            <a:r>
              <a:rPr lang="es-AR" sz="1600" dirty="0" smtClean="0"/>
              <a:t> </a:t>
            </a:r>
          </a:p>
          <a:p>
            <a:pPr marL="0" indent="0">
              <a:buNone/>
            </a:pPr>
            <a:r>
              <a:rPr lang="es-AR" sz="1600" dirty="0"/>
              <a:t> </a:t>
            </a:r>
            <a:r>
              <a:rPr lang="es-AR" sz="1600" dirty="0" smtClean="0"/>
              <a:t>        </a:t>
            </a:r>
            <a:r>
              <a:rPr lang="es-AR" sz="1600" dirty="0" err="1" smtClean="0"/>
              <a:t>System.out.println</a:t>
            </a:r>
            <a:r>
              <a:rPr lang="es-AR" sz="1600" dirty="0" smtClean="0"/>
              <a:t>(</a:t>
            </a:r>
            <a:r>
              <a:rPr lang="es-AR" sz="1600" dirty="0"/>
              <a:t>"s = "</a:t>
            </a:r>
            <a:r>
              <a:rPr lang="es-AR" sz="1600" dirty="0" smtClean="0"/>
              <a:t> </a:t>
            </a:r>
            <a:r>
              <a:rPr lang="es-AR" sz="1600" dirty="0"/>
              <a:t>+</a:t>
            </a:r>
            <a:r>
              <a:rPr lang="es-AR" sz="1600" dirty="0" smtClean="0"/>
              <a:t> s)</a:t>
            </a:r>
            <a:r>
              <a:rPr lang="es-AR" sz="1600" dirty="0"/>
              <a:t>;</a:t>
            </a:r>
            <a:r>
              <a:rPr lang="es-AR" sz="1600" dirty="0" smtClean="0"/>
              <a:t> </a:t>
            </a:r>
          </a:p>
          <a:p>
            <a:pPr marL="0" indent="0">
              <a:buNone/>
            </a:pPr>
            <a:r>
              <a:rPr lang="es-AR" sz="1600" dirty="0"/>
              <a:t> </a:t>
            </a:r>
            <a:r>
              <a:rPr lang="es-AR" sz="1600" dirty="0" smtClean="0"/>
              <a:t>    } </a:t>
            </a:r>
          </a:p>
          <a:p>
            <a:pPr marL="0" indent="0">
              <a:buNone/>
            </a:pPr>
            <a:r>
              <a:rPr lang="es-AR" sz="1600" dirty="0" smtClean="0"/>
              <a:t>}</a:t>
            </a:r>
            <a:endParaRPr lang="es-AR" sz="1600" dirty="0"/>
          </a:p>
        </p:txBody>
      </p:sp>
    </p:spTree>
    <p:extLst>
      <p:ext uri="{BB962C8B-B14F-4D97-AF65-F5344CB8AC3E}">
        <p14:creationId xmlns:p14="http://schemas.microsoft.com/office/powerpoint/2010/main" val="2434096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00B050"/>
                </a:solidFill>
                <a:latin typeface="Verdana" panose="020B0604030504040204" pitchFamily="34" charset="0"/>
                <a:ea typeface="Verdana" panose="020B0604030504040204" pitchFamily="34" charset="0"/>
              </a:rPr>
              <a:t>Operadores Aritméticos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fontScale="92500" lnSpcReduction="10000"/>
          </a:bodyPr>
          <a:lstStyle/>
          <a:p>
            <a:r>
              <a:rPr lang="es-ES" dirty="0" smtClean="0"/>
              <a:t>Los lenguajes </a:t>
            </a:r>
            <a:r>
              <a:rPr lang="es-ES" dirty="0"/>
              <a:t>de programación </a:t>
            </a:r>
            <a:r>
              <a:rPr lang="es-ES" dirty="0" smtClean="0"/>
              <a:t>tienen </a:t>
            </a:r>
            <a:r>
              <a:rPr lang="es-ES" dirty="0"/>
              <a:t>varios operadores aritméticos para los datos numéricos enteros y reales</a:t>
            </a:r>
            <a:r>
              <a:rPr lang="es-ES" dirty="0" smtClean="0"/>
              <a:t>.</a:t>
            </a:r>
          </a:p>
          <a:p>
            <a:r>
              <a:rPr lang="es-ES" dirty="0" smtClean="0"/>
              <a:t>Operador unario de cambio de signo   </a:t>
            </a:r>
            <a:r>
              <a:rPr lang="es-ES" b="1" dirty="0" smtClean="0">
                <a:solidFill>
                  <a:srgbClr val="00B050"/>
                </a:solidFill>
                <a:latin typeface="Verdana" panose="020B0604030504040204" pitchFamily="34" charset="0"/>
                <a:ea typeface="Verdana" panose="020B0604030504040204" pitchFamily="34" charset="0"/>
              </a:rPr>
              <a:t>-</a:t>
            </a:r>
            <a:endParaRPr lang="es-ES" b="1" dirty="0">
              <a:solidFill>
                <a:srgbClr val="00B050"/>
              </a:solidFill>
              <a:latin typeface="Verdana" panose="020B0604030504040204" pitchFamily="34" charset="0"/>
              <a:ea typeface="Verdana" panose="020B0604030504040204" pitchFamily="34" charset="0"/>
            </a:endParaRPr>
          </a:p>
          <a:p>
            <a:r>
              <a:rPr lang="es-ES" dirty="0" smtClean="0"/>
              <a:t>Suma                                                          </a:t>
            </a:r>
            <a:r>
              <a:rPr lang="es-ES" b="1" dirty="0" smtClean="0">
                <a:solidFill>
                  <a:srgbClr val="00B050"/>
                </a:solidFill>
                <a:latin typeface="Verdana" panose="020B0604030504040204" pitchFamily="34" charset="0"/>
                <a:ea typeface="Verdana" panose="020B0604030504040204" pitchFamily="34" charset="0"/>
              </a:rPr>
              <a:t>+</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Resta</a:t>
            </a:r>
            <a:r>
              <a:rPr lang="es-ES" dirty="0" smtClean="0"/>
              <a:t>                                                           </a:t>
            </a:r>
            <a:r>
              <a:rPr lang="es-ES" b="1" dirty="0" smtClean="0">
                <a:solidFill>
                  <a:srgbClr val="00B050"/>
                </a:solidFill>
                <a:latin typeface="Verdana" panose="020B0604030504040204" pitchFamily="34" charset="0"/>
                <a:ea typeface="Verdana" panose="020B0604030504040204" pitchFamily="34" charset="0"/>
              </a:rPr>
              <a:t>-</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Producto                                                    </a:t>
            </a:r>
            <a:r>
              <a:rPr lang="es-ES" b="1" dirty="0" smtClean="0">
                <a:solidFill>
                  <a:srgbClr val="00B050"/>
                </a:solidFill>
                <a:latin typeface="Verdana" panose="020B0604030504040204" pitchFamily="34" charset="0"/>
                <a:ea typeface="Verdana" panose="020B0604030504040204" pitchFamily="34" charset="0"/>
              </a:rPr>
              <a:t>*</a:t>
            </a:r>
          </a:p>
          <a:p>
            <a:r>
              <a:rPr lang="es-ES" dirty="0" smtClean="0"/>
              <a:t>División (Entera o Real)                           </a:t>
            </a:r>
            <a:r>
              <a:rPr lang="es-ES" b="1" dirty="0" smtClean="0">
                <a:solidFill>
                  <a:srgbClr val="00B050"/>
                </a:solidFill>
                <a:latin typeface="Verdana" panose="020B0604030504040204" pitchFamily="34" charset="0"/>
                <a:ea typeface="Verdana" panose="020B0604030504040204" pitchFamily="34" charset="0"/>
              </a:rPr>
              <a:t>/</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Resto de la División Entera</a:t>
            </a:r>
            <a:r>
              <a:rPr lang="es-ES" dirty="0" smtClean="0"/>
              <a:t>                    </a:t>
            </a:r>
            <a:r>
              <a:rPr lang="es-ES" b="1" dirty="0">
                <a:solidFill>
                  <a:srgbClr val="00B050"/>
                </a:solidFill>
                <a:latin typeface="Verdana" panose="020B0604030504040204" pitchFamily="34" charset="0"/>
                <a:ea typeface="Verdana" panose="020B0604030504040204" pitchFamily="34" charset="0"/>
              </a:rPr>
              <a:t>%</a:t>
            </a:r>
            <a:endParaRPr lang="es-AR" dirty="0">
              <a:ea typeface="Verdana" panose="020B0604030504040204" pitchFamily="34" charset="0"/>
            </a:endParaRPr>
          </a:p>
          <a:p>
            <a:endParaRPr lang="es-AR" dirty="0">
              <a:ea typeface="Verdana" panose="020B0604030504040204" pitchFamily="34" charset="0"/>
            </a:endParaRPr>
          </a:p>
          <a:p>
            <a:endParaRPr lang="es-ES" b="1" dirty="0" smtClean="0">
              <a:solidFill>
                <a:srgbClr val="00B050"/>
              </a:solidFill>
              <a:latin typeface="Verdana" panose="020B0604030504040204" pitchFamily="34" charset="0"/>
              <a:ea typeface="Verdana" panose="020B0604030504040204" pitchFamily="34" charset="0"/>
            </a:endParaRPr>
          </a:p>
          <a:p>
            <a:pPr marL="0" indent="0">
              <a:buNone/>
            </a:pPr>
            <a:endParaRPr lang="es-AR" dirty="0">
              <a:ea typeface="Verdana" panose="020B0604030504040204" pitchFamily="34" charset="0"/>
            </a:endParaRPr>
          </a:p>
          <a:p>
            <a:endParaRPr lang="es-AR" dirty="0">
              <a:ea typeface="Verdana" panose="020B0604030504040204" pitchFamily="34" charset="0"/>
            </a:endParaRPr>
          </a:p>
          <a:p>
            <a:endParaRPr lang="es-AR" dirty="0">
              <a:latin typeface="+mj-lt"/>
              <a:ea typeface="Verdana" panose="020B0604030504040204" pitchFamily="34" charset="0"/>
            </a:endParaRPr>
          </a:p>
        </p:txBody>
      </p:sp>
    </p:spTree>
    <p:extLst>
      <p:ext uri="{BB962C8B-B14F-4D97-AF65-F5344CB8AC3E}">
        <p14:creationId xmlns:p14="http://schemas.microsoft.com/office/powerpoint/2010/main" val="2168630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714202"/>
          </a:xfrm>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Operadores Aritméticos</a:t>
            </a:r>
            <a:br>
              <a:rPr lang="es-ES" b="1" dirty="0" smtClean="0">
                <a:solidFill>
                  <a:srgbClr val="00B050"/>
                </a:solidFill>
                <a:latin typeface="Verdana" panose="020B0604030504040204" pitchFamily="34" charset="0"/>
                <a:ea typeface="Verdana" panose="020B0604030504040204" pitchFamily="34" charset="0"/>
              </a:rPr>
            </a:br>
            <a:r>
              <a:rPr lang="es-ES" b="1" dirty="0" smtClean="0">
                <a:solidFill>
                  <a:srgbClr val="00B050"/>
                </a:solidFill>
                <a:latin typeface="Verdana" panose="020B0604030504040204" pitchFamily="34" charset="0"/>
                <a:ea typeface="Verdana" panose="020B0604030504040204" pitchFamily="34" charset="0"/>
              </a:rPr>
              <a:t>                         </a:t>
            </a:r>
            <a:r>
              <a:rPr lang="es-ES" sz="3200" b="1" dirty="0" smtClean="0">
                <a:solidFill>
                  <a:srgbClr val="00B050"/>
                </a:solidFill>
                <a:latin typeface="+mn-lt"/>
                <a:ea typeface="Verdana" panose="020B0604030504040204" pitchFamily="34" charset="0"/>
              </a:rPr>
              <a:t>Expresión       Resultado</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a:xfrm>
            <a:off x="467544" y="1988840"/>
            <a:ext cx="8229600" cy="4525963"/>
          </a:xfrm>
        </p:spPr>
        <p:txBody>
          <a:bodyPr>
            <a:normAutofit/>
          </a:bodyPr>
          <a:lstStyle/>
          <a:p>
            <a:r>
              <a:rPr lang="es-ES" dirty="0" smtClean="0"/>
              <a:t>Operador unario de                                       cambio de signo</a:t>
            </a:r>
            <a:r>
              <a:rPr lang="es-ES" sz="2400" dirty="0" smtClean="0"/>
              <a:t> </a:t>
            </a:r>
            <a:r>
              <a:rPr lang="es-ES" dirty="0" smtClean="0"/>
              <a:t>                       </a:t>
            </a:r>
            <a:r>
              <a:rPr lang="es-ES" b="1" dirty="0" smtClean="0">
                <a:solidFill>
                  <a:srgbClr val="00B050"/>
                </a:solidFill>
                <a:latin typeface="Verdana" panose="020B0604030504040204" pitchFamily="34" charset="0"/>
                <a:ea typeface="Verdana" panose="020B0604030504040204" pitchFamily="34" charset="0"/>
              </a:rPr>
              <a:t>-4           -4</a:t>
            </a:r>
            <a:endParaRPr lang="es-ES" b="1" dirty="0">
              <a:solidFill>
                <a:srgbClr val="00B050"/>
              </a:solidFill>
              <a:latin typeface="Verdana" panose="020B0604030504040204" pitchFamily="34" charset="0"/>
              <a:ea typeface="Verdana" panose="020B0604030504040204" pitchFamily="34" charset="0"/>
            </a:endParaRPr>
          </a:p>
          <a:p>
            <a:r>
              <a:rPr lang="es-ES" dirty="0" smtClean="0"/>
              <a:t>Suma                             </a:t>
            </a:r>
            <a:r>
              <a:rPr lang="es-ES" b="1" dirty="0" smtClean="0">
                <a:solidFill>
                  <a:srgbClr val="00B050"/>
                </a:solidFill>
                <a:latin typeface="Verdana" panose="020B0604030504040204" pitchFamily="34" charset="0"/>
                <a:ea typeface="Verdana" panose="020B0604030504040204" pitchFamily="34" charset="0"/>
              </a:rPr>
              <a:t>2.5+7.1         9.6</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Resta</a:t>
            </a:r>
            <a:r>
              <a:rPr lang="es-ES" dirty="0" smtClean="0"/>
              <a:t>                   </a:t>
            </a:r>
            <a:r>
              <a:rPr lang="es-ES" b="1" dirty="0" smtClean="0">
                <a:solidFill>
                  <a:srgbClr val="00B050"/>
                </a:solidFill>
                <a:latin typeface="Verdana" panose="020B0604030504040204" pitchFamily="34" charset="0"/>
                <a:ea typeface="Verdana" panose="020B0604030504040204" pitchFamily="34" charset="0"/>
              </a:rPr>
              <a:t>245.8-105.3     140.5</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Producto                        </a:t>
            </a:r>
            <a:r>
              <a:rPr lang="es-ES" b="1" dirty="0" smtClean="0">
                <a:solidFill>
                  <a:srgbClr val="00B050"/>
                </a:solidFill>
                <a:latin typeface="Verdana" panose="020B0604030504040204" pitchFamily="34" charset="0"/>
                <a:ea typeface="Verdana" panose="020B0604030504040204" pitchFamily="34" charset="0"/>
              </a:rPr>
              <a:t>1.3*1.3       1.69</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División                               </a:t>
            </a:r>
            <a:r>
              <a:rPr lang="es-ES" b="1" dirty="0" smtClean="0">
                <a:solidFill>
                  <a:srgbClr val="00B050"/>
                </a:solidFill>
                <a:latin typeface="Verdana" panose="020B0604030504040204" pitchFamily="34" charset="0"/>
                <a:ea typeface="Verdana" panose="020B0604030504040204" pitchFamily="34" charset="0"/>
              </a:rPr>
              <a:t>7.0/2         3.5       </a:t>
            </a:r>
            <a:endParaRPr lang="es-ES" b="1" dirty="0" smtClean="0">
              <a:solidFill>
                <a:srgbClr val="00B050"/>
              </a:solidFill>
              <a:latin typeface="Verdana" panose="020B0604030504040204" pitchFamily="34" charset="0"/>
              <a:ea typeface="Verdana" panose="020B0604030504040204" pitchFamily="34" charset="0"/>
            </a:endParaRPr>
          </a:p>
          <a:p>
            <a:r>
              <a:rPr lang="es-ES" dirty="0" smtClean="0"/>
              <a:t>Resto de la                                                      División Entera</a:t>
            </a:r>
            <a:r>
              <a:rPr lang="es-ES" dirty="0" smtClean="0"/>
              <a:t>                  </a:t>
            </a:r>
            <a:r>
              <a:rPr lang="es-ES" b="1" dirty="0" smtClean="0">
                <a:solidFill>
                  <a:srgbClr val="00B050"/>
                </a:solidFill>
                <a:latin typeface="Verdana" panose="020B0604030504040204" pitchFamily="34" charset="0"/>
                <a:ea typeface="Verdana" panose="020B0604030504040204" pitchFamily="34" charset="0"/>
              </a:rPr>
              <a:t>17%3            2</a:t>
            </a:r>
            <a:endParaRPr lang="es-AR" dirty="0">
              <a:ea typeface="Verdana" panose="020B0604030504040204" pitchFamily="34" charset="0"/>
            </a:endParaRPr>
          </a:p>
          <a:p>
            <a:endParaRPr lang="es-AR" dirty="0">
              <a:ea typeface="Verdana" panose="020B0604030504040204" pitchFamily="34" charset="0"/>
            </a:endParaRPr>
          </a:p>
          <a:p>
            <a:endParaRPr lang="es-ES" b="1" dirty="0" smtClean="0">
              <a:solidFill>
                <a:srgbClr val="00B050"/>
              </a:solidFill>
              <a:latin typeface="Verdana" panose="020B0604030504040204" pitchFamily="34" charset="0"/>
              <a:ea typeface="Verdana" panose="020B0604030504040204" pitchFamily="34" charset="0"/>
            </a:endParaRPr>
          </a:p>
          <a:p>
            <a:pPr marL="0" indent="0">
              <a:buNone/>
            </a:pPr>
            <a:endParaRPr lang="es-AR" dirty="0">
              <a:ea typeface="Verdana" panose="020B0604030504040204" pitchFamily="34" charset="0"/>
            </a:endParaRPr>
          </a:p>
          <a:p>
            <a:endParaRPr lang="es-AR" dirty="0">
              <a:ea typeface="Verdana" panose="020B0604030504040204" pitchFamily="34" charset="0"/>
            </a:endParaRPr>
          </a:p>
          <a:p>
            <a:endParaRPr lang="es-AR" dirty="0">
              <a:latin typeface="+mj-lt"/>
              <a:ea typeface="Verdana" panose="020B0604030504040204" pitchFamily="34" charset="0"/>
            </a:endParaRPr>
          </a:p>
        </p:txBody>
      </p:sp>
      <p:cxnSp>
        <p:nvCxnSpPr>
          <p:cNvPr id="9" name="8 Conector recto"/>
          <p:cNvCxnSpPr/>
          <p:nvPr/>
        </p:nvCxnSpPr>
        <p:spPr>
          <a:xfrm>
            <a:off x="6732240" y="1340768"/>
            <a:ext cx="0" cy="5112568"/>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6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22114"/>
          </a:xfrm>
        </p:spPr>
        <p:txBody>
          <a:bodyPr/>
          <a:lstStyle/>
          <a:p>
            <a:r>
              <a:rPr lang="es-ES" b="1" dirty="0" smtClean="0">
                <a:solidFill>
                  <a:srgbClr val="00B050"/>
                </a:solidFill>
                <a:latin typeface="Verdana" panose="020B0604030504040204" pitchFamily="34" charset="0"/>
                <a:ea typeface="Verdana" panose="020B0604030504040204" pitchFamily="34" charset="0"/>
              </a:rPr>
              <a:t>Operadores Aritméticos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a:xfrm>
            <a:off x="179512" y="1268760"/>
            <a:ext cx="8784976" cy="5400600"/>
          </a:xfrm>
        </p:spPr>
        <p:txBody>
          <a:bodyPr>
            <a:noAutofit/>
          </a:bodyPr>
          <a:lstStyle/>
          <a:p>
            <a:r>
              <a:rPr lang="es-ES" sz="1800" dirty="0"/>
              <a:t>El resultado es de tipo </a:t>
            </a:r>
            <a:r>
              <a:rPr lang="es-ES" sz="1800" dirty="0" err="1"/>
              <a:t>long</a:t>
            </a:r>
            <a:r>
              <a:rPr lang="es-ES" sz="1800" dirty="0"/>
              <a:t> si, al menos, uno de los </a:t>
            </a:r>
            <a:r>
              <a:rPr lang="es-ES" sz="1800" dirty="0" err="1"/>
              <a:t>operandos</a:t>
            </a:r>
            <a:r>
              <a:rPr lang="es-ES" sz="1800" dirty="0"/>
              <a:t> es de tipo </a:t>
            </a:r>
            <a:r>
              <a:rPr lang="es-ES" sz="1800" dirty="0" err="1"/>
              <a:t>long</a:t>
            </a:r>
            <a:r>
              <a:rPr lang="es-ES" sz="1800" dirty="0"/>
              <a:t> y ninguno es real (</a:t>
            </a:r>
            <a:r>
              <a:rPr lang="es-ES" sz="1800" dirty="0" err="1"/>
              <a:t>float</a:t>
            </a:r>
            <a:r>
              <a:rPr lang="es-ES" sz="1800" dirty="0"/>
              <a:t> o </a:t>
            </a:r>
            <a:r>
              <a:rPr lang="es-ES" sz="1800" dirty="0" err="1"/>
              <a:t>double</a:t>
            </a:r>
            <a:r>
              <a:rPr lang="es-ES" sz="1800" dirty="0"/>
              <a:t>).</a:t>
            </a:r>
          </a:p>
          <a:p>
            <a:r>
              <a:rPr lang="es-ES" sz="1800" dirty="0"/>
              <a:t>El resultado es de tipo </a:t>
            </a:r>
            <a:r>
              <a:rPr lang="es-ES" sz="1800" dirty="0" err="1"/>
              <a:t>int</a:t>
            </a:r>
            <a:r>
              <a:rPr lang="es-ES" sz="1800" dirty="0"/>
              <a:t> si ninguno de los </a:t>
            </a:r>
            <a:r>
              <a:rPr lang="es-ES" sz="1800" dirty="0" err="1"/>
              <a:t>operandos</a:t>
            </a:r>
            <a:r>
              <a:rPr lang="es-ES" sz="1800" dirty="0"/>
              <a:t> es de tipo </a:t>
            </a:r>
            <a:r>
              <a:rPr lang="es-ES" sz="1800" dirty="0" err="1"/>
              <a:t>long</a:t>
            </a:r>
            <a:r>
              <a:rPr lang="es-ES" sz="1800" dirty="0"/>
              <a:t> y tampoco es real (</a:t>
            </a:r>
            <a:r>
              <a:rPr lang="es-ES" sz="1800" dirty="0" err="1"/>
              <a:t>float</a:t>
            </a:r>
            <a:r>
              <a:rPr lang="es-ES" sz="1800" dirty="0"/>
              <a:t> o </a:t>
            </a:r>
            <a:r>
              <a:rPr lang="es-ES" sz="1800" dirty="0" err="1"/>
              <a:t>double</a:t>
            </a:r>
            <a:r>
              <a:rPr lang="es-ES" sz="1800" dirty="0"/>
              <a:t>).</a:t>
            </a:r>
          </a:p>
          <a:p>
            <a:r>
              <a:rPr lang="es-ES" sz="1800" dirty="0"/>
              <a:t>El resultado es de tipo </a:t>
            </a:r>
            <a:r>
              <a:rPr lang="es-ES" sz="1800" dirty="0" err="1"/>
              <a:t>double</a:t>
            </a:r>
            <a:r>
              <a:rPr lang="es-ES" sz="1800" dirty="0"/>
              <a:t> si, al menos, uno de los </a:t>
            </a:r>
            <a:r>
              <a:rPr lang="es-ES" sz="1800" dirty="0" err="1"/>
              <a:t>operandos</a:t>
            </a:r>
            <a:r>
              <a:rPr lang="es-ES" sz="1800" dirty="0"/>
              <a:t> es de tipo </a:t>
            </a:r>
            <a:r>
              <a:rPr lang="es-ES" sz="1800" dirty="0" err="1"/>
              <a:t>double</a:t>
            </a:r>
            <a:r>
              <a:rPr lang="es-ES" sz="1800" dirty="0"/>
              <a:t>.</a:t>
            </a:r>
          </a:p>
          <a:p>
            <a:r>
              <a:rPr lang="es-ES" sz="1800" dirty="0"/>
              <a:t>El resultado es de tipo </a:t>
            </a:r>
            <a:r>
              <a:rPr lang="es-ES" sz="1800" dirty="0" err="1"/>
              <a:t>float</a:t>
            </a:r>
            <a:r>
              <a:rPr lang="es-ES" sz="1800" dirty="0"/>
              <a:t> si, al menos, uno de los </a:t>
            </a:r>
            <a:r>
              <a:rPr lang="es-ES" sz="1800" dirty="0" err="1"/>
              <a:t>operandos</a:t>
            </a:r>
            <a:r>
              <a:rPr lang="es-ES" sz="1800" dirty="0"/>
              <a:t> es de tipo </a:t>
            </a:r>
            <a:r>
              <a:rPr lang="es-ES" sz="1800" dirty="0" err="1"/>
              <a:t>float</a:t>
            </a:r>
            <a:r>
              <a:rPr lang="es-ES" sz="1800" dirty="0"/>
              <a:t> y  ninguno es </a:t>
            </a:r>
            <a:r>
              <a:rPr lang="es-ES" sz="1800" dirty="0" err="1"/>
              <a:t>double</a:t>
            </a:r>
            <a:r>
              <a:rPr lang="es-ES" sz="1800" dirty="0"/>
              <a:t>.</a:t>
            </a:r>
          </a:p>
          <a:p>
            <a:r>
              <a:rPr lang="es-ES" sz="1800" dirty="0"/>
              <a:t>El formato empleado para la representación de datos enteros es el complemento a dos. En la aritmética entera no se producen nunca desbordamientos (</a:t>
            </a:r>
            <a:r>
              <a:rPr lang="es-ES" sz="1800" i="1" dirty="0" err="1"/>
              <a:t>overflow</a:t>
            </a:r>
            <a:r>
              <a:rPr lang="es-ES" sz="1800" dirty="0"/>
              <a:t>) aunque el resultado sobrepase el intervalo de representación (</a:t>
            </a:r>
            <a:r>
              <a:rPr lang="es-ES" sz="1800" dirty="0" err="1"/>
              <a:t>int</a:t>
            </a:r>
            <a:r>
              <a:rPr lang="es-ES" sz="1800" dirty="0"/>
              <a:t> o </a:t>
            </a:r>
            <a:r>
              <a:rPr lang="es-ES" sz="1800" dirty="0" err="1"/>
              <a:t>long</a:t>
            </a:r>
            <a:r>
              <a:rPr lang="es-ES" sz="1800" dirty="0"/>
              <a:t>).</a:t>
            </a:r>
          </a:p>
          <a:p>
            <a:r>
              <a:rPr lang="es-ES" sz="1800" dirty="0"/>
              <a:t>La división entera se trunca hacia 0. La división o el resto de dividir por cero es una operación válida que genera una excepción </a:t>
            </a:r>
            <a:r>
              <a:rPr lang="es-ES" sz="1800" dirty="0" err="1"/>
              <a:t>ArithmeticException</a:t>
            </a:r>
            <a:r>
              <a:rPr lang="es-ES" sz="1800" dirty="0"/>
              <a:t> que puede dar lugar a un error de ejecución y la consiguiente interrupción de la ejecución del programa.</a:t>
            </a:r>
          </a:p>
          <a:p>
            <a:r>
              <a:rPr lang="es-ES" sz="1800" dirty="0"/>
              <a:t>La aritmética real (en coma flotante) puede desbordar al infinito (demasiado grande, </a:t>
            </a:r>
            <a:r>
              <a:rPr lang="es-ES" sz="1800" dirty="0" err="1"/>
              <a:t>overflow</a:t>
            </a:r>
            <a:r>
              <a:rPr lang="es-ES" sz="1800" dirty="0"/>
              <a:t>) o hacia cero (demasiado pequeño, </a:t>
            </a:r>
            <a:r>
              <a:rPr lang="es-ES" sz="1800" dirty="0" err="1"/>
              <a:t>underflow</a:t>
            </a:r>
            <a:r>
              <a:rPr lang="es-ES" sz="1800" dirty="0"/>
              <a:t>).</a:t>
            </a:r>
          </a:p>
          <a:p>
            <a:r>
              <a:rPr lang="es-ES" sz="1800" dirty="0"/>
              <a:t>El resultado de una expresión inválida, por ejemplo, dividir infinito por infinito, no genera una excepción ni un error de ejecución: es un valor </a:t>
            </a:r>
            <a:r>
              <a:rPr lang="es-ES" sz="1800" dirty="0" err="1"/>
              <a:t>NaN</a:t>
            </a:r>
            <a:r>
              <a:rPr lang="es-ES" sz="1800" dirty="0"/>
              <a:t> (</a:t>
            </a:r>
            <a:r>
              <a:rPr lang="es-ES" sz="1800" dirty="0" err="1"/>
              <a:t>Not</a:t>
            </a:r>
            <a:r>
              <a:rPr lang="es-ES" sz="1800" dirty="0"/>
              <a:t> a </a:t>
            </a:r>
            <a:r>
              <a:rPr lang="es-ES" sz="1800" dirty="0" err="1"/>
              <a:t>Number</a:t>
            </a:r>
            <a:r>
              <a:rPr lang="es-ES" sz="1800" dirty="0"/>
              <a:t>).</a:t>
            </a:r>
          </a:p>
          <a:p>
            <a:endParaRPr lang="es-AR" sz="2000" dirty="0"/>
          </a:p>
        </p:txBody>
      </p:sp>
    </p:spTree>
    <p:extLst>
      <p:ext uri="{BB962C8B-B14F-4D97-AF65-F5344CB8AC3E}">
        <p14:creationId xmlns:p14="http://schemas.microsoft.com/office/powerpoint/2010/main" val="2958045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Operadores Incrementales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lnSpcReduction="10000"/>
          </a:bodyPr>
          <a:lstStyle/>
          <a:p>
            <a:r>
              <a:rPr lang="es-ES" dirty="0"/>
              <a:t>Los operadores aritméticos incrementales son operadores unarios (un único operando). El operando puede ser numérico o de tipo </a:t>
            </a:r>
            <a:r>
              <a:rPr lang="es-ES" dirty="0" err="1"/>
              <a:t>char</a:t>
            </a:r>
            <a:r>
              <a:rPr lang="es-ES" dirty="0"/>
              <a:t> y el resultado es del mismo tipo que el operando. Estos operadores pueden emplearse de dos formas dependiendo de su posición con respecto al operando</a:t>
            </a:r>
            <a:r>
              <a:rPr lang="es-ES" dirty="0" smtClean="0"/>
              <a:t>.</a:t>
            </a:r>
          </a:p>
          <a:p>
            <a:r>
              <a:rPr lang="es-ES" dirty="0" smtClean="0"/>
              <a:t>Ejemplo 1      a=5; b=5++  </a:t>
            </a:r>
          </a:p>
          <a:p>
            <a:r>
              <a:rPr lang="es-ES" dirty="0" smtClean="0"/>
              <a:t>Ejemplo2       a=5; b=++5             </a:t>
            </a:r>
            <a:endParaRPr lang="es-AR" dirty="0"/>
          </a:p>
        </p:txBody>
      </p:sp>
    </p:spTree>
    <p:extLst>
      <p:ext uri="{BB962C8B-B14F-4D97-AF65-F5344CB8AC3E}">
        <p14:creationId xmlns:p14="http://schemas.microsoft.com/office/powerpoint/2010/main" val="203947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Operadores </a:t>
            </a:r>
            <a:r>
              <a:rPr lang="es-ES" b="1" dirty="0" err="1" smtClean="0">
                <a:solidFill>
                  <a:srgbClr val="00B050"/>
                </a:solidFill>
                <a:latin typeface="Verdana" panose="020B0604030504040204" pitchFamily="34" charset="0"/>
                <a:ea typeface="Verdana" panose="020B0604030504040204" pitchFamily="34" charset="0"/>
              </a:rPr>
              <a:t>Aritmeticos</a:t>
            </a:r>
            <a:r>
              <a:rPr lang="es-ES" b="1" dirty="0" smtClean="0">
                <a:solidFill>
                  <a:srgbClr val="00B050"/>
                </a:solidFill>
                <a:latin typeface="Verdana" panose="020B0604030504040204" pitchFamily="34" charset="0"/>
                <a:ea typeface="Verdana" panose="020B0604030504040204" pitchFamily="34" charset="0"/>
              </a:rPr>
              <a:t> Combinados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fontScale="77500" lnSpcReduction="20000"/>
          </a:bodyPr>
          <a:lstStyle/>
          <a:p>
            <a:r>
              <a:rPr lang="es-ES" dirty="0"/>
              <a:t>Combinan un operador aritmético con el operador asignación. Como en el caso de los operadores aritméticos pueden tener </a:t>
            </a:r>
            <a:r>
              <a:rPr lang="es-ES" dirty="0" err="1"/>
              <a:t>operandos</a:t>
            </a:r>
            <a:r>
              <a:rPr lang="es-ES" dirty="0"/>
              <a:t> numéricos enteros o reales y el tipo específico de resultado numérico dependerá del tipo de éstos. En </a:t>
            </a:r>
            <a:r>
              <a:rPr lang="es-ES" dirty="0" smtClean="0"/>
              <a:t>los siguientes ejemplos </a:t>
            </a:r>
            <a:r>
              <a:rPr lang="es-ES" dirty="0"/>
              <a:t>se resumen los diferentes operadores de esta categoría</a:t>
            </a:r>
            <a:r>
              <a:rPr lang="es-ES" dirty="0" smtClean="0"/>
              <a:t>.</a:t>
            </a:r>
          </a:p>
          <a:p>
            <a:endParaRPr lang="es-ES" dirty="0" smtClean="0"/>
          </a:p>
          <a:p>
            <a:r>
              <a:rPr lang="es-ES" dirty="0" smtClean="0"/>
              <a:t>Ej1 Suma combinada          </a:t>
            </a:r>
            <a:r>
              <a:rPr lang="es-ES" b="1" dirty="0" smtClean="0">
                <a:solidFill>
                  <a:srgbClr val="00B050"/>
                </a:solidFill>
              </a:rPr>
              <a:t>a+=b</a:t>
            </a:r>
            <a:r>
              <a:rPr lang="es-ES" dirty="0" smtClean="0"/>
              <a:t>     equivale a </a:t>
            </a:r>
            <a:r>
              <a:rPr lang="es-ES" b="1" dirty="0" smtClean="0">
                <a:solidFill>
                  <a:srgbClr val="00B050"/>
                </a:solidFill>
              </a:rPr>
              <a:t>a=</a:t>
            </a:r>
            <a:r>
              <a:rPr lang="es-ES" b="1" dirty="0" err="1" smtClean="0">
                <a:solidFill>
                  <a:srgbClr val="00B050"/>
                </a:solidFill>
              </a:rPr>
              <a:t>a+b</a:t>
            </a:r>
            <a:endParaRPr lang="es-ES" dirty="0" smtClean="0"/>
          </a:p>
          <a:p>
            <a:r>
              <a:rPr lang="es-ES" dirty="0" smtClean="0"/>
              <a:t>Ej1 Resta combinada          </a:t>
            </a:r>
            <a:r>
              <a:rPr lang="es-ES" b="1" dirty="0" smtClean="0">
                <a:solidFill>
                  <a:srgbClr val="00B050"/>
                </a:solidFill>
              </a:rPr>
              <a:t>a-=b</a:t>
            </a:r>
            <a:r>
              <a:rPr lang="es-ES" dirty="0" smtClean="0"/>
              <a:t>      equivale a </a:t>
            </a:r>
            <a:r>
              <a:rPr lang="es-ES" b="1" dirty="0" smtClean="0">
                <a:solidFill>
                  <a:srgbClr val="00B050"/>
                </a:solidFill>
              </a:rPr>
              <a:t>a=a-b</a:t>
            </a:r>
            <a:endParaRPr lang="es-AR" b="1" dirty="0" smtClean="0">
              <a:solidFill>
                <a:srgbClr val="00B050"/>
              </a:solidFill>
            </a:endParaRPr>
          </a:p>
          <a:p>
            <a:r>
              <a:rPr lang="es-ES" dirty="0" smtClean="0"/>
              <a:t>Ej1 Producto combinado   </a:t>
            </a:r>
            <a:r>
              <a:rPr lang="es-ES" b="1" dirty="0" smtClean="0">
                <a:solidFill>
                  <a:srgbClr val="00B050"/>
                </a:solidFill>
              </a:rPr>
              <a:t>a</a:t>
            </a:r>
            <a:r>
              <a:rPr lang="es-ES" b="1" dirty="0">
                <a:solidFill>
                  <a:srgbClr val="00B050"/>
                </a:solidFill>
              </a:rPr>
              <a:t>*</a:t>
            </a:r>
            <a:r>
              <a:rPr lang="es-ES" b="1" dirty="0" smtClean="0">
                <a:solidFill>
                  <a:srgbClr val="00B050"/>
                </a:solidFill>
              </a:rPr>
              <a:t>=b</a:t>
            </a:r>
            <a:r>
              <a:rPr lang="es-ES" dirty="0" smtClean="0"/>
              <a:t>      equivale a </a:t>
            </a:r>
            <a:r>
              <a:rPr lang="es-ES" b="1" dirty="0" smtClean="0">
                <a:solidFill>
                  <a:srgbClr val="00B050"/>
                </a:solidFill>
              </a:rPr>
              <a:t>a=</a:t>
            </a:r>
            <a:r>
              <a:rPr lang="es-ES" b="1" dirty="0" err="1" smtClean="0">
                <a:solidFill>
                  <a:srgbClr val="00B050"/>
                </a:solidFill>
              </a:rPr>
              <a:t>a+b</a:t>
            </a:r>
            <a:endParaRPr lang="es-ES" dirty="0" smtClean="0"/>
          </a:p>
          <a:p>
            <a:r>
              <a:rPr lang="es-ES" dirty="0" smtClean="0"/>
              <a:t>Ej1 </a:t>
            </a:r>
            <a:r>
              <a:rPr lang="es-ES" dirty="0" err="1" smtClean="0"/>
              <a:t>Division</a:t>
            </a:r>
            <a:r>
              <a:rPr lang="es-ES" dirty="0" smtClean="0"/>
              <a:t> combinada     </a:t>
            </a:r>
            <a:r>
              <a:rPr lang="es-ES" b="1" dirty="0" smtClean="0">
                <a:solidFill>
                  <a:srgbClr val="00B050"/>
                </a:solidFill>
              </a:rPr>
              <a:t>a</a:t>
            </a:r>
            <a:r>
              <a:rPr lang="es-ES" b="1" dirty="0">
                <a:solidFill>
                  <a:srgbClr val="00B050"/>
                </a:solidFill>
              </a:rPr>
              <a:t>/</a:t>
            </a:r>
            <a:r>
              <a:rPr lang="es-ES" b="1" dirty="0" smtClean="0">
                <a:solidFill>
                  <a:srgbClr val="00B050"/>
                </a:solidFill>
              </a:rPr>
              <a:t>=b</a:t>
            </a:r>
            <a:r>
              <a:rPr lang="es-ES" dirty="0" smtClean="0"/>
              <a:t>       equivale a </a:t>
            </a:r>
            <a:r>
              <a:rPr lang="es-ES" b="1" dirty="0" smtClean="0">
                <a:solidFill>
                  <a:srgbClr val="00B050"/>
                </a:solidFill>
              </a:rPr>
              <a:t>a=a/b</a:t>
            </a:r>
            <a:endParaRPr lang="es-ES" dirty="0" smtClean="0"/>
          </a:p>
          <a:p>
            <a:r>
              <a:rPr lang="es-ES" dirty="0" smtClean="0"/>
              <a:t>Ej1 Resto combinado         </a:t>
            </a:r>
            <a:r>
              <a:rPr lang="es-ES" b="1" dirty="0" smtClean="0">
                <a:solidFill>
                  <a:srgbClr val="00B050"/>
                </a:solidFill>
              </a:rPr>
              <a:t>a</a:t>
            </a:r>
            <a:r>
              <a:rPr lang="es-ES" b="1" dirty="0">
                <a:solidFill>
                  <a:srgbClr val="00B050"/>
                </a:solidFill>
              </a:rPr>
              <a:t>%</a:t>
            </a:r>
            <a:r>
              <a:rPr lang="es-ES" b="1" dirty="0" smtClean="0">
                <a:solidFill>
                  <a:srgbClr val="00B050"/>
                </a:solidFill>
              </a:rPr>
              <a:t>=b</a:t>
            </a:r>
            <a:r>
              <a:rPr lang="es-ES" dirty="0" smtClean="0"/>
              <a:t>      equivale a </a:t>
            </a:r>
            <a:r>
              <a:rPr lang="es-ES" b="1" dirty="0" smtClean="0">
                <a:solidFill>
                  <a:srgbClr val="00B050"/>
                </a:solidFill>
              </a:rPr>
              <a:t>a=</a:t>
            </a:r>
            <a:r>
              <a:rPr lang="es-ES" b="1" dirty="0" err="1" smtClean="0">
                <a:solidFill>
                  <a:srgbClr val="00B050"/>
                </a:solidFill>
              </a:rPr>
              <a:t>a%b</a:t>
            </a:r>
            <a:endParaRPr lang="es-AR" b="1" dirty="0" smtClean="0">
              <a:solidFill>
                <a:srgbClr val="00B050"/>
              </a:solidFill>
            </a:endParaRPr>
          </a:p>
          <a:p>
            <a:endParaRPr lang="es-AR" b="1" dirty="0">
              <a:solidFill>
                <a:srgbClr val="00B050"/>
              </a:solidFill>
            </a:endParaRPr>
          </a:p>
        </p:txBody>
      </p:sp>
    </p:spTree>
    <p:extLst>
      <p:ext uri="{BB962C8B-B14F-4D97-AF65-F5344CB8AC3E}">
        <p14:creationId xmlns:p14="http://schemas.microsoft.com/office/powerpoint/2010/main" val="148433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00B050"/>
                </a:solidFill>
                <a:latin typeface="Verdana" panose="020B0604030504040204" pitchFamily="34" charset="0"/>
                <a:ea typeface="Verdana" panose="020B0604030504040204" pitchFamily="34" charset="0"/>
              </a:rPr>
              <a:t>Operadores de Relación</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fontScale="77500" lnSpcReduction="20000"/>
          </a:bodyPr>
          <a:lstStyle/>
          <a:p>
            <a:r>
              <a:rPr lang="es-ES" dirty="0"/>
              <a:t>Realizan comparaciones entre datos compatibles de tipos primitivos (numéricos, carácter y booleanos) teniendo siempre un resultado booleano. Los </a:t>
            </a:r>
            <a:r>
              <a:rPr lang="es-ES" dirty="0" err="1"/>
              <a:t>operandos</a:t>
            </a:r>
            <a:r>
              <a:rPr lang="es-ES" dirty="0"/>
              <a:t> booleanos sólo pueden emplear los operadores de igualdad y desigualdad</a:t>
            </a:r>
            <a:r>
              <a:rPr lang="es-ES" dirty="0" smtClean="0"/>
              <a:t>.</a:t>
            </a:r>
          </a:p>
          <a:p>
            <a:r>
              <a:rPr lang="es-ES" dirty="0" smtClean="0"/>
              <a:t>Ejemplo 1  igual a  </a:t>
            </a:r>
            <a:r>
              <a:rPr lang="es-ES" dirty="0" smtClean="0">
                <a:solidFill>
                  <a:srgbClr val="00B050"/>
                </a:solidFill>
              </a:rPr>
              <a:t>x==y</a:t>
            </a:r>
            <a:endParaRPr lang="es-ES" dirty="0" smtClean="0"/>
          </a:p>
          <a:p>
            <a:r>
              <a:rPr lang="es-ES" dirty="0" smtClean="0"/>
              <a:t>Ejemplo 2  distinto a  </a:t>
            </a:r>
            <a:r>
              <a:rPr lang="es-ES" dirty="0" smtClean="0">
                <a:solidFill>
                  <a:srgbClr val="00B050"/>
                </a:solidFill>
              </a:rPr>
              <a:t>x!=y o x&lt;&gt;y</a:t>
            </a:r>
            <a:endParaRPr lang="es-ES" dirty="0" smtClean="0"/>
          </a:p>
          <a:p>
            <a:r>
              <a:rPr lang="es-ES" dirty="0" smtClean="0"/>
              <a:t>Ejemplo 3  mayor a  </a:t>
            </a:r>
            <a:r>
              <a:rPr lang="es-ES" dirty="0" smtClean="0">
                <a:solidFill>
                  <a:srgbClr val="00B050"/>
                </a:solidFill>
              </a:rPr>
              <a:t>x&gt;y</a:t>
            </a:r>
            <a:endParaRPr lang="es-ES" dirty="0" smtClean="0"/>
          </a:p>
          <a:p>
            <a:r>
              <a:rPr lang="es-ES" dirty="0" smtClean="0"/>
              <a:t>Ejemplo 4  menor a  </a:t>
            </a:r>
            <a:r>
              <a:rPr lang="es-ES" dirty="0" smtClean="0">
                <a:solidFill>
                  <a:srgbClr val="00B050"/>
                </a:solidFill>
              </a:rPr>
              <a:t>x&lt;y</a:t>
            </a:r>
            <a:endParaRPr lang="es-ES" dirty="0" smtClean="0"/>
          </a:p>
          <a:p>
            <a:r>
              <a:rPr lang="es-ES" dirty="0" smtClean="0"/>
              <a:t>Ejemplo 5  igual a  </a:t>
            </a:r>
            <a:r>
              <a:rPr lang="es-ES" dirty="0" smtClean="0">
                <a:solidFill>
                  <a:srgbClr val="00B050"/>
                </a:solidFill>
              </a:rPr>
              <a:t>x==y</a:t>
            </a:r>
            <a:r>
              <a:rPr lang="es-ES" dirty="0" smtClean="0">
                <a:solidFill>
                  <a:srgbClr val="00B050"/>
                </a:solidFill>
              </a:rPr>
              <a:t>  </a:t>
            </a:r>
            <a:endParaRPr lang="es-ES" dirty="0" smtClean="0"/>
          </a:p>
          <a:p>
            <a:r>
              <a:rPr lang="es-ES" dirty="0" smtClean="0"/>
              <a:t>Ejemplo 6  menor o igual a  </a:t>
            </a:r>
            <a:r>
              <a:rPr lang="es-ES" dirty="0" smtClean="0">
                <a:solidFill>
                  <a:srgbClr val="00B050"/>
                </a:solidFill>
              </a:rPr>
              <a:t>x&lt;=y</a:t>
            </a:r>
            <a:endParaRPr lang="es-ES" dirty="0" smtClean="0"/>
          </a:p>
          <a:p>
            <a:r>
              <a:rPr lang="es-ES" dirty="0" smtClean="0"/>
              <a:t>Ejemplo 7  mayor o igual a  </a:t>
            </a:r>
            <a:r>
              <a:rPr lang="es-ES" dirty="0" smtClean="0">
                <a:solidFill>
                  <a:srgbClr val="00B050"/>
                </a:solidFill>
              </a:rPr>
              <a:t>x&gt;=y</a:t>
            </a:r>
            <a:endParaRPr lang="es-ES" dirty="0" smtClean="0">
              <a:solidFill>
                <a:srgbClr val="00B050"/>
              </a:solidFill>
            </a:endParaRPr>
          </a:p>
          <a:p>
            <a:pPr marL="0" indent="0">
              <a:buNone/>
            </a:pPr>
            <a:endParaRPr lang="es-AR" dirty="0">
              <a:solidFill>
                <a:srgbClr val="00B050"/>
              </a:solidFill>
            </a:endParaRPr>
          </a:p>
        </p:txBody>
      </p:sp>
    </p:spTree>
    <p:extLst>
      <p:ext uri="{BB962C8B-B14F-4D97-AF65-F5344CB8AC3E}">
        <p14:creationId xmlns:p14="http://schemas.microsoft.com/office/powerpoint/2010/main" val="343128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Operadores Lógicos o Booleanos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a:bodyPr>
          <a:lstStyle/>
          <a:p>
            <a:r>
              <a:rPr lang="es-ES" dirty="0"/>
              <a:t>Realizan operaciones sobre datos booleanos y tienen como resultado un valor booleano. </a:t>
            </a:r>
            <a:r>
              <a:rPr lang="es-ES" dirty="0" smtClean="0"/>
              <a:t>Los </a:t>
            </a:r>
            <a:r>
              <a:rPr lang="es-ES" dirty="0"/>
              <a:t>diferentes operadores de esta categoría</a:t>
            </a:r>
            <a:r>
              <a:rPr lang="es-ES" dirty="0" smtClean="0"/>
              <a:t>.</a:t>
            </a:r>
          </a:p>
          <a:p>
            <a:r>
              <a:rPr lang="es-ES" b="1" dirty="0" smtClean="0">
                <a:solidFill>
                  <a:srgbClr val="00B050"/>
                </a:solidFill>
              </a:rPr>
              <a:t>! </a:t>
            </a:r>
            <a:r>
              <a:rPr lang="es-ES" dirty="0" smtClean="0"/>
              <a:t>   negación</a:t>
            </a:r>
            <a:endParaRPr lang="es-ES" dirty="0" smtClean="0"/>
          </a:p>
          <a:p>
            <a:r>
              <a:rPr lang="es-ES" b="1" dirty="0">
                <a:solidFill>
                  <a:srgbClr val="00B050"/>
                </a:solidFill>
              </a:rPr>
              <a:t>|</a:t>
            </a:r>
            <a:r>
              <a:rPr lang="es-ES" b="1" dirty="0" smtClean="0">
                <a:solidFill>
                  <a:srgbClr val="00B050"/>
                </a:solidFill>
              </a:rPr>
              <a:t> </a:t>
            </a:r>
            <a:r>
              <a:rPr lang="es-ES" dirty="0" smtClean="0"/>
              <a:t>   suma lógica (OR)</a:t>
            </a:r>
          </a:p>
          <a:p>
            <a:r>
              <a:rPr lang="es-ES" b="1" dirty="0">
                <a:solidFill>
                  <a:srgbClr val="00B050"/>
                </a:solidFill>
              </a:rPr>
              <a:t>&amp;</a:t>
            </a:r>
            <a:r>
              <a:rPr lang="es-ES" b="1" dirty="0" smtClean="0">
                <a:solidFill>
                  <a:srgbClr val="00B050"/>
                </a:solidFill>
              </a:rPr>
              <a:t> </a:t>
            </a:r>
            <a:r>
              <a:rPr lang="es-ES" dirty="0" smtClean="0"/>
              <a:t>   producto lógico (AND)</a:t>
            </a:r>
            <a:endParaRPr lang="es-AR" b="1" dirty="0" smtClean="0">
              <a:solidFill>
                <a:srgbClr val="00B050"/>
              </a:solidFill>
            </a:endParaRPr>
          </a:p>
          <a:p>
            <a:pPr marL="0" indent="0">
              <a:buNone/>
            </a:pPr>
            <a:endParaRPr lang="es-AR" b="1" dirty="0">
              <a:solidFill>
                <a:srgbClr val="00B050"/>
              </a:solidFill>
            </a:endParaRPr>
          </a:p>
        </p:txBody>
      </p:sp>
    </p:spTree>
    <p:extLst>
      <p:ext uri="{BB962C8B-B14F-4D97-AF65-F5344CB8AC3E}">
        <p14:creationId xmlns:p14="http://schemas.microsoft.com/office/powerpoint/2010/main" val="991617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Operadores Lógicos o Booleanos</a:t>
            </a:r>
            <a:endParaRPr lang="es-AR" b="1" dirty="0">
              <a:solidFill>
                <a:srgbClr val="00B050"/>
              </a:solidFill>
              <a:latin typeface="Verdana" panose="020B0604030504040204" pitchFamily="34" charset="0"/>
              <a:ea typeface="Verdana" panose="020B0604030504040204" pitchFamily="34" charset="0"/>
            </a:endParaRPr>
          </a:p>
        </p:txBody>
      </p:sp>
      <p:graphicFrame>
        <p:nvGraphicFramePr>
          <p:cNvPr id="6" name="5 Marcador de contenido"/>
          <p:cNvGraphicFramePr>
            <a:graphicFrameLocks noGrp="1"/>
          </p:cNvGraphicFramePr>
          <p:nvPr>
            <p:ph idx="1"/>
            <p:extLst>
              <p:ext uri="{D42A27DB-BD31-4B8C-83A1-F6EECF244321}">
                <p14:modId xmlns:p14="http://schemas.microsoft.com/office/powerpoint/2010/main" val="1186045710"/>
              </p:ext>
            </p:extLst>
          </p:nvPr>
        </p:nvGraphicFramePr>
        <p:xfrm>
          <a:off x="457200" y="1600200"/>
          <a:ext cx="4330824" cy="1130320"/>
        </p:xfrm>
        <a:graphic>
          <a:graphicData uri="http://schemas.openxmlformats.org/drawingml/2006/table">
            <a:tbl>
              <a:tblPr firstRow="1" bandRow="1">
                <a:tableStyleId>{5C22544A-7EE6-4342-B048-85BDC9FD1C3A}</a:tableStyleId>
              </a:tblPr>
              <a:tblGrid>
                <a:gridCol w="2170584"/>
                <a:gridCol w="2160240"/>
              </a:tblGrid>
              <a:tr h="388640">
                <a:tc gridSpan="2">
                  <a:txBody>
                    <a:bodyPr/>
                    <a:lstStyle/>
                    <a:p>
                      <a:pPr algn="ctr"/>
                      <a:r>
                        <a:rPr lang="es-ES" dirty="0" err="1" smtClean="0"/>
                        <a:t>Negacion</a:t>
                      </a:r>
                      <a:endParaRPr lang="es-AR" dirty="0"/>
                    </a:p>
                  </a:txBody>
                  <a:tcPr/>
                </a:tc>
                <a:tc hMerge="1">
                  <a:txBody>
                    <a:bodyPr/>
                    <a:lstStyle/>
                    <a:p>
                      <a:endParaRPr lang="es-AR" dirty="0"/>
                    </a:p>
                  </a:txBody>
                  <a:tcPr/>
                </a:tc>
              </a:tr>
              <a:tr h="370840">
                <a:tc>
                  <a:txBody>
                    <a:bodyPr/>
                    <a:lstStyle/>
                    <a:p>
                      <a:r>
                        <a:rPr lang="es-ES" dirty="0" smtClean="0"/>
                        <a:t>Verdadero</a:t>
                      </a:r>
                      <a:endParaRPr lang="es-AR" dirty="0"/>
                    </a:p>
                  </a:txBody>
                  <a:tcPr/>
                </a:tc>
                <a:tc>
                  <a:txBody>
                    <a:bodyPr/>
                    <a:lstStyle/>
                    <a:p>
                      <a:r>
                        <a:rPr lang="es-ES" dirty="0" smtClean="0"/>
                        <a:t>Falso</a:t>
                      </a:r>
                      <a:endParaRPr lang="es-AR" dirty="0"/>
                    </a:p>
                  </a:txBody>
                  <a:tcPr>
                    <a:solidFill>
                      <a:schemeClr val="accent3">
                        <a:lumMod val="60000"/>
                        <a:lumOff val="40000"/>
                      </a:schemeClr>
                    </a:solidFill>
                  </a:tcPr>
                </a:tc>
              </a:tr>
              <a:tr h="370840">
                <a:tc>
                  <a:txBody>
                    <a:bodyPr/>
                    <a:lstStyle/>
                    <a:p>
                      <a:r>
                        <a:rPr lang="es-ES" dirty="0" smtClean="0"/>
                        <a:t>Falso</a:t>
                      </a:r>
                      <a:endParaRPr lang="es-AR" dirty="0"/>
                    </a:p>
                  </a:txBody>
                  <a:tcPr/>
                </a:tc>
                <a:tc>
                  <a:txBody>
                    <a:bodyPr/>
                    <a:lstStyle/>
                    <a:p>
                      <a:r>
                        <a:rPr lang="es-ES" dirty="0" smtClean="0"/>
                        <a:t>Verdadero</a:t>
                      </a:r>
                      <a:endParaRPr lang="es-AR" dirty="0"/>
                    </a:p>
                  </a:txBody>
                  <a:tcPr>
                    <a:solidFill>
                      <a:schemeClr val="accent3">
                        <a:lumMod val="60000"/>
                        <a:lumOff val="40000"/>
                      </a:schemeClr>
                    </a:solidFill>
                  </a:tcPr>
                </a:tc>
              </a:tr>
            </a:tbl>
          </a:graphicData>
        </a:graphic>
      </p:graphicFrame>
      <p:graphicFrame>
        <p:nvGraphicFramePr>
          <p:cNvPr id="7" name="6 Tabla"/>
          <p:cNvGraphicFramePr>
            <a:graphicFrameLocks noGrp="1"/>
          </p:cNvGraphicFramePr>
          <p:nvPr>
            <p:extLst>
              <p:ext uri="{D42A27DB-BD31-4B8C-83A1-F6EECF244321}">
                <p14:modId xmlns:p14="http://schemas.microsoft.com/office/powerpoint/2010/main" val="3726967825"/>
              </p:ext>
            </p:extLst>
          </p:nvPr>
        </p:nvGraphicFramePr>
        <p:xfrm>
          <a:off x="467544" y="2780928"/>
          <a:ext cx="6096000" cy="3703320"/>
        </p:xfrm>
        <a:graphic>
          <a:graphicData uri="http://schemas.openxmlformats.org/drawingml/2006/table">
            <a:tbl>
              <a:tblPr firstRow="1" bandRow="1">
                <a:tableStyleId>{5C22544A-7EE6-4342-B048-85BDC9FD1C3A}</a:tableStyleId>
              </a:tblPr>
              <a:tblGrid>
                <a:gridCol w="2032000"/>
                <a:gridCol w="2032000"/>
                <a:gridCol w="2032000"/>
              </a:tblGrid>
              <a:tr h="226824">
                <a:tc gridSpan="3">
                  <a:txBody>
                    <a:bodyPr/>
                    <a:lstStyle/>
                    <a:p>
                      <a:pPr algn="ctr"/>
                      <a:r>
                        <a:rPr lang="es-ES" dirty="0" smtClean="0"/>
                        <a:t>Suma Lógica (OR)</a:t>
                      </a:r>
                      <a:endParaRPr lang="es-AR" dirty="0"/>
                    </a:p>
                  </a:txBody>
                  <a:tcPr/>
                </a:tc>
                <a:tc hMerge="1">
                  <a:txBody>
                    <a:bodyPr/>
                    <a:lstStyle/>
                    <a:p>
                      <a:endParaRPr lang="es-AR"/>
                    </a:p>
                  </a:txBody>
                  <a:tcPr/>
                </a:tc>
                <a:tc hMerge="1">
                  <a:txBody>
                    <a:bodyPr/>
                    <a:lstStyle/>
                    <a:p>
                      <a:endParaRPr lang="es-AR" dirty="0"/>
                    </a:p>
                  </a:txBody>
                  <a:tcPr/>
                </a:tc>
              </a:tr>
              <a:tr h="370840">
                <a:tc>
                  <a:txBody>
                    <a:bodyPr/>
                    <a:lstStyle/>
                    <a:p>
                      <a:r>
                        <a:rPr lang="es-ES" dirty="0" smtClean="0"/>
                        <a:t>Verdadero</a:t>
                      </a:r>
                      <a:endParaRPr lang="es-AR" dirty="0"/>
                    </a:p>
                  </a:txBody>
                  <a:tcPr/>
                </a:tc>
                <a:tc>
                  <a:txBody>
                    <a:bodyPr/>
                    <a:lstStyle/>
                    <a:p>
                      <a:r>
                        <a:rPr lang="es-ES" dirty="0" smtClean="0"/>
                        <a:t>Verdadero</a:t>
                      </a:r>
                      <a:endParaRPr lang="es-AR" dirty="0"/>
                    </a:p>
                  </a:txBody>
                  <a:tcPr/>
                </a:tc>
                <a:tc>
                  <a:txBody>
                    <a:bodyPr/>
                    <a:lstStyle/>
                    <a:p>
                      <a:r>
                        <a:rPr lang="es-ES" dirty="0" smtClean="0"/>
                        <a:t>Verdadero</a:t>
                      </a:r>
                      <a:endParaRPr lang="es-AR" dirty="0"/>
                    </a:p>
                  </a:txBody>
                  <a:tcPr>
                    <a:solidFill>
                      <a:schemeClr val="accent3">
                        <a:lumMod val="60000"/>
                        <a:lumOff val="40000"/>
                      </a:schemeClr>
                    </a:solidFill>
                  </a:tcPr>
                </a:tc>
              </a:tr>
              <a:tr h="370840">
                <a:tc>
                  <a:txBody>
                    <a:bodyPr/>
                    <a:lstStyle/>
                    <a:p>
                      <a:r>
                        <a:rPr lang="es-ES" dirty="0" smtClean="0"/>
                        <a:t>Verdadero</a:t>
                      </a:r>
                      <a:endParaRPr lang="es-AR" dirty="0"/>
                    </a:p>
                  </a:txBody>
                  <a:tcPr/>
                </a:tc>
                <a:tc>
                  <a:txBody>
                    <a:bodyPr/>
                    <a:lstStyle/>
                    <a:p>
                      <a:r>
                        <a:rPr lang="es-ES" dirty="0" smtClean="0"/>
                        <a:t>Falso</a:t>
                      </a:r>
                      <a:endParaRPr lang="es-AR" dirty="0"/>
                    </a:p>
                  </a:txBody>
                  <a:tcPr/>
                </a:tc>
                <a:tc>
                  <a:txBody>
                    <a:bodyPr/>
                    <a:lstStyle/>
                    <a:p>
                      <a:r>
                        <a:rPr lang="es-ES" dirty="0" smtClean="0"/>
                        <a:t>Verdadero</a:t>
                      </a:r>
                      <a:endParaRPr lang="es-AR" dirty="0"/>
                    </a:p>
                  </a:txBody>
                  <a:tcPr>
                    <a:solidFill>
                      <a:schemeClr val="accent3">
                        <a:lumMod val="60000"/>
                        <a:lumOff val="40000"/>
                      </a:schemeClr>
                    </a:solidFill>
                  </a:tcPr>
                </a:tc>
              </a:tr>
              <a:tr h="370840">
                <a:tc>
                  <a:txBody>
                    <a:bodyPr/>
                    <a:lstStyle/>
                    <a:p>
                      <a:r>
                        <a:rPr lang="es-ES" dirty="0" smtClean="0"/>
                        <a:t>Falso</a:t>
                      </a:r>
                      <a:endParaRPr lang="es-AR" dirty="0"/>
                    </a:p>
                  </a:txBody>
                  <a:tcPr/>
                </a:tc>
                <a:tc>
                  <a:txBody>
                    <a:bodyPr/>
                    <a:lstStyle/>
                    <a:p>
                      <a:r>
                        <a:rPr lang="es-ES" dirty="0" smtClean="0"/>
                        <a:t>Verdadero</a:t>
                      </a:r>
                      <a:endParaRPr lang="es-AR" dirty="0"/>
                    </a:p>
                  </a:txBody>
                  <a:tcPr/>
                </a:tc>
                <a:tc>
                  <a:txBody>
                    <a:bodyPr/>
                    <a:lstStyle/>
                    <a:p>
                      <a:r>
                        <a:rPr lang="es-ES" dirty="0" smtClean="0"/>
                        <a:t>Verdadero</a:t>
                      </a:r>
                      <a:endParaRPr lang="es-AR" dirty="0"/>
                    </a:p>
                  </a:txBody>
                  <a:tcPr>
                    <a:solidFill>
                      <a:schemeClr val="accent3">
                        <a:lumMod val="60000"/>
                        <a:lumOff val="40000"/>
                      </a:schemeClr>
                    </a:solidFill>
                  </a:tcPr>
                </a:tc>
              </a:tr>
              <a:tr h="370840">
                <a:tc>
                  <a:txBody>
                    <a:bodyPr/>
                    <a:lstStyle/>
                    <a:p>
                      <a:r>
                        <a:rPr lang="es-ES" dirty="0" smtClean="0"/>
                        <a:t>Falso</a:t>
                      </a:r>
                      <a:endParaRPr lang="es-AR" dirty="0"/>
                    </a:p>
                  </a:txBody>
                  <a:tcPr/>
                </a:tc>
                <a:tc>
                  <a:txBody>
                    <a:bodyPr/>
                    <a:lstStyle/>
                    <a:p>
                      <a:r>
                        <a:rPr lang="es-ES" dirty="0" smtClean="0"/>
                        <a:t>Falso</a:t>
                      </a:r>
                      <a:endParaRPr lang="es-AR" dirty="0"/>
                    </a:p>
                  </a:txBody>
                  <a:tcPr/>
                </a:tc>
                <a:tc>
                  <a:txBody>
                    <a:bodyPr/>
                    <a:lstStyle/>
                    <a:p>
                      <a:r>
                        <a:rPr lang="es-ES" dirty="0" smtClean="0"/>
                        <a:t>Falso</a:t>
                      </a:r>
                      <a:endParaRPr lang="es-AR" dirty="0"/>
                    </a:p>
                  </a:txBody>
                  <a:tcPr>
                    <a:solidFill>
                      <a:schemeClr val="accent3">
                        <a:lumMod val="60000"/>
                        <a:lumOff val="40000"/>
                      </a:schemeClr>
                    </a:solidFill>
                  </a:tcPr>
                </a:tc>
              </a:tr>
              <a:tr h="370840">
                <a:tc gridSpan="3">
                  <a:txBody>
                    <a:bodyPr/>
                    <a:lstStyle/>
                    <a:p>
                      <a:pPr algn="ctr"/>
                      <a:r>
                        <a:rPr lang="es-ES" b="1" dirty="0" smtClean="0">
                          <a:solidFill>
                            <a:schemeClr val="bg1"/>
                          </a:solidFill>
                        </a:rPr>
                        <a:t>Producto Lógico</a:t>
                      </a:r>
                      <a:r>
                        <a:rPr lang="es-ES" b="1" baseline="0" dirty="0" smtClean="0">
                          <a:solidFill>
                            <a:schemeClr val="bg1"/>
                          </a:solidFill>
                        </a:rPr>
                        <a:t> (AND)</a:t>
                      </a:r>
                      <a:endParaRPr lang="es-AR" b="1" dirty="0">
                        <a:solidFill>
                          <a:schemeClr val="bg1"/>
                        </a:solidFill>
                      </a:endParaRPr>
                    </a:p>
                  </a:txBody>
                  <a:tcPr>
                    <a:solidFill>
                      <a:schemeClr val="tx2">
                        <a:lumMod val="60000"/>
                        <a:lumOff val="40000"/>
                      </a:schemeClr>
                    </a:solidFill>
                  </a:tcPr>
                </a:tc>
                <a:tc hMerge="1">
                  <a:txBody>
                    <a:bodyPr/>
                    <a:lstStyle/>
                    <a:p>
                      <a:endParaRPr lang="es-AR" dirty="0"/>
                    </a:p>
                  </a:txBody>
                  <a:tcPr/>
                </a:tc>
                <a:tc hMerge="1">
                  <a:txBody>
                    <a:bodyPr/>
                    <a:lstStyle/>
                    <a:p>
                      <a:endParaRPr lang="es-AR" dirty="0"/>
                    </a:p>
                  </a:txBody>
                  <a:tcPr>
                    <a:solidFill>
                      <a:schemeClr val="accent3">
                        <a:lumMod val="60000"/>
                        <a:lumOff val="40000"/>
                      </a:schemeClr>
                    </a:solidFill>
                  </a:tcPr>
                </a:tc>
              </a:tr>
              <a:tr h="370840">
                <a:tc>
                  <a:txBody>
                    <a:bodyPr/>
                    <a:lstStyle/>
                    <a:p>
                      <a:r>
                        <a:rPr lang="es-ES" dirty="0" smtClean="0"/>
                        <a:t>Verdadero</a:t>
                      </a:r>
                      <a:endParaRPr lang="es-AR" dirty="0"/>
                    </a:p>
                  </a:txBody>
                  <a:tcPr/>
                </a:tc>
                <a:tc>
                  <a:txBody>
                    <a:bodyPr/>
                    <a:lstStyle/>
                    <a:p>
                      <a:r>
                        <a:rPr lang="es-ES" dirty="0" smtClean="0"/>
                        <a:t>Verdadero</a:t>
                      </a:r>
                      <a:endParaRPr lang="es-AR" dirty="0"/>
                    </a:p>
                  </a:txBody>
                  <a:tcPr/>
                </a:tc>
                <a:tc>
                  <a:txBody>
                    <a:bodyPr/>
                    <a:lstStyle/>
                    <a:p>
                      <a:r>
                        <a:rPr lang="es-ES" dirty="0" smtClean="0"/>
                        <a:t>Verdadero</a:t>
                      </a:r>
                      <a:endParaRPr lang="es-AR" dirty="0"/>
                    </a:p>
                  </a:txBody>
                  <a:tcPr>
                    <a:solidFill>
                      <a:schemeClr val="accent3">
                        <a:lumMod val="60000"/>
                        <a:lumOff val="40000"/>
                      </a:schemeClr>
                    </a:solidFill>
                  </a:tcPr>
                </a:tc>
              </a:tr>
              <a:tr h="370840">
                <a:tc>
                  <a:txBody>
                    <a:bodyPr/>
                    <a:lstStyle/>
                    <a:p>
                      <a:r>
                        <a:rPr lang="es-ES" dirty="0" smtClean="0"/>
                        <a:t>Verdadero</a:t>
                      </a:r>
                      <a:endParaRPr lang="es-AR" dirty="0"/>
                    </a:p>
                  </a:txBody>
                  <a:tcPr/>
                </a:tc>
                <a:tc>
                  <a:txBody>
                    <a:bodyPr/>
                    <a:lstStyle/>
                    <a:p>
                      <a:r>
                        <a:rPr lang="es-ES" dirty="0" smtClean="0"/>
                        <a:t>Falso</a:t>
                      </a:r>
                      <a:endParaRPr lang="es-AR" dirty="0"/>
                    </a:p>
                  </a:txBody>
                  <a:tcPr/>
                </a:tc>
                <a:tc>
                  <a:txBody>
                    <a:bodyPr/>
                    <a:lstStyle/>
                    <a:p>
                      <a:r>
                        <a:rPr lang="es-ES" dirty="0" smtClean="0"/>
                        <a:t>Falso</a:t>
                      </a:r>
                      <a:endParaRPr lang="es-AR" dirty="0"/>
                    </a:p>
                  </a:txBody>
                  <a:tcPr>
                    <a:solidFill>
                      <a:schemeClr val="accent3">
                        <a:lumMod val="60000"/>
                        <a:lumOff val="40000"/>
                      </a:schemeClr>
                    </a:solidFill>
                  </a:tcPr>
                </a:tc>
              </a:tr>
              <a:tr h="370840">
                <a:tc>
                  <a:txBody>
                    <a:bodyPr/>
                    <a:lstStyle/>
                    <a:p>
                      <a:r>
                        <a:rPr lang="es-ES" dirty="0" smtClean="0"/>
                        <a:t>Falso</a:t>
                      </a:r>
                      <a:endParaRPr lang="es-AR" dirty="0"/>
                    </a:p>
                  </a:txBody>
                  <a:tcPr/>
                </a:tc>
                <a:tc>
                  <a:txBody>
                    <a:bodyPr/>
                    <a:lstStyle/>
                    <a:p>
                      <a:r>
                        <a:rPr lang="es-ES" dirty="0" smtClean="0"/>
                        <a:t>Verdadero</a:t>
                      </a:r>
                      <a:endParaRPr lang="es-AR" dirty="0"/>
                    </a:p>
                  </a:txBody>
                  <a:tcPr/>
                </a:tc>
                <a:tc>
                  <a:txBody>
                    <a:bodyPr/>
                    <a:lstStyle/>
                    <a:p>
                      <a:r>
                        <a:rPr lang="es-ES" dirty="0" smtClean="0"/>
                        <a:t>Falso</a:t>
                      </a:r>
                      <a:endParaRPr lang="es-AR" dirty="0"/>
                    </a:p>
                  </a:txBody>
                  <a:tcPr>
                    <a:solidFill>
                      <a:schemeClr val="accent3">
                        <a:lumMod val="60000"/>
                        <a:lumOff val="40000"/>
                      </a:schemeClr>
                    </a:solidFill>
                  </a:tcPr>
                </a:tc>
              </a:tr>
              <a:tr h="370840">
                <a:tc>
                  <a:txBody>
                    <a:bodyPr/>
                    <a:lstStyle/>
                    <a:p>
                      <a:r>
                        <a:rPr lang="es-ES" dirty="0" smtClean="0"/>
                        <a:t>Falso</a:t>
                      </a:r>
                      <a:endParaRPr lang="es-AR" dirty="0"/>
                    </a:p>
                  </a:txBody>
                  <a:tcPr/>
                </a:tc>
                <a:tc>
                  <a:txBody>
                    <a:bodyPr/>
                    <a:lstStyle/>
                    <a:p>
                      <a:r>
                        <a:rPr lang="es-ES" dirty="0" smtClean="0"/>
                        <a:t>Falso</a:t>
                      </a:r>
                      <a:endParaRPr lang="es-AR" dirty="0"/>
                    </a:p>
                  </a:txBody>
                  <a:tcPr/>
                </a:tc>
                <a:tc>
                  <a:txBody>
                    <a:bodyPr/>
                    <a:lstStyle/>
                    <a:p>
                      <a:r>
                        <a:rPr lang="es-ES" dirty="0" smtClean="0"/>
                        <a:t>Falso</a:t>
                      </a:r>
                      <a:endParaRPr lang="es-AR" dirty="0"/>
                    </a:p>
                  </a:txBody>
                  <a:tcPr>
                    <a:solidFill>
                      <a:schemeClr val="accent3">
                        <a:lumMod val="60000"/>
                        <a:lumOff val="40000"/>
                      </a:schemeClr>
                    </a:solidFill>
                  </a:tcPr>
                </a:tc>
              </a:tr>
            </a:tbl>
          </a:graphicData>
        </a:graphic>
      </p:graphicFrame>
    </p:spTree>
    <p:extLst>
      <p:ext uri="{BB962C8B-B14F-4D97-AF65-F5344CB8AC3E}">
        <p14:creationId xmlns:p14="http://schemas.microsoft.com/office/powerpoint/2010/main" val="1152941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smtClean="0">
                <a:solidFill>
                  <a:srgbClr val="00B050"/>
                </a:solidFill>
                <a:latin typeface="Verdana" panose="020B0604030504040204" pitchFamily="34" charset="0"/>
                <a:ea typeface="Verdana" panose="020B0604030504040204" pitchFamily="34" charset="0"/>
              </a:rPr>
              <a:t>Operador de Concatenación</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lstStyle/>
          <a:p>
            <a:r>
              <a:rPr lang="es-ES" dirty="0"/>
              <a:t>El operador concatenación +, es un operador binario que devuelve una cadena resultado de concatenar las dos cadenas que actúan como </a:t>
            </a:r>
            <a:r>
              <a:rPr lang="es-ES" dirty="0" err="1"/>
              <a:t>operandos</a:t>
            </a:r>
            <a:r>
              <a:rPr lang="es-ES" dirty="0"/>
              <a:t>. Si sólo uno de los </a:t>
            </a:r>
            <a:r>
              <a:rPr lang="es-ES" dirty="0" err="1"/>
              <a:t>operandos</a:t>
            </a:r>
            <a:r>
              <a:rPr lang="es-ES" dirty="0"/>
              <a:t> es de tipo cadena, el otro operando se convierte implícitamente en tipo cadena.</a:t>
            </a:r>
          </a:p>
          <a:p>
            <a:r>
              <a:rPr lang="es-ES" dirty="0" smtClean="0"/>
              <a:t>Ejemplo   Nombre = “</a:t>
            </a:r>
            <a:r>
              <a:rPr lang="es-ES" dirty="0" err="1" smtClean="0"/>
              <a:t>Yurkevich</a:t>
            </a:r>
            <a:r>
              <a:rPr lang="es-ES" dirty="0" smtClean="0"/>
              <a:t>, ”+”Rafael” </a:t>
            </a:r>
            <a:br>
              <a:rPr lang="es-ES" dirty="0" smtClean="0"/>
            </a:br>
            <a:endParaRPr lang="es-AR" dirty="0"/>
          </a:p>
        </p:txBody>
      </p:sp>
    </p:spTree>
    <p:extLst>
      <p:ext uri="{BB962C8B-B14F-4D97-AF65-F5344CB8AC3E}">
        <p14:creationId xmlns:p14="http://schemas.microsoft.com/office/powerpoint/2010/main" val="1946495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b="1" dirty="0" smtClean="0">
                <a:solidFill>
                  <a:srgbClr val="00B050"/>
                </a:solidFill>
                <a:latin typeface="Verdana" panose="020B0604030504040204" pitchFamily="34" charset="0"/>
                <a:ea typeface="Verdana" panose="020B0604030504040204" pitchFamily="34" charset="0"/>
              </a:rPr>
              <a:t>Separadores</a:t>
            </a:r>
            <a:endParaRPr lang="es-AR" b="1" dirty="0">
              <a:solidFill>
                <a:srgbClr val="00B05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a:xfrm>
            <a:off x="457200" y="1600200"/>
            <a:ext cx="8229600" cy="5069160"/>
          </a:xfrm>
        </p:spPr>
        <p:txBody>
          <a:bodyPr>
            <a:normAutofit fontScale="77500" lnSpcReduction="20000"/>
          </a:bodyPr>
          <a:lstStyle/>
          <a:p>
            <a:r>
              <a:rPr lang="es-ES" dirty="0"/>
              <a:t>Existen algunos caracteres que tienen un significado especial en el lenguaje Java. En la siguiente tabla se resumen los diferentes separadores que pueden encontrarse en el código fuente de un programa</a:t>
            </a:r>
            <a:r>
              <a:rPr lang="es-ES" dirty="0" smtClean="0"/>
              <a:t>.</a:t>
            </a:r>
          </a:p>
          <a:p>
            <a:r>
              <a:rPr lang="es-ES" b="1" dirty="0" smtClean="0">
                <a:solidFill>
                  <a:srgbClr val="00B050"/>
                </a:solidFill>
              </a:rPr>
              <a:t>()</a:t>
            </a:r>
            <a:r>
              <a:rPr lang="es-ES" dirty="0" smtClean="0"/>
              <a:t> permite modificar las prioridades de una expresión. También contener una lista de parámetros o argumentos.</a:t>
            </a:r>
          </a:p>
          <a:p>
            <a:r>
              <a:rPr lang="es-ES" b="1" dirty="0" smtClean="0">
                <a:solidFill>
                  <a:srgbClr val="00B050"/>
                </a:solidFill>
              </a:rPr>
              <a:t>{}</a:t>
            </a:r>
            <a:r>
              <a:rPr lang="es-ES" dirty="0" smtClean="0"/>
              <a:t> permite definir bloques de código. También contener los valores iniciales de las variables </a:t>
            </a:r>
            <a:r>
              <a:rPr lang="es-ES" dirty="0" err="1" smtClean="0"/>
              <a:t>array</a:t>
            </a:r>
            <a:endParaRPr lang="es-ES" dirty="0" smtClean="0"/>
          </a:p>
          <a:p>
            <a:r>
              <a:rPr lang="es-ES" b="1" dirty="0" smtClean="0">
                <a:solidFill>
                  <a:srgbClr val="00B050"/>
                </a:solidFill>
              </a:rPr>
              <a:t>[]</a:t>
            </a:r>
            <a:r>
              <a:rPr lang="es-ES" dirty="0" smtClean="0"/>
              <a:t> permite declarar variables de tipo </a:t>
            </a:r>
            <a:r>
              <a:rPr lang="es-ES" dirty="0" err="1" smtClean="0"/>
              <a:t>array</a:t>
            </a:r>
            <a:r>
              <a:rPr lang="es-ES" dirty="0" smtClean="0"/>
              <a:t> y referenciar sus elementos.</a:t>
            </a:r>
          </a:p>
          <a:p>
            <a:r>
              <a:rPr lang="es-ES" b="1" dirty="0" smtClean="0">
                <a:solidFill>
                  <a:srgbClr val="00B050"/>
                </a:solidFill>
              </a:rPr>
              <a:t>;</a:t>
            </a:r>
            <a:r>
              <a:rPr lang="es-ES" dirty="0" smtClean="0"/>
              <a:t>  separa sentencias</a:t>
            </a:r>
          </a:p>
          <a:p>
            <a:r>
              <a:rPr lang="es-ES" b="1" dirty="0" smtClean="0">
                <a:solidFill>
                  <a:srgbClr val="00B050"/>
                </a:solidFill>
              </a:rPr>
              <a:t>, </a:t>
            </a:r>
            <a:r>
              <a:rPr lang="es-ES" dirty="0" smtClean="0"/>
              <a:t>separa identificadores</a:t>
            </a:r>
            <a:endParaRPr lang="es-ES" b="1" dirty="0" smtClean="0">
              <a:solidFill>
                <a:srgbClr val="00B050"/>
              </a:solidFill>
            </a:endParaRPr>
          </a:p>
          <a:p>
            <a:r>
              <a:rPr lang="es-ES" b="1" dirty="0" smtClean="0">
                <a:solidFill>
                  <a:srgbClr val="00B050"/>
                </a:solidFill>
              </a:rPr>
              <a:t>. </a:t>
            </a:r>
            <a:r>
              <a:rPr lang="es-ES" dirty="0" smtClean="0"/>
              <a:t>separa el nombre de un atributo o método de su instancia de referencia</a:t>
            </a:r>
          </a:p>
          <a:p>
            <a:endParaRPr lang="es-AR" b="1" dirty="0">
              <a:solidFill>
                <a:srgbClr val="00B050"/>
              </a:solidFill>
            </a:endParaRPr>
          </a:p>
        </p:txBody>
      </p:sp>
    </p:spTree>
    <p:extLst>
      <p:ext uri="{BB962C8B-B14F-4D97-AF65-F5344CB8AC3E}">
        <p14:creationId xmlns:p14="http://schemas.microsoft.com/office/powerpoint/2010/main" val="331608748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676</Words>
  <Application>Microsoft Office PowerPoint</Application>
  <PresentationFormat>Presentación en pantalla (4:3)</PresentationFormat>
  <Paragraphs>135</Paragraphs>
  <Slides>15</Slides>
  <Notes>0</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Tema de Office</vt:lpstr>
      <vt:lpstr>OPERADORES </vt:lpstr>
      <vt:lpstr>Asignación</vt:lpstr>
      <vt:lpstr>Asignación</vt:lpstr>
      <vt:lpstr>Asignación</vt:lpstr>
      <vt:lpstr>Asignación (ejemplo)</vt:lpstr>
      <vt:lpstr>Operadores Aritméticos</vt:lpstr>
      <vt:lpstr>Operadores Aritméticos                          Expresión       Resultado</vt:lpstr>
      <vt:lpstr>Operadores Aritméticos</vt:lpstr>
      <vt:lpstr>Operadores Incrementales</vt:lpstr>
      <vt:lpstr>Operadores Aritmeticos Combinados</vt:lpstr>
      <vt:lpstr>Operadores de Relación</vt:lpstr>
      <vt:lpstr>Operadores Lógicos o Booleanos</vt:lpstr>
      <vt:lpstr>Operadores Lógicos o Booleanos</vt:lpstr>
      <vt:lpstr>Operador de Concatenación</vt:lpstr>
      <vt:lpstr>Separadores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OPERADORES </dc:title>
  <dc:creator>Planificacion</dc:creator>
  <cp:lastModifiedBy>Planificacion</cp:lastModifiedBy>
  <cp:revision>11</cp:revision>
  <dcterms:created xsi:type="dcterms:W3CDTF">2021-03-22T21:26:07Z</dcterms:created>
  <dcterms:modified xsi:type="dcterms:W3CDTF">2021-03-22T23:09:41Z</dcterms:modified>
</cp:coreProperties>
</file>