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g+fo1bbYcJuJMEwRob6YzhbOiQ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Verdana"/>
              <a:buNone/>
            </a:pPr>
            <a:r>
              <a:rPr b="1" lang="es-ES">
                <a:latin typeface="Verdana"/>
                <a:ea typeface="Verdana"/>
                <a:cs typeface="Verdana"/>
                <a:sym typeface="Verdana"/>
              </a:rPr>
              <a:t>Programación I	</a:t>
            </a:r>
            <a:endParaRPr b="1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200"/>
              <a:buNone/>
            </a:pPr>
            <a:r>
              <a:rPr b="1" lang="es-ES">
                <a:solidFill>
                  <a:srgbClr val="00B050"/>
                </a:solidFill>
                <a:latin typeface="Verdana"/>
                <a:ea typeface="Verdana"/>
                <a:cs typeface="Verdana"/>
                <a:sym typeface="Verdana"/>
              </a:rPr>
              <a:t>Ing. Rafael Yurkevich</a:t>
            </a:r>
            <a:endParaRPr b="1">
              <a:solidFill>
                <a:srgbClr val="00B05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400"/>
              <a:buFont typeface="Verdana"/>
              <a:buNone/>
            </a:pPr>
            <a:r>
              <a:rPr b="1" lang="es-ES" u="sng">
                <a:solidFill>
                  <a:srgbClr val="00B050"/>
                </a:solidFill>
                <a:latin typeface="Verdana"/>
                <a:ea typeface="Verdana"/>
                <a:cs typeface="Verdana"/>
                <a:sym typeface="Verdana"/>
              </a:rPr>
              <a:t>Proceso</a:t>
            </a:r>
            <a:endParaRPr b="1" u="sng">
              <a:solidFill>
                <a:srgbClr val="00B05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91" name="Google Shape;91;p2"/>
          <p:cNvGrpSpPr/>
          <p:nvPr/>
        </p:nvGrpSpPr>
        <p:grpSpPr>
          <a:xfrm>
            <a:off x="466040" y="1600200"/>
            <a:ext cx="8211919" cy="4525963"/>
            <a:chOff x="8840" y="0"/>
            <a:chExt cx="8211919" cy="4525963"/>
          </a:xfrm>
        </p:grpSpPr>
        <p:sp>
          <p:nvSpPr>
            <p:cNvPr id="92" name="Google Shape;92;p2"/>
            <p:cNvSpPr/>
            <p:nvPr/>
          </p:nvSpPr>
          <p:spPr>
            <a:xfrm>
              <a:off x="617219" y="0"/>
              <a:ext cx="6995160" cy="4525963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CFD7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8840" y="1357788"/>
              <a:ext cx="2648902" cy="1810385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2"/>
            <p:cNvSpPr txBox="1"/>
            <p:nvPr/>
          </p:nvSpPr>
          <p:spPr>
            <a:xfrm>
              <a:off x="97216" y="1446164"/>
              <a:ext cx="2472150" cy="16336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0475" lIns="110475" spcFirstLastPara="1" rIns="110475" wrap="square" tIns="1104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900"/>
                <a:buFont typeface="Calibri"/>
                <a:buNone/>
              </a:pPr>
              <a:r>
                <a:rPr b="0" i="0" lang="es-ES" sz="29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Materia Prima (Datos)</a:t>
              </a:r>
              <a:endParaRPr b="0" i="0" sz="2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2790348" y="1357788"/>
              <a:ext cx="2648902" cy="1810385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2878724" y="1446164"/>
              <a:ext cx="2472150" cy="16336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0475" lIns="110475" spcFirstLastPara="1" rIns="110475" wrap="square" tIns="1104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900"/>
                <a:buFont typeface="Calibri"/>
                <a:buNone/>
              </a:pPr>
              <a:r>
                <a:rPr b="0" i="0" lang="es-ES" sz="29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Procesamiento	</a:t>
              </a:r>
              <a:endParaRPr b="0" i="0" sz="2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5571857" y="1357788"/>
              <a:ext cx="2648902" cy="1810385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 txBox="1"/>
            <p:nvPr/>
          </p:nvSpPr>
          <p:spPr>
            <a:xfrm>
              <a:off x="5660233" y="1446164"/>
              <a:ext cx="2472150" cy="16336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0475" lIns="110475" spcFirstLastPara="1" rIns="110475" wrap="square" tIns="1104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900"/>
                <a:buFont typeface="Calibri"/>
                <a:buNone/>
              </a:pPr>
              <a:r>
                <a:rPr b="0" i="0" lang="es-ES" sz="29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Resultado final (Información)</a:t>
              </a:r>
              <a:endParaRPr b="0" i="0" sz="2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/>
          <p:nvPr>
            <p:ph type="ctrTitle"/>
          </p:nvPr>
        </p:nvSpPr>
        <p:spPr>
          <a:xfrm>
            <a:off x="899592" y="332656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400"/>
              <a:buFont typeface="Verdana"/>
              <a:buNone/>
            </a:pPr>
            <a:r>
              <a:rPr b="1" lang="es-ES" u="sng">
                <a:solidFill>
                  <a:srgbClr val="00B050"/>
                </a:solidFill>
                <a:latin typeface="Verdana"/>
                <a:ea typeface="Verdana"/>
                <a:cs typeface="Verdana"/>
                <a:sym typeface="Verdana"/>
              </a:rPr>
              <a:t>PROCESO</a:t>
            </a:r>
            <a:endParaRPr b="1" u="sng">
              <a:solidFill>
                <a:srgbClr val="00B05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4" name="Google Shape;104;p3"/>
          <p:cNvSpPr txBox="1"/>
          <p:nvPr>
            <p:ph idx="1" type="subTitle"/>
          </p:nvPr>
        </p:nvSpPr>
        <p:spPr>
          <a:xfrm>
            <a:off x="1547664" y="2060848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s-ES">
                <a:latin typeface="Verdana"/>
                <a:ea typeface="Verdana"/>
                <a:cs typeface="Verdana"/>
                <a:sym typeface="Verdana"/>
              </a:rPr>
              <a:t>Conjunto de acciones que logran pasar de un Estado Inicial a un Estado Final.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Verdana"/>
              <a:buNone/>
            </a:pPr>
            <a:r>
              <a:rPr b="1" lang="es-ES" u="sng">
                <a:solidFill>
                  <a:srgbClr val="0070C0"/>
                </a:solidFill>
                <a:latin typeface="Verdana"/>
                <a:ea typeface="Verdana"/>
                <a:cs typeface="Verdana"/>
                <a:sym typeface="Verdana"/>
              </a:rPr>
              <a:t>Accion</a:t>
            </a:r>
            <a:endParaRPr b="1" u="sng">
              <a:solidFill>
                <a:srgbClr val="0070C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0" name="Google Shape;110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rPr b="1" lang="es-ES" sz="4400">
                <a:latin typeface="Verdana"/>
                <a:ea typeface="Verdana"/>
                <a:cs typeface="Verdana"/>
                <a:sym typeface="Verdana"/>
              </a:rPr>
              <a:t>Como determinamos las acciones?</a:t>
            </a:r>
            <a:endParaRPr b="1" sz="44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Verdana"/>
              <a:buNone/>
            </a:pPr>
            <a:r>
              <a:rPr b="1" lang="es-ES" u="sng">
                <a:solidFill>
                  <a:srgbClr val="0070C0"/>
                </a:solidFill>
                <a:latin typeface="Verdana"/>
                <a:ea typeface="Verdana"/>
                <a:cs typeface="Verdana"/>
                <a:sym typeface="Verdana"/>
              </a:rPr>
              <a:t>Accion</a:t>
            </a:r>
            <a:endParaRPr b="1" u="sng">
              <a:solidFill>
                <a:srgbClr val="0070C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6" name="Google Shape;116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rPr b="1" lang="es-ES" sz="4400">
                <a:latin typeface="Verdana"/>
                <a:ea typeface="Verdana"/>
                <a:cs typeface="Verdana"/>
                <a:sym typeface="Verdana"/>
              </a:rPr>
              <a:t>Si sabemos el estado inicial y sabemos a que estado deseamos llegar, determinamos la acción que debemos realizar</a:t>
            </a:r>
            <a:endParaRPr b="1" sz="44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Verdana"/>
              <a:buNone/>
            </a:pPr>
            <a:r>
              <a:rPr b="1" lang="es-ES">
                <a:solidFill>
                  <a:srgbClr val="0070C0"/>
                </a:solidFill>
                <a:latin typeface="Verdana"/>
                <a:ea typeface="Verdana"/>
                <a:cs typeface="Verdana"/>
                <a:sym typeface="Verdana"/>
              </a:rPr>
              <a:t>Acción</a:t>
            </a:r>
            <a:endParaRPr b="1">
              <a:solidFill>
                <a:srgbClr val="0070C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122" name="Google Shape;122;p6"/>
          <p:cNvGrpSpPr/>
          <p:nvPr/>
        </p:nvGrpSpPr>
        <p:grpSpPr>
          <a:xfrm>
            <a:off x="3288662" y="1601415"/>
            <a:ext cx="2533010" cy="4523531"/>
            <a:chOff x="2831462" y="1215"/>
            <a:chExt cx="2533010" cy="4523531"/>
          </a:xfrm>
        </p:grpSpPr>
        <p:sp>
          <p:nvSpPr>
            <p:cNvPr id="123" name="Google Shape;123;p6"/>
            <p:cNvSpPr/>
            <p:nvPr/>
          </p:nvSpPr>
          <p:spPr>
            <a:xfrm>
              <a:off x="3365512" y="1215"/>
              <a:ext cx="1028744" cy="1028728"/>
            </a:xfrm>
            <a:prstGeom prst="donut">
              <a:avLst>
                <a:gd fmla="val 11010" name="adj"/>
              </a:avLst>
            </a:prstGeom>
            <a:solidFill>
              <a:schemeClr val="accen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6"/>
            <p:cNvSpPr/>
            <p:nvPr/>
          </p:nvSpPr>
          <p:spPr>
            <a:xfrm rot="10800000">
              <a:off x="2832392" y="482470"/>
              <a:ext cx="325483" cy="66203"/>
            </a:xfrm>
            <a:prstGeom prst="rect">
              <a:avLst/>
            </a:prstGeom>
            <a:solidFill>
              <a:srgbClr val="C0CCE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6"/>
            <p:cNvSpPr/>
            <p:nvPr/>
          </p:nvSpPr>
          <p:spPr>
            <a:xfrm>
              <a:off x="3478704" y="114406"/>
              <a:ext cx="802360" cy="802347"/>
            </a:xfrm>
            <a:prstGeom prst="ellipse">
              <a:avLst/>
            </a:prstGeom>
            <a:solidFill>
              <a:srgbClr val="CFD7E7">
                <a:alpha val="90196"/>
              </a:srgbClr>
            </a:solidFill>
            <a:ln cap="flat" cmpd="sng" w="25400">
              <a:solidFill>
                <a:srgbClr val="CFD7E7">
                  <a:alpha val="9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6"/>
            <p:cNvSpPr txBox="1"/>
            <p:nvPr/>
          </p:nvSpPr>
          <p:spPr>
            <a:xfrm>
              <a:off x="3596207" y="231907"/>
              <a:ext cx="567354" cy="5673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Verdana"/>
                <a:buNone/>
              </a:pPr>
              <a:r>
                <a:rPr b="0" i="0" lang="es-ES" sz="16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Agua Fria</a:t>
              </a:r>
              <a:endPara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27" name="Google Shape;127;p6"/>
            <p:cNvSpPr/>
            <p:nvPr/>
          </p:nvSpPr>
          <p:spPr>
            <a:xfrm>
              <a:off x="4012532" y="1183345"/>
              <a:ext cx="204535" cy="204535"/>
            </a:xfrm>
            <a:prstGeom prst="flowChartConnector">
              <a:avLst/>
            </a:prstGeom>
            <a:solidFill>
              <a:schemeClr val="accen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6"/>
            <p:cNvSpPr/>
            <p:nvPr/>
          </p:nvSpPr>
          <p:spPr>
            <a:xfrm>
              <a:off x="3599164" y="1544625"/>
              <a:ext cx="1589987" cy="1443398"/>
            </a:xfrm>
            <a:prstGeom prst="donut">
              <a:avLst>
                <a:gd fmla="val 11010" name="adj"/>
              </a:avLst>
            </a:prstGeom>
            <a:solidFill>
              <a:schemeClr val="accen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6"/>
            <p:cNvSpPr/>
            <p:nvPr/>
          </p:nvSpPr>
          <p:spPr>
            <a:xfrm flipH="1">
              <a:off x="5169931" y="2195573"/>
              <a:ext cx="194541" cy="134799"/>
            </a:xfrm>
            <a:prstGeom prst="rect">
              <a:avLst/>
            </a:prstGeom>
            <a:solidFill>
              <a:srgbClr val="C0CCE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6"/>
            <p:cNvSpPr/>
            <p:nvPr/>
          </p:nvSpPr>
          <p:spPr>
            <a:xfrm>
              <a:off x="3756685" y="1687874"/>
              <a:ext cx="1251529" cy="1150213"/>
            </a:xfrm>
            <a:prstGeom prst="ellipse">
              <a:avLst/>
            </a:prstGeom>
            <a:solidFill>
              <a:srgbClr val="CFD7E7">
                <a:alpha val="90196"/>
              </a:srgbClr>
            </a:solidFill>
            <a:ln cap="flat" cmpd="sng" w="25400">
              <a:solidFill>
                <a:srgbClr val="CFD7E7">
                  <a:alpha val="9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6"/>
            <p:cNvSpPr txBox="1"/>
            <p:nvPr/>
          </p:nvSpPr>
          <p:spPr>
            <a:xfrm>
              <a:off x="3939967" y="1856319"/>
              <a:ext cx="884965" cy="8133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Verdana"/>
                <a:buNone/>
              </a:pPr>
              <a:r>
                <a:rPr b="0" i="0" lang="es-ES" sz="14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Calentar Agua</a:t>
              </a:r>
              <a:r>
                <a:rPr b="0" i="0" lang="es-E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	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6"/>
            <p:cNvSpPr/>
            <p:nvPr/>
          </p:nvSpPr>
          <p:spPr>
            <a:xfrm>
              <a:off x="4012532" y="3138082"/>
              <a:ext cx="204535" cy="204535"/>
            </a:xfrm>
            <a:prstGeom prst="flowChartConnector">
              <a:avLst/>
            </a:prstGeom>
            <a:solidFill>
              <a:schemeClr val="accen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6"/>
            <p:cNvSpPr/>
            <p:nvPr/>
          </p:nvSpPr>
          <p:spPr>
            <a:xfrm>
              <a:off x="3366442" y="3496018"/>
              <a:ext cx="1028744" cy="1028728"/>
            </a:xfrm>
            <a:prstGeom prst="donut">
              <a:avLst>
                <a:gd fmla="val 11010" name="adj"/>
              </a:avLst>
            </a:prstGeom>
            <a:solidFill>
              <a:schemeClr val="accen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6"/>
            <p:cNvSpPr/>
            <p:nvPr/>
          </p:nvSpPr>
          <p:spPr>
            <a:xfrm>
              <a:off x="2831462" y="3908677"/>
              <a:ext cx="329203" cy="203394"/>
            </a:xfrm>
            <a:prstGeom prst="rect">
              <a:avLst/>
            </a:prstGeom>
            <a:solidFill>
              <a:srgbClr val="C0CCE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6"/>
            <p:cNvSpPr/>
            <p:nvPr/>
          </p:nvSpPr>
          <p:spPr>
            <a:xfrm>
              <a:off x="3479634" y="3609209"/>
              <a:ext cx="802360" cy="802347"/>
            </a:xfrm>
            <a:prstGeom prst="ellipse">
              <a:avLst/>
            </a:prstGeom>
            <a:solidFill>
              <a:srgbClr val="CFD7E7">
                <a:alpha val="90196"/>
              </a:srgbClr>
            </a:solidFill>
            <a:ln cap="flat" cmpd="sng" w="25400">
              <a:solidFill>
                <a:srgbClr val="CFD7E7">
                  <a:alpha val="9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6"/>
            <p:cNvSpPr txBox="1"/>
            <p:nvPr/>
          </p:nvSpPr>
          <p:spPr>
            <a:xfrm>
              <a:off x="3597137" y="3726710"/>
              <a:ext cx="567354" cy="5673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Verdana"/>
                <a:buNone/>
              </a:pPr>
              <a:r>
                <a:rPr b="0" i="0" lang="es-ES" sz="14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Agua Caliente</a:t>
              </a:r>
              <a:endParaRPr b="0" i="0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b="1" lang="es-ES">
                <a:solidFill>
                  <a:srgbClr val="0070C0"/>
                </a:solidFill>
              </a:rPr>
              <a:t>Estados y Representación</a:t>
            </a:r>
            <a:endParaRPr/>
          </a:p>
        </p:txBody>
      </p:sp>
      <p:sp>
        <p:nvSpPr>
          <p:cNvPr id="142" name="Google Shape;142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ES"/>
              <a:t>Los Estados se representan por sus características, en el ejemplo anterior la temperatura. En otros casos por los valores que lo representan: Edad, Altura, Valor del Salario, Densidad, etc.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ES"/>
              <a:t>Es decir que para caracterizar un estado es preciso establecer (y mensurar) los atributos que lo caracterizan.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Calibri"/>
              <a:buNone/>
            </a:pPr>
            <a:r>
              <a:rPr b="1" lang="es-ES">
                <a:solidFill>
                  <a:srgbClr val="0070C0"/>
                </a:solidFill>
              </a:rPr>
              <a:t>Programas</a:t>
            </a:r>
            <a:endParaRPr/>
          </a:p>
        </p:txBody>
      </p:sp>
      <p:sp>
        <p:nvSpPr>
          <p:cNvPr id="148" name="Google Shape;148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3200"/>
              <a:buChar char="•"/>
            </a:pPr>
            <a:r>
              <a:rPr b="0" i="0" lang="es-ES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Se trata de </a:t>
            </a:r>
            <a:r>
              <a:rPr b="1" i="0" lang="es-ES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aplicaciones y recursos que permiten desarrollar diferentes tareas en una computadora (ordenador), un teléfono u otros equipos tecnológicos</a:t>
            </a:r>
            <a:r>
              <a:rPr b="0" i="0" lang="es-ES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rgbClr val="202124"/>
              </a:buClr>
              <a:buSzPts val="3200"/>
              <a:buChar char="•"/>
            </a:pPr>
            <a:r>
              <a:rPr lang="es-ES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Consiste en </a:t>
            </a:r>
            <a:r>
              <a:rPr b="1" lang="es-ES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crear una máquina de propósito particular sobre una máquina de propósito general.</a:t>
            </a:r>
            <a:endParaRPr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4400"/>
              <a:buFont typeface="Verdana"/>
              <a:buNone/>
            </a:pPr>
            <a:r>
              <a:rPr b="1" lang="es-ES">
                <a:solidFill>
                  <a:srgbClr val="7030A0"/>
                </a:solidFill>
                <a:latin typeface="Verdana"/>
                <a:ea typeface="Verdana"/>
                <a:cs typeface="Verdana"/>
                <a:sym typeface="Verdana"/>
              </a:rPr>
              <a:t>Variables y Constantes</a:t>
            </a:r>
            <a:endParaRPr b="1">
              <a:solidFill>
                <a:srgbClr val="7030A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4" name="Google Shape;154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ES">
                <a:latin typeface="Verdana"/>
                <a:ea typeface="Verdana"/>
                <a:cs typeface="Verdana"/>
                <a:sym typeface="Verdana"/>
              </a:rPr>
              <a:t>Una </a:t>
            </a:r>
            <a:r>
              <a:rPr b="1" i="1" lang="es-ES">
                <a:latin typeface="Verdana"/>
                <a:ea typeface="Verdana"/>
                <a:cs typeface="Verdana"/>
                <a:sym typeface="Verdana"/>
              </a:rPr>
              <a:t>variable</a:t>
            </a:r>
            <a:r>
              <a:rPr lang="es-ES">
                <a:latin typeface="Verdana"/>
                <a:ea typeface="Verdana"/>
                <a:cs typeface="Verdana"/>
                <a:sym typeface="Verdana"/>
              </a:rPr>
              <a:t> es un dato que define un estado antes de una acción y otro luego de la acción.</a:t>
            </a:r>
            <a:endParaRPr/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ES">
                <a:latin typeface="Verdana"/>
                <a:ea typeface="Verdana"/>
                <a:cs typeface="Verdana"/>
                <a:sym typeface="Verdana"/>
              </a:rPr>
              <a:t>Una </a:t>
            </a:r>
            <a:r>
              <a:rPr b="1" i="1" lang="es-ES">
                <a:latin typeface="Verdana"/>
                <a:ea typeface="Verdana"/>
                <a:cs typeface="Verdana"/>
                <a:sym typeface="Verdana"/>
              </a:rPr>
              <a:t>constante</a:t>
            </a:r>
            <a:r>
              <a:rPr lang="es-ES">
                <a:latin typeface="Verdana"/>
                <a:ea typeface="Verdana"/>
                <a:cs typeface="Verdana"/>
                <a:sym typeface="Verdana"/>
              </a:rPr>
              <a:t> no cambia en ningún momento con ninguna acción.</a:t>
            </a:r>
            <a:endParaRPr/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ES">
                <a:latin typeface="Verdana"/>
                <a:ea typeface="Verdana"/>
                <a:cs typeface="Verdana"/>
                <a:sym typeface="Verdana"/>
              </a:rPr>
              <a:t>Una </a:t>
            </a:r>
            <a:r>
              <a:rPr b="1" i="1" lang="es-ES">
                <a:latin typeface="Verdana"/>
                <a:ea typeface="Verdana"/>
                <a:cs typeface="Verdana"/>
                <a:sym typeface="Verdana"/>
              </a:rPr>
              <a:t>variable</a:t>
            </a:r>
            <a:r>
              <a:rPr lang="es-ES">
                <a:latin typeface="Verdana"/>
                <a:ea typeface="Verdana"/>
                <a:cs typeface="Verdana"/>
                <a:sym typeface="Verdana"/>
              </a:rPr>
              <a:t> se define por un nombre</a:t>
            </a:r>
            <a:endParaRPr/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ES">
                <a:latin typeface="Verdana"/>
                <a:ea typeface="Verdana"/>
                <a:cs typeface="Verdana"/>
                <a:sym typeface="Verdana"/>
              </a:rPr>
              <a:t>Una </a:t>
            </a:r>
            <a:r>
              <a:rPr b="1" i="1" lang="es-ES">
                <a:latin typeface="Verdana"/>
                <a:ea typeface="Verdana"/>
                <a:cs typeface="Verdana"/>
                <a:sym typeface="Verdana"/>
              </a:rPr>
              <a:t>constante</a:t>
            </a:r>
            <a:r>
              <a:rPr lang="es-ES">
                <a:latin typeface="Verdana"/>
                <a:ea typeface="Verdana"/>
                <a:cs typeface="Verdana"/>
                <a:sym typeface="Verdana"/>
              </a:rPr>
              <a:t> se define por su valor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4400"/>
              <a:buFont typeface="Verdana"/>
              <a:buNone/>
            </a:pPr>
            <a:r>
              <a:rPr b="1" lang="es-ES">
                <a:solidFill>
                  <a:srgbClr val="7030A0"/>
                </a:solidFill>
                <a:latin typeface="Verdana"/>
                <a:ea typeface="Verdana"/>
                <a:cs typeface="Verdana"/>
                <a:sym typeface="Verdana"/>
              </a:rPr>
              <a:t>Variables y Constantes</a:t>
            </a:r>
            <a:endParaRPr/>
          </a:p>
        </p:txBody>
      </p:sp>
      <p:sp>
        <p:nvSpPr>
          <p:cNvPr id="160" name="Google Shape;160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ES"/>
              <a:t>Así por ejemplo: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ES"/>
              <a:t>	Valor, X, Nombre, Direccion, Total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ES"/>
              <a:t>Son nombres de variables	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ES"/>
              <a:t>Mientras que: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ES"/>
              <a:t>   	“Rafael”, “Total”, 2, 567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ES"/>
              <a:t>Son constantes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Verdana"/>
              <a:buNone/>
            </a:pPr>
            <a:r>
              <a:rPr b="1" lang="es-ES">
                <a:solidFill>
                  <a:srgbClr val="7030A0"/>
                </a:solidFill>
                <a:latin typeface="Verdana"/>
                <a:ea typeface="Verdana"/>
                <a:cs typeface="Verdana"/>
                <a:sym typeface="Verdana"/>
              </a:rPr>
              <a:t>COMPOSICION de ACCIONES</a:t>
            </a:r>
            <a:endParaRPr b="1">
              <a:solidFill>
                <a:srgbClr val="7030A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166" name="Google Shape;166;p11"/>
          <p:cNvGrpSpPr/>
          <p:nvPr/>
        </p:nvGrpSpPr>
        <p:grpSpPr>
          <a:xfrm>
            <a:off x="457200" y="1600647"/>
            <a:ext cx="8229599" cy="4525067"/>
            <a:chOff x="0" y="447"/>
            <a:chExt cx="8229599" cy="4525067"/>
          </a:xfrm>
        </p:grpSpPr>
        <p:sp>
          <p:nvSpPr>
            <p:cNvPr id="167" name="Google Shape;167;p11"/>
            <p:cNvSpPr/>
            <p:nvPr/>
          </p:nvSpPr>
          <p:spPr>
            <a:xfrm rot="5400000">
              <a:off x="-245635" y="246082"/>
              <a:ext cx="1637567" cy="1146297"/>
            </a:xfrm>
            <a:prstGeom prst="chevron">
              <a:avLst>
                <a:gd fmla="val 50000" name="adj"/>
              </a:avLst>
            </a:prstGeom>
            <a:solidFill>
              <a:schemeClr val="accen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1"/>
            <p:cNvSpPr txBox="1"/>
            <p:nvPr/>
          </p:nvSpPr>
          <p:spPr>
            <a:xfrm>
              <a:off x="1" y="573596"/>
              <a:ext cx="1146297" cy="4912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875" lIns="15875" spcFirstLastPara="1" rIns="15875" wrap="square" tIns="158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Calibri"/>
                <a:buNone/>
              </a:pPr>
              <a:r>
                <a:rPr b="0" i="0" lang="es-ES" sz="25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Accion 1</a:t>
              </a:r>
              <a:endParaRPr/>
            </a:p>
          </p:txBody>
        </p:sp>
        <p:sp>
          <p:nvSpPr>
            <p:cNvPr id="169" name="Google Shape;169;p11"/>
            <p:cNvSpPr/>
            <p:nvPr/>
          </p:nvSpPr>
          <p:spPr>
            <a:xfrm rot="5400000">
              <a:off x="4155739" y="-3008994"/>
              <a:ext cx="1064418" cy="7083302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chemeClr val="lt1">
                <a:alpha val="90196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1"/>
            <p:cNvSpPr txBox="1"/>
            <p:nvPr/>
          </p:nvSpPr>
          <p:spPr>
            <a:xfrm>
              <a:off x="1146298" y="52408"/>
              <a:ext cx="7031341" cy="9604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213350" spcFirstLastPara="1" rIns="19050" wrap="square" tIns="19050">
              <a:noAutofit/>
            </a:bodyPr>
            <a:lstStyle/>
            <a:p>
              <a:pPr indent="-285750" lvl="1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Calibri"/>
                <a:buChar char="•"/>
              </a:pPr>
              <a:r>
                <a:rPr b="0" i="0" lang="es-ES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Estado Inicia</a:t>
              </a:r>
              <a:endParaRPr/>
            </a:p>
            <a:p>
              <a:pPr indent="-285750" lvl="1" marL="285750" marR="0" rtl="0" algn="l">
                <a:lnSpc>
                  <a:spcPct val="90000"/>
                </a:lnSpc>
                <a:spcBef>
                  <a:spcPts val="45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Calibri"/>
                <a:buChar char="•"/>
              </a:pPr>
              <a:r>
                <a:rPr b="0" i="0" lang="es-ES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Estado 1</a:t>
              </a:r>
              <a:endParaRPr/>
            </a:p>
          </p:txBody>
        </p:sp>
        <p:sp>
          <p:nvSpPr>
            <p:cNvPr id="171" name="Google Shape;171;p11"/>
            <p:cNvSpPr/>
            <p:nvPr/>
          </p:nvSpPr>
          <p:spPr>
            <a:xfrm rot="5400000">
              <a:off x="-245635" y="1689832"/>
              <a:ext cx="1637567" cy="1146297"/>
            </a:xfrm>
            <a:prstGeom prst="chevron">
              <a:avLst>
                <a:gd fmla="val 50000" name="adj"/>
              </a:avLst>
            </a:prstGeom>
            <a:solidFill>
              <a:schemeClr val="accen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1"/>
            <p:cNvSpPr txBox="1"/>
            <p:nvPr/>
          </p:nvSpPr>
          <p:spPr>
            <a:xfrm>
              <a:off x="1" y="2017346"/>
              <a:ext cx="1146297" cy="4912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875" lIns="15875" spcFirstLastPara="1" rIns="15875" wrap="square" tIns="158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Calibri"/>
                <a:buNone/>
              </a:pPr>
              <a:r>
                <a:rPr b="0" i="0" lang="es-ES" sz="25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Accion 2</a:t>
              </a:r>
              <a:endParaRPr/>
            </a:p>
          </p:txBody>
        </p:sp>
        <p:sp>
          <p:nvSpPr>
            <p:cNvPr id="173" name="Google Shape;173;p11"/>
            <p:cNvSpPr/>
            <p:nvPr/>
          </p:nvSpPr>
          <p:spPr>
            <a:xfrm rot="5400000">
              <a:off x="4155739" y="-1565244"/>
              <a:ext cx="1064418" cy="7083302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chemeClr val="lt1">
                <a:alpha val="90196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1"/>
            <p:cNvSpPr txBox="1"/>
            <p:nvPr/>
          </p:nvSpPr>
          <p:spPr>
            <a:xfrm>
              <a:off x="1146298" y="1496158"/>
              <a:ext cx="7031341" cy="9604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213350" spcFirstLastPara="1" rIns="19050" wrap="square" tIns="19050">
              <a:noAutofit/>
            </a:bodyPr>
            <a:lstStyle/>
            <a:p>
              <a:pPr indent="-285750" lvl="1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Calibri"/>
                <a:buChar char="•"/>
              </a:pPr>
              <a:r>
                <a:rPr b="0" i="0" lang="es-ES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Estado 1</a:t>
              </a:r>
              <a:endParaRPr/>
            </a:p>
            <a:p>
              <a:pPr indent="-285750" lvl="1" marL="285750" marR="0" rtl="0" algn="l">
                <a:lnSpc>
                  <a:spcPct val="90000"/>
                </a:lnSpc>
                <a:spcBef>
                  <a:spcPts val="45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Calibri"/>
                <a:buChar char="•"/>
              </a:pPr>
              <a:r>
                <a:rPr b="0" i="0" lang="es-ES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Estado 2</a:t>
              </a:r>
              <a:endParaRPr/>
            </a:p>
          </p:txBody>
        </p:sp>
        <p:sp>
          <p:nvSpPr>
            <p:cNvPr id="175" name="Google Shape;175;p11"/>
            <p:cNvSpPr/>
            <p:nvPr/>
          </p:nvSpPr>
          <p:spPr>
            <a:xfrm rot="5400000">
              <a:off x="-245635" y="3133582"/>
              <a:ext cx="1637567" cy="1146297"/>
            </a:xfrm>
            <a:prstGeom prst="chevron">
              <a:avLst>
                <a:gd fmla="val 50000" name="adj"/>
              </a:avLst>
            </a:prstGeom>
            <a:solidFill>
              <a:schemeClr val="accen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1"/>
            <p:cNvSpPr txBox="1"/>
            <p:nvPr/>
          </p:nvSpPr>
          <p:spPr>
            <a:xfrm>
              <a:off x="1" y="3461096"/>
              <a:ext cx="1146297" cy="4912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875" lIns="15875" spcFirstLastPara="1" rIns="15875" wrap="square" tIns="158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Calibri"/>
                <a:buNone/>
              </a:pPr>
              <a:r>
                <a:rPr b="0" i="0" lang="es-ES" sz="25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Accion 3</a:t>
              </a:r>
              <a:endParaRPr/>
            </a:p>
          </p:txBody>
        </p:sp>
        <p:sp>
          <p:nvSpPr>
            <p:cNvPr id="177" name="Google Shape;177;p11"/>
            <p:cNvSpPr/>
            <p:nvPr/>
          </p:nvSpPr>
          <p:spPr>
            <a:xfrm rot="5400000">
              <a:off x="4155739" y="-121494"/>
              <a:ext cx="1064418" cy="7083302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chemeClr val="lt1">
                <a:alpha val="90196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1"/>
            <p:cNvSpPr txBox="1"/>
            <p:nvPr/>
          </p:nvSpPr>
          <p:spPr>
            <a:xfrm>
              <a:off x="1146298" y="2939908"/>
              <a:ext cx="7031341" cy="9604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213350" spcFirstLastPara="1" rIns="19050" wrap="square" tIns="19050">
              <a:noAutofit/>
            </a:bodyPr>
            <a:lstStyle/>
            <a:p>
              <a:pPr indent="-285750" lvl="1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Calibri"/>
                <a:buChar char="•"/>
              </a:pPr>
              <a:r>
                <a:rPr b="0" i="0" lang="es-ES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Estado 2</a:t>
              </a:r>
              <a:endParaRPr/>
            </a:p>
            <a:p>
              <a:pPr indent="-285750" lvl="1" marL="285750" marR="0" rtl="0" algn="l">
                <a:lnSpc>
                  <a:spcPct val="90000"/>
                </a:lnSpc>
                <a:spcBef>
                  <a:spcPts val="45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Calibri"/>
                <a:buChar char="•"/>
              </a:pPr>
              <a:r>
                <a:rPr b="0" i="0" lang="es-ES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Estado Final</a:t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Verdana"/>
              <a:buNone/>
            </a:pPr>
            <a:r>
              <a:rPr b="1" lang="es-ES">
                <a:solidFill>
                  <a:srgbClr val="C00000"/>
                </a:solidFill>
                <a:latin typeface="Verdana"/>
                <a:ea typeface="Verdana"/>
                <a:cs typeface="Verdana"/>
                <a:sym typeface="Verdana"/>
              </a:rPr>
              <a:t>Ejercitación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184" name="Google Shape;184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2021-03-10T22:02:58Z</dcterms:created>
  <dc:creator>Planificacion</dc:creator>
</cp:coreProperties>
</file>