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3" r:id="rId19"/>
    <p:sldId id="275" r:id="rId20"/>
    <p:sldId id="276" r:id="rId21"/>
    <p:sldId id="277" r:id="rId22"/>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296" y="-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AR"/>
          </a:p>
        </p:txBody>
      </p:sp>
      <p:sp>
        <p:nvSpPr>
          <p:cNvPr id="4" name="3 Marcador de fecha"/>
          <p:cNvSpPr>
            <a:spLocks noGrp="1"/>
          </p:cNvSpPr>
          <p:nvPr>
            <p:ph type="dt" sz="half" idx="10"/>
          </p:nvPr>
        </p:nvSpPr>
        <p:spPr/>
        <p:txBody>
          <a:bodyPr/>
          <a:lstStyle/>
          <a:p>
            <a:fld id="{57B4DB32-F6C1-40E7-BAE6-F83F85666DA1}" type="datetimeFigureOut">
              <a:rPr lang="es-AR" smtClean="0"/>
              <a:t>14/5/2021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F2710681-01A5-42DB-B593-17DAA326274D}" type="slidenum">
              <a:rPr lang="es-AR" smtClean="0"/>
              <a:t>‹Nº›</a:t>
            </a:fld>
            <a:endParaRPr lang="es-AR"/>
          </a:p>
        </p:txBody>
      </p:sp>
    </p:spTree>
    <p:extLst>
      <p:ext uri="{BB962C8B-B14F-4D97-AF65-F5344CB8AC3E}">
        <p14:creationId xmlns:p14="http://schemas.microsoft.com/office/powerpoint/2010/main" val="4007155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57B4DB32-F6C1-40E7-BAE6-F83F85666DA1}" type="datetimeFigureOut">
              <a:rPr lang="es-AR" smtClean="0"/>
              <a:t>14/5/2021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F2710681-01A5-42DB-B593-17DAA326274D}" type="slidenum">
              <a:rPr lang="es-AR" smtClean="0"/>
              <a:t>‹Nº›</a:t>
            </a:fld>
            <a:endParaRPr lang="es-AR"/>
          </a:p>
        </p:txBody>
      </p:sp>
    </p:spTree>
    <p:extLst>
      <p:ext uri="{BB962C8B-B14F-4D97-AF65-F5344CB8AC3E}">
        <p14:creationId xmlns:p14="http://schemas.microsoft.com/office/powerpoint/2010/main" val="781689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57B4DB32-F6C1-40E7-BAE6-F83F85666DA1}" type="datetimeFigureOut">
              <a:rPr lang="es-AR" smtClean="0"/>
              <a:t>14/5/2021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F2710681-01A5-42DB-B593-17DAA326274D}" type="slidenum">
              <a:rPr lang="es-AR" smtClean="0"/>
              <a:t>‹Nº›</a:t>
            </a:fld>
            <a:endParaRPr lang="es-AR"/>
          </a:p>
        </p:txBody>
      </p:sp>
    </p:spTree>
    <p:extLst>
      <p:ext uri="{BB962C8B-B14F-4D97-AF65-F5344CB8AC3E}">
        <p14:creationId xmlns:p14="http://schemas.microsoft.com/office/powerpoint/2010/main" val="1390730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fecha"/>
          <p:cNvSpPr>
            <a:spLocks noGrp="1"/>
          </p:cNvSpPr>
          <p:nvPr>
            <p:ph type="dt" sz="half" idx="10"/>
          </p:nvPr>
        </p:nvSpPr>
        <p:spPr/>
        <p:txBody>
          <a:bodyPr/>
          <a:lstStyle/>
          <a:p>
            <a:fld id="{57B4DB32-F6C1-40E7-BAE6-F83F85666DA1}" type="datetimeFigureOut">
              <a:rPr lang="es-AR" smtClean="0"/>
              <a:t>14/5/2021</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F2710681-01A5-42DB-B593-17DAA326274D}" type="slidenum">
              <a:rPr lang="es-AR" smtClean="0"/>
              <a:t>‹Nº›</a:t>
            </a:fld>
            <a:endParaRPr lang="es-AR"/>
          </a:p>
        </p:txBody>
      </p:sp>
    </p:spTree>
    <p:extLst>
      <p:ext uri="{BB962C8B-B14F-4D97-AF65-F5344CB8AC3E}">
        <p14:creationId xmlns:p14="http://schemas.microsoft.com/office/powerpoint/2010/main" val="193701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6 Marcador de fecha"/>
          <p:cNvSpPr>
            <a:spLocks noGrp="1"/>
          </p:cNvSpPr>
          <p:nvPr>
            <p:ph type="dt" sz="half" idx="10"/>
          </p:nvPr>
        </p:nvSpPr>
        <p:spPr/>
        <p:txBody>
          <a:bodyPr/>
          <a:lstStyle/>
          <a:p>
            <a:fld id="{57B4DB32-F6C1-40E7-BAE6-F83F85666DA1}" type="datetimeFigureOut">
              <a:rPr lang="es-AR" smtClean="0"/>
              <a:t>14/5/2021</a:t>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F2710681-01A5-42DB-B593-17DAA326274D}" type="slidenum">
              <a:rPr lang="es-AR" smtClean="0"/>
              <a:t>‹Nº›</a:t>
            </a:fld>
            <a:endParaRPr lang="es-AR"/>
          </a:p>
        </p:txBody>
      </p:sp>
    </p:spTree>
    <p:extLst>
      <p:ext uri="{BB962C8B-B14F-4D97-AF65-F5344CB8AC3E}">
        <p14:creationId xmlns:p14="http://schemas.microsoft.com/office/powerpoint/2010/main" val="3718290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fecha"/>
          <p:cNvSpPr>
            <a:spLocks noGrp="1"/>
          </p:cNvSpPr>
          <p:nvPr>
            <p:ph type="dt" sz="half" idx="10"/>
          </p:nvPr>
        </p:nvSpPr>
        <p:spPr/>
        <p:txBody>
          <a:bodyPr/>
          <a:lstStyle/>
          <a:p>
            <a:fld id="{57B4DB32-F6C1-40E7-BAE6-F83F85666DA1}" type="datetimeFigureOut">
              <a:rPr lang="es-AR" smtClean="0"/>
              <a:t>14/5/2021</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F2710681-01A5-42DB-B593-17DAA326274D}" type="slidenum">
              <a:rPr lang="es-AR" smtClean="0"/>
              <a:t>‹Nº›</a:t>
            </a:fld>
            <a:endParaRPr lang="es-AR"/>
          </a:p>
        </p:txBody>
      </p:sp>
    </p:spTree>
    <p:extLst>
      <p:ext uri="{BB962C8B-B14F-4D97-AF65-F5344CB8AC3E}">
        <p14:creationId xmlns:p14="http://schemas.microsoft.com/office/powerpoint/2010/main" val="3517646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57B4DB32-F6C1-40E7-BAE6-F83F85666DA1}" type="datetimeFigureOut">
              <a:rPr lang="es-AR" smtClean="0"/>
              <a:t>14/5/2021</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F2710681-01A5-42DB-B593-17DAA326274D}" type="slidenum">
              <a:rPr lang="es-AR" smtClean="0"/>
              <a:t>‹Nº›</a:t>
            </a:fld>
            <a:endParaRPr lang="es-AR"/>
          </a:p>
        </p:txBody>
      </p:sp>
    </p:spTree>
    <p:extLst>
      <p:ext uri="{BB962C8B-B14F-4D97-AF65-F5344CB8AC3E}">
        <p14:creationId xmlns:p14="http://schemas.microsoft.com/office/powerpoint/2010/main" val="3740996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57B4DB32-F6C1-40E7-BAE6-F83F85666DA1}" type="datetimeFigureOut">
              <a:rPr lang="es-AR" smtClean="0"/>
              <a:t>14/5/2021</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F2710681-01A5-42DB-B593-17DAA326274D}" type="slidenum">
              <a:rPr lang="es-AR" smtClean="0"/>
              <a:t>‹Nº›</a:t>
            </a:fld>
            <a:endParaRPr lang="es-AR"/>
          </a:p>
        </p:txBody>
      </p:sp>
    </p:spTree>
    <p:extLst>
      <p:ext uri="{BB962C8B-B14F-4D97-AF65-F5344CB8AC3E}">
        <p14:creationId xmlns:p14="http://schemas.microsoft.com/office/powerpoint/2010/main" val="1106757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57B4DB32-F6C1-40E7-BAE6-F83F85666DA1}" type="datetimeFigureOut">
              <a:rPr lang="es-AR" smtClean="0"/>
              <a:t>14/5/2021</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F2710681-01A5-42DB-B593-17DAA326274D}" type="slidenum">
              <a:rPr lang="es-AR" smtClean="0"/>
              <a:t>‹Nº›</a:t>
            </a:fld>
            <a:endParaRPr lang="es-AR"/>
          </a:p>
        </p:txBody>
      </p:sp>
    </p:spTree>
    <p:extLst>
      <p:ext uri="{BB962C8B-B14F-4D97-AF65-F5344CB8AC3E}">
        <p14:creationId xmlns:p14="http://schemas.microsoft.com/office/powerpoint/2010/main" val="3699916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57B4DB32-F6C1-40E7-BAE6-F83F85666DA1}" type="datetimeFigureOut">
              <a:rPr lang="es-AR" smtClean="0"/>
              <a:t>14/5/2021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F2710681-01A5-42DB-B593-17DAA326274D}" type="slidenum">
              <a:rPr lang="es-AR" smtClean="0"/>
              <a:t>‹Nº›</a:t>
            </a:fld>
            <a:endParaRPr lang="es-AR"/>
          </a:p>
        </p:txBody>
      </p:sp>
    </p:spTree>
    <p:extLst>
      <p:ext uri="{BB962C8B-B14F-4D97-AF65-F5344CB8AC3E}">
        <p14:creationId xmlns:p14="http://schemas.microsoft.com/office/powerpoint/2010/main" val="1051498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57B4DB32-F6C1-40E7-BAE6-F83F85666DA1}" type="datetimeFigureOut">
              <a:rPr lang="es-AR" smtClean="0"/>
              <a:t>14/5/2021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F2710681-01A5-42DB-B593-17DAA326274D}" type="slidenum">
              <a:rPr lang="es-AR" smtClean="0"/>
              <a:t>‹Nº›</a:t>
            </a:fld>
            <a:endParaRPr lang="es-AR"/>
          </a:p>
        </p:txBody>
      </p:sp>
    </p:spTree>
    <p:extLst>
      <p:ext uri="{BB962C8B-B14F-4D97-AF65-F5344CB8AC3E}">
        <p14:creationId xmlns:p14="http://schemas.microsoft.com/office/powerpoint/2010/main" val="217949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B4DB32-F6C1-40E7-BAE6-F83F85666DA1}" type="datetimeFigureOut">
              <a:rPr lang="es-AR" smtClean="0"/>
              <a:t>14/5/2021</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710681-01A5-42DB-B593-17DAA326274D}" type="slidenum">
              <a:rPr lang="es-AR" smtClean="0"/>
              <a:t>‹Nº›</a:t>
            </a:fld>
            <a:endParaRPr lang="es-AR"/>
          </a:p>
        </p:txBody>
      </p:sp>
    </p:spTree>
    <p:extLst>
      <p:ext uri="{BB962C8B-B14F-4D97-AF65-F5344CB8AC3E}">
        <p14:creationId xmlns:p14="http://schemas.microsoft.com/office/powerpoint/2010/main" val="887340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b="1" dirty="0">
              <a:solidFill>
                <a:srgbClr val="FFC000"/>
              </a:solidFill>
              <a:latin typeface="Verdana" panose="020B0604030504040204" pitchFamily="34" charset="0"/>
              <a:ea typeface="Verdana" panose="020B0604030504040204" pitchFamily="34" charset="0"/>
            </a:endParaRPr>
          </a:p>
        </p:txBody>
      </p:sp>
      <p:sp>
        <p:nvSpPr>
          <p:cNvPr id="3" name="2 Subtítulo"/>
          <p:cNvSpPr>
            <a:spLocks noGrp="1"/>
          </p:cNvSpPr>
          <p:nvPr>
            <p:ph type="subTitle" idx="1"/>
          </p:nvPr>
        </p:nvSpPr>
        <p:spPr/>
        <p:txBody>
          <a:bodyPr/>
          <a:lstStyle/>
          <a:p>
            <a:endParaRPr lang="es-AR" dirty="0"/>
          </a:p>
        </p:txBody>
      </p:sp>
    </p:spTree>
    <p:extLst>
      <p:ext uri="{BB962C8B-B14F-4D97-AF65-F5344CB8AC3E}">
        <p14:creationId xmlns:p14="http://schemas.microsoft.com/office/powerpoint/2010/main" val="16855392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p:txBody>
          <a:bodyPr>
            <a:normAutofit fontScale="70000" lnSpcReduction="20000"/>
          </a:bodyPr>
          <a:lstStyle/>
          <a:p>
            <a:r>
              <a:rPr lang="es-ES" dirty="0"/>
              <a:t>Un </a:t>
            </a:r>
            <a:r>
              <a:rPr lang="es-ES" i="1" dirty="0"/>
              <a:t>método</a:t>
            </a:r>
            <a:r>
              <a:rPr lang="es-ES" dirty="0"/>
              <a:t> es un trozo de código que puede ser llamado o invocado por el programa principal o por otro método para realizar alguna tarea específica</a:t>
            </a:r>
            <a:r>
              <a:rPr lang="es-ES" dirty="0" smtClean="0"/>
              <a:t>.</a:t>
            </a:r>
          </a:p>
          <a:p>
            <a:r>
              <a:rPr lang="es-ES" dirty="0" smtClean="0"/>
              <a:t> </a:t>
            </a:r>
            <a:r>
              <a:rPr lang="es-ES" dirty="0"/>
              <a:t>El término </a:t>
            </a:r>
            <a:r>
              <a:rPr lang="es-ES" i="1" dirty="0"/>
              <a:t>método</a:t>
            </a:r>
            <a:r>
              <a:rPr lang="es-ES" dirty="0"/>
              <a:t> en Java es equivalente al de subprograma, rutina, subrutina, procedimiento o función en otros lenguajes de programación</a:t>
            </a:r>
            <a:r>
              <a:rPr lang="es-ES" dirty="0" smtClean="0"/>
              <a:t>.</a:t>
            </a:r>
          </a:p>
          <a:p>
            <a:r>
              <a:rPr lang="es-ES" dirty="0" smtClean="0"/>
              <a:t> </a:t>
            </a:r>
            <a:r>
              <a:rPr lang="es-ES" dirty="0"/>
              <a:t>El método es llamado por su nombre o identificador seguido por una secuencia de parámetros o argumentos (datos utilizados por el propio método para sus cálculos) entre paréntesis</a:t>
            </a:r>
            <a:r>
              <a:rPr lang="es-ES" dirty="0" smtClean="0"/>
              <a:t>.</a:t>
            </a:r>
          </a:p>
          <a:p>
            <a:r>
              <a:rPr lang="es-ES" dirty="0" smtClean="0"/>
              <a:t> </a:t>
            </a:r>
            <a:r>
              <a:rPr lang="es-ES" dirty="0"/>
              <a:t>Cuando el método finaliza sus operaciones, devuelve habitualmente un valor simple al programa que lo llama, que utiliza dicho valor de la forma que le convenga</a:t>
            </a:r>
            <a:r>
              <a:rPr lang="es-ES" dirty="0" smtClean="0"/>
              <a:t>.</a:t>
            </a:r>
          </a:p>
          <a:p>
            <a:r>
              <a:rPr lang="es-ES" dirty="0" smtClean="0"/>
              <a:t> </a:t>
            </a:r>
            <a:r>
              <a:rPr lang="es-ES" dirty="0"/>
              <a:t>El tipo de dato devuelto por la sentencia </a:t>
            </a:r>
            <a:r>
              <a:rPr lang="es-ES" dirty="0" err="1" smtClean="0"/>
              <a:t>return</a:t>
            </a:r>
            <a:r>
              <a:rPr lang="es-ES" dirty="0"/>
              <a:t> debe coincidir con el tipo de dato declarado en la cabecera del método.</a:t>
            </a:r>
            <a:endParaRPr lang="es-AR" dirty="0"/>
          </a:p>
        </p:txBody>
      </p:sp>
    </p:spTree>
    <p:extLst>
      <p:ext uri="{BB962C8B-B14F-4D97-AF65-F5344CB8AC3E}">
        <p14:creationId xmlns:p14="http://schemas.microsoft.com/office/powerpoint/2010/main" val="23784221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p:txBody>
          <a:bodyPr>
            <a:normAutofit fontScale="77500" lnSpcReduction="20000"/>
          </a:bodyPr>
          <a:lstStyle/>
          <a:p>
            <a:pPr marL="0" indent="0" algn="ctr">
              <a:buNone/>
            </a:pPr>
            <a:r>
              <a:rPr lang="es-ES" dirty="0">
                <a:solidFill>
                  <a:srgbClr val="FFC000"/>
                </a:solidFill>
              </a:rPr>
              <a:t>Sintaxis de declaración de un método</a:t>
            </a:r>
            <a:r>
              <a:rPr lang="es-ES" dirty="0" smtClean="0">
                <a:solidFill>
                  <a:srgbClr val="FFC000"/>
                </a:solidFill>
              </a:rPr>
              <a:t>:</a:t>
            </a:r>
          </a:p>
          <a:p>
            <a:pPr marL="0" indent="0" algn="ctr">
              <a:buNone/>
            </a:pPr>
            <a:endParaRPr lang="es-ES" dirty="0">
              <a:solidFill>
                <a:srgbClr val="FFC000"/>
              </a:solidFill>
            </a:endParaRPr>
          </a:p>
          <a:p>
            <a:pPr marL="0" indent="0">
              <a:buNone/>
            </a:pPr>
            <a:r>
              <a:rPr lang="es-ES" dirty="0"/>
              <a:t>[modificadores] </a:t>
            </a:r>
            <a:r>
              <a:rPr lang="es-ES" dirty="0" err="1"/>
              <a:t>TipoDeDato</a:t>
            </a:r>
            <a:r>
              <a:rPr lang="es-ES" dirty="0"/>
              <a:t> </a:t>
            </a:r>
            <a:r>
              <a:rPr lang="es-ES" dirty="0" err="1"/>
              <a:t>identificadorMetodo</a:t>
            </a:r>
            <a:r>
              <a:rPr lang="es-ES" dirty="0"/>
              <a:t> (</a:t>
            </a:r>
            <a:r>
              <a:rPr lang="es-ES" dirty="0" err="1"/>
              <a:t>parametros</a:t>
            </a:r>
            <a:r>
              <a:rPr lang="es-ES" dirty="0"/>
              <a:t> formales) </a:t>
            </a:r>
            <a:endParaRPr lang="es-ES" dirty="0" smtClean="0"/>
          </a:p>
          <a:p>
            <a:pPr marL="0" indent="0">
              <a:buNone/>
            </a:pPr>
            <a:r>
              <a:rPr lang="es-ES" dirty="0" smtClean="0"/>
              <a:t>{ </a:t>
            </a:r>
            <a:r>
              <a:rPr lang="es-ES" dirty="0"/>
              <a:t>declaraciones de variables </a:t>
            </a:r>
            <a:r>
              <a:rPr lang="es-ES" dirty="0" smtClean="0"/>
              <a:t>locales;</a:t>
            </a:r>
          </a:p>
          <a:p>
            <a:pPr marL="0" indent="0">
              <a:buNone/>
            </a:pPr>
            <a:r>
              <a:rPr lang="es-ES" dirty="0" smtClean="0"/>
              <a:t>sentencia_1;</a:t>
            </a:r>
          </a:p>
          <a:p>
            <a:pPr marL="0" indent="0">
              <a:buNone/>
            </a:pPr>
            <a:r>
              <a:rPr lang="es-ES" dirty="0" smtClean="0"/>
              <a:t>sentencia_2;</a:t>
            </a:r>
          </a:p>
          <a:p>
            <a:pPr marL="0" indent="0">
              <a:buNone/>
            </a:pPr>
            <a:r>
              <a:rPr lang="es-ES" dirty="0" smtClean="0"/>
              <a:t>sentencia_3;</a:t>
            </a:r>
          </a:p>
          <a:p>
            <a:pPr marL="0" indent="0">
              <a:buNone/>
            </a:pPr>
            <a:r>
              <a:rPr lang="es-ES" dirty="0" smtClean="0"/>
              <a:t>sentencia_4;</a:t>
            </a:r>
          </a:p>
          <a:p>
            <a:pPr marL="0" indent="0">
              <a:buNone/>
            </a:pPr>
            <a:r>
              <a:rPr lang="es-ES" dirty="0" smtClean="0"/>
              <a:t>     …</a:t>
            </a:r>
          </a:p>
          <a:p>
            <a:pPr marL="0" indent="0">
              <a:buNone/>
            </a:pPr>
            <a:r>
              <a:rPr lang="es-ES" dirty="0" err="1" smtClean="0"/>
              <a:t>sentencia_n</a:t>
            </a:r>
            <a:r>
              <a:rPr lang="es-ES" dirty="0" smtClean="0"/>
              <a:t>;</a:t>
            </a:r>
          </a:p>
          <a:p>
            <a:pPr marL="0" indent="0">
              <a:buNone/>
            </a:pPr>
            <a:r>
              <a:rPr lang="es-ES" dirty="0"/>
              <a:t> </a:t>
            </a:r>
            <a:r>
              <a:rPr lang="es-ES" dirty="0" smtClean="0"/>
              <a:t>// </a:t>
            </a:r>
            <a:r>
              <a:rPr lang="es-ES" dirty="0"/>
              <a:t>dentro de estas sentencias se incluye al menos un </a:t>
            </a:r>
            <a:r>
              <a:rPr lang="es-ES" dirty="0" err="1"/>
              <a:t>return</a:t>
            </a:r>
            <a:r>
              <a:rPr lang="es-ES" dirty="0"/>
              <a:t> }</a:t>
            </a:r>
          </a:p>
          <a:p>
            <a:endParaRPr lang="es-AR" dirty="0"/>
          </a:p>
        </p:txBody>
      </p:sp>
    </p:spTree>
    <p:extLst>
      <p:ext uri="{BB962C8B-B14F-4D97-AF65-F5344CB8AC3E}">
        <p14:creationId xmlns:p14="http://schemas.microsoft.com/office/powerpoint/2010/main" val="33303945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a:xfrm>
            <a:off x="251520" y="1600200"/>
            <a:ext cx="8712968" cy="4997152"/>
          </a:xfrm>
        </p:spPr>
        <p:txBody>
          <a:bodyPr>
            <a:normAutofit fontScale="70000" lnSpcReduction="20000"/>
          </a:bodyPr>
          <a:lstStyle/>
          <a:p>
            <a:pPr marL="0" indent="0" algn="ctr">
              <a:buNone/>
            </a:pPr>
            <a:r>
              <a:rPr lang="es-ES" dirty="0" smtClean="0">
                <a:solidFill>
                  <a:srgbClr val="FFC000"/>
                </a:solidFill>
              </a:rPr>
              <a:t>EJEMPLO</a:t>
            </a:r>
          </a:p>
          <a:p>
            <a:pPr marL="0" indent="0" algn="ctr">
              <a:buNone/>
            </a:pPr>
            <a:endParaRPr lang="es-AR" dirty="0" smtClean="0">
              <a:solidFill>
                <a:srgbClr val="FFC000"/>
              </a:solidFill>
            </a:endParaRPr>
          </a:p>
          <a:p>
            <a:pPr marL="0" indent="0">
              <a:buNone/>
            </a:pPr>
            <a:r>
              <a:rPr lang="es-AR" sz="3400" dirty="0" smtClean="0"/>
              <a:t>/**</a:t>
            </a:r>
          </a:p>
          <a:p>
            <a:pPr marL="0" indent="0">
              <a:buNone/>
            </a:pPr>
            <a:r>
              <a:rPr lang="es-AR" sz="3400" dirty="0" smtClean="0"/>
              <a:t> </a:t>
            </a:r>
            <a:r>
              <a:rPr lang="es-AR" sz="3400" dirty="0"/>
              <a:t>* </a:t>
            </a:r>
            <a:r>
              <a:rPr lang="es-AR" sz="3400" dirty="0" err="1"/>
              <a:t>Demostracion</a:t>
            </a:r>
            <a:r>
              <a:rPr lang="es-AR" sz="3400" dirty="0"/>
              <a:t> del </a:t>
            </a:r>
            <a:r>
              <a:rPr lang="es-AR" sz="3400" dirty="0" err="1"/>
              <a:t>metodo</a:t>
            </a:r>
            <a:r>
              <a:rPr lang="es-AR" sz="3400" dirty="0"/>
              <a:t> </a:t>
            </a:r>
            <a:r>
              <a:rPr lang="es-AR" sz="3400" dirty="0" smtClean="0"/>
              <a:t>cubo</a:t>
            </a:r>
          </a:p>
          <a:p>
            <a:pPr marL="0" indent="0">
              <a:buNone/>
            </a:pPr>
            <a:r>
              <a:rPr lang="es-AR" sz="3400" dirty="0"/>
              <a:t> </a:t>
            </a:r>
            <a:r>
              <a:rPr lang="es-AR" sz="3400" dirty="0" smtClean="0"/>
              <a:t>*/ </a:t>
            </a:r>
          </a:p>
          <a:p>
            <a:pPr marL="0" indent="0">
              <a:buNone/>
            </a:pPr>
            <a:r>
              <a:rPr lang="es-AR" sz="3400" dirty="0" err="1" smtClean="0"/>
              <a:t>public</a:t>
            </a:r>
            <a:r>
              <a:rPr lang="es-AR" sz="3400" dirty="0" smtClean="0"/>
              <a:t> </a:t>
            </a:r>
            <a:r>
              <a:rPr lang="es-AR" sz="3400" dirty="0" err="1"/>
              <a:t>class</a:t>
            </a:r>
            <a:r>
              <a:rPr lang="es-AR" sz="3400" dirty="0" smtClean="0"/>
              <a:t> </a:t>
            </a:r>
            <a:r>
              <a:rPr lang="es-AR" sz="3400" dirty="0" err="1" smtClean="0"/>
              <a:t>PruebaCubo</a:t>
            </a:r>
            <a:r>
              <a:rPr lang="es-AR" sz="3400" dirty="0" smtClean="0"/>
              <a:t> {</a:t>
            </a:r>
          </a:p>
          <a:p>
            <a:pPr marL="0" indent="0">
              <a:buNone/>
            </a:pPr>
            <a:r>
              <a:rPr lang="es-AR" sz="3400" dirty="0" smtClean="0"/>
              <a:t>     </a:t>
            </a:r>
            <a:r>
              <a:rPr lang="es-AR" sz="3400" dirty="0" err="1" smtClean="0"/>
              <a:t>public</a:t>
            </a:r>
            <a:r>
              <a:rPr lang="es-AR" sz="3400" dirty="0" smtClean="0"/>
              <a:t> </a:t>
            </a:r>
            <a:r>
              <a:rPr lang="es-AR" sz="3400" dirty="0" err="1"/>
              <a:t>static</a:t>
            </a:r>
            <a:r>
              <a:rPr lang="es-AR" sz="3400" dirty="0" smtClean="0"/>
              <a:t> </a:t>
            </a:r>
            <a:r>
              <a:rPr lang="es-AR" sz="3400" dirty="0" err="1"/>
              <a:t>void</a:t>
            </a:r>
            <a:r>
              <a:rPr lang="es-AR" sz="3400" dirty="0" smtClean="0"/>
              <a:t> </a:t>
            </a:r>
            <a:r>
              <a:rPr lang="es-AR" sz="3400" dirty="0" err="1" smtClean="0"/>
              <a:t>main</a:t>
            </a:r>
            <a:r>
              <a:rPr lang="es-AR" sz="3400" dirty="0" smtClean="0"/>
              <a:t> (</a:t>
            </a:r>
            <a:r>
              <a:rPr lang="es-AR" sz="3400" dirty="0" err="1"/>
              <a:t>String</a:t>
            </a:r>
            <a:r>
              <a:rPr lang="es-AR" sz="3400" dirty="0" smtClean="0"/>
              <a:t> [] </a:t>
            </a:r>
            <a:r>
              <a:rPr lang="es-AR" sz="3400" dirty="0" err="1" smtClean="0"/>
              <a:t>args</a:t>
            </a:r>
            <a:r>
              <a:rPr lang="es-AR" sz="3400" dirty="0" smtClean="0"/>
              <a:t>){</a:t>
            </a:r>
          </a:p>
          <a:p>
            <a:pPr marL="0" indent="0">
              <a:buNone/>
            </a:pPr>
            <a:r>
              <a:rPr lang="es-AR" sz="3400" dirty="0" smtClean="0"/>
              <a:t>          </a:t>
            </a:r>
            <a:r>
              <a:rPr lang="es-AR" sz="3400" dirty="0" err="1" smtClean="0"/>
              <a:t>System.out.println</a:t>
            </a:r>
            <a:r>
              <a:rPr lang="es-AR" sz="3400" dirty="0" smtClean="0"/>
              <a:t>(</a:t>
            </a:r>
            <a:r>
              <a:rPr lang="es-AR" sz="3400" dirty="0"/>
              <a:t>"El cubo de 7.5 es: "</a:t>
            </a:r>
            <a:r>
              <a:rPr lang="es-AR" sz="3400" dirty="0" smtClean="0"/>
              <a:t> </a:t>
            </a:r>
            <a:r>
              <a:rPr lang="es-AR" sz="3400" dirty="0"/>
              <a:t>+</a:t>
            </a:r>
            <a:r>
              <a:rPr lang="es-AR" sz="3400" dirty="0" smtClean="0"/>
              <a:t> cubo(7.5))</a:t>
            </a:r>
            <a:r>
              <a:rPr lang="es-AR" sz="3400" dirty="0"/>
              <a:t>;</a:t>
            </a:r>
            <a:r>
              <a:rPr lang="es-AR" sz="3400" dirty="0" smtClean="0"/>
              <a:t> </a:t>
            </a:r>
            <a:r>
              <a:rPr lang="es-AR" sz="3400" dirty="0"/>
              <a:t>// </a:t>
            </a:r>
            <a:r>
              <a:rPr lang="es-AR" sz="3400" dirty="0" smtClean="0"/>
              <a:t>llamada</a:t>
            </a:r>
          </a:p>
          <a:p>
            <a:pPr marL="0" indent="0">
              <a:buNone/>
            </a:pPr>
            <a:r>
              <a:rPr lang="es-AR" sz="3400" dirty="0"/>
              <a:t> </a:t>
            </a:r>
            <a:r>
              <a:rPr lang="es-AR" sz="3400" dirty="0" smtClean="0"/>
              <a:t>      }   </a:t>
            </a:r>
            <a:r>
              <a:rPr lang="es-AR" sz="3400" dirty="0" err="1"/>
              <a:t>public</a:t>
            </a:r>
            <a:r>
              <a:rPr lang="es-AR" sz="3400" dirty="0" smtClean="0"/>
              <a:t> </a:t>
            </a:r>
            <a:r>
              <a:rPr lang="es-AR" sz="3400" dirty="0" err="1"/>
              <a:t>static</a:t>
            </a:r>
            <a:r>
              <a:rPr lang="es-AR" sz="3400" dirty="0" smtClean="0"/>
              <a:t> </a:t>
            </a:r>
            <a:r>
              <a:rPr lang="es-AR" sz="3400" dirty="0" err="1"/>
              <a:t>double</a:t>
            </a:r>
            <a:r>
              <a:rPr lang="es-AR" sz="3400" dirty="0" smtClean="0"/>
              <a:t> cubo (</a:t>
            </a:r>
            <a:r>
              <a:rPr lang="es-AR" sz="3400" dirty="0" err="1"/>
              <a:t>double</a:t>
            </a:r>
            <a:r>
              <a:rPr lang="es-AR" sz="3400" dirty="0" smtClean="0"/>
              <a:t> x) {</a:t>
            </a:r>
          </a:p>
          <a:p>
            <a:pPr marL="0" indent="0">
              <a:buNone/>
            </a:pPr>
            <a:r>
              <a:rPr lang="es-AR" sz="3400" dirty="0"/>
              <a:t> </a:t>
            </a:r>
            <a:r>
              <a:rPr lang="es-AR" sz="3400" dirty="0" smtClean="0"/>
              <a:t>                   </a:t>
            </a:r>
            <a:r>
              <a:rPr lang="es-AR" sz="3400" dirty="0"/>
              <a:t>// </a:t>
            </a:r>
            <a:r>
              <a:rPr lang="es-AR" sz="3400" dirty="0" err="1" smtClean="0"/>
              <a:t>declaracion</a:t>
            </a:r>
            <a:endParaRPr lang="es-AR" sz="3400" dirty="0" smtClean="0"/>
          </a:p>
          <a:p>
            <a:pPr marL="0" indent="0">
              <a:buNone/>
            </a:pPr>
            <a:r>
              <a:rPr lang="es-AR" sz="3400" dirty="0"/>
              <a:t> </a:t>
            </a:r>
            <a:r>
              <a:rPr lang="es-AR" sz="3400" dirty="0" smtClean="0"/>
              <a:t>                  </a:t>
            </a:r>
            <a:r>
              <a:rPr lang="es-AR" sz="3400" dirty="0" err="1"/>
              <a:t>return</a:t>
            </a:r>
            <a:r>
              <a:rPr lang="es-AR" sz="3400" dirty="0" smtClean="0"/>
              <a:t> x</a:t>
            </a:r>
            <a:r>
              <a:rPr lang="es-AR" sz="3400" dirty="0"/>
              <a:t>*</a:t>
            </a:r>
            <a:r>
              <a:rPr lang="es-AR" sz="3400" dirty="0" smtClean="0"/>
              <a:t>x</a:t>
            </a:r>
            <a:r>
              <a:rPr lang="es-AR" sz="3400" dirty="0"/>
              <a:t>*</a:t>
            </a:r>
            <a:r>
              <a:rPr lang="es-AR" sz="3400" dirty="0" smtClean="0"/>
              <a:t>x</a:t>
            </a:r>
            <a:r>
              <a:rPr lang="es-AR" sz="3400" dirty="0"/>
              <a:t>;</a:t>
            </a:r>
            <a:r>
              <a:rPr lang="es-AR" sz="3400" dirty="0" smtClean="0"/>
              <a:t> </a:t>
            </a:r>
          </a:p>
          <a:p>
            <a:pPr marL="0" indent="0">
              <a:buNone/>
            </a:pPr>
            <a:r>
              <a:rPr lang="es-AR" sz="3400" dirty="0"/>
              <a:t> </a:t>
            </a:r>
            <a:r>
              <a:rPr lang="es-AR" sz="3400" dirty="0" smtClean="0"/>
              <a:t>           }</a:t>
            </a:r>
          </a:p>
          <a:p>
            <a:pPr marL="0" indent="0">
              <a:buNone/>
            </a:pPr>
            <a:r>
              <a:rPr lang="es-AR" sz="3400" dirty="0" smtClean="0"/>
              <a:t> }</a:t>
            </a:r>
            <a:endParaRPr lang="es-AR" sz="3400" dirty="0"/>
          </a:p>
        </p:txBody>
      </p:sp>
    </p:spTree>
    <p:extLst>
      <p:ext uri="{BB962C8B-B14F-4D97-AF65-F5344CB8AC3E}">
        <p14:creationId xmlns:p14="http://schemas.microsoft.com/office/powerpoint/2010/main" val="20102385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p:txBody>
          <a:bodyPr>
            <a:normAutofit fontScale="85000" lnSpcReduction="20000"/>
          </a:bodyPr>
          <a:lstStyle/>
          <a:p>
            <a:r>
              <a:rPr lang="es-ES" dirty="0" smtClean="0"/>
              <a:t>La </a:t>
            </a:r>
            <a:r>
              <a:rPr lang="es-ES" dirty="0"/>
              <a:t>declaración del método puede realizarse en el código fuente después de la llamada al propio método</a:t>
            </a:r>
            <a:r>
              <a:rPr lang="es-ES" dirty="0" smtClean="0"/>
              <a:t>.</a:t>
            </a:r>
          </a:p>
          <a:p>
            <a:r>
              <a:rPr lang="es-ES" dirty="0" smtClean="0"/>
              <a:t>En </a:t>
            </a:r>
            <a:r>
              <a:rPr lang="es-ES" dirty="0"/>
              <a:t>el caso anterior, </a:t>
            </a:r>
            <a:r>
              <a:rPr lang="es-ES" dirty="0" err="1" smtClean="0"/>
              <a:t>public</a:t>
            </a:r>
            <a:r>
              <a:rPr lang="es-ES" dirty="0"/>
              <a:t> y </a:t>
            </a:r>
            <a:r>
              <a:rPr lang="es-ES" dirty="0" err="1" smtClean="0"/>
              <a:t>static</a:t>
            </a:r>
            <a:r>
              <a:rPr lang="es-ES" dirty="0"/>
              <a:t> son los modificadores especificados en la cabecera del método</a:t>
            </a:r>
            <a:r>
              <a:rPr lang="es-ES" dirty="0" smtClean="0"/>
              <a:t>.</a:t>
            </a:r>
          </a:p>
          <a:p>
            <a:r>
              <a:rPr lang="es-ES" dirty="0" smtClean="0"/>
              <a:t>El </a:t>
            </a:r>
            <a:r>
              <a:rPr lang="es-ES" dirty="0"/>
              <a:t>uso de estos dos modificadores permite que el tipo de método sea similar al de una función global de Pascal o C</a:t>
            </a:r>
            <a:r>
              <a:rPr lang="es-ES" dirty="0" smtClean="0"/>
              <a:t>.</a:t>
            </a:r>
          </a:p>
          <a:p>
            <a:r>
              <a:rPr lang="es-ES" dirty="0" smtClean="0"/>
              <a:t> </a:t>
            </a:r>
            <a:r>
              <a:rPr lang="es-ES" dirty="0"/>
              <a:t>El identificador </a:t>
            </a:r>
            <a:r>
              <a:rPr lang="es-ES" dirty="0" err="1" smtClean="0"/>
              <a:t>double</a:t>
            </a:r>
            <a:r>
              <a:rPr lang="es-ES" dirty="0"/>
              <a:t> hace referencia al tipo de dato que devuelve la llamada al </a:t>
            </a:r>
            <a:r>
              <a:rPr lang="es-ES" dirty="0" smtClean="0"/>
              <a:t>método</a:t>
            </a:r>
          </a:p>
          <a:p>
            <a:r>
              <a:rPr lang="es-ES" dirty="0" smtClean="0"/>
              <a:t>Cubo</a:t>
            </a:r>
            <a:r>
              <a:rPr lang="es-ES" dirty="0"/>
              <a:t> es el identificador del método </a:t>
            </a:r>
            <a:endParaRPr lang="es-ES" dirty="0" smtClean="0"/>
          </a:p>
          <a:p>
            <a:r>
              <a:rPr lang="es-ES" b="1" dirty="0" smtClean="0"/>
              <a:t>x</a:t>
            </a:r>
            <a:r>
              <a:rPr lang="es-ES" dirty="0"/>
              <a:t> es el identificador del parámetro en la declaración de la cabecera del método (parámetro </a:t>
            </a:r>
            <a:r>
              <a:rPr lang="es-ES" i="1" dirty="0"/>
              <a:t>formal</a:t>
            </a:r>
            <a:r>
              <a:rPr lang="es-ES" dirty="0" smtClean="0"/>
              <a:t>).</a:t>
            </a:r>
            <a:endParaRPr lang="es-AR" dirty="0"/>
          </a:p>
        </p:txBody>
      </p:sp>
    </p:spTree>
    <p:extLst>
      <p:ext uri="{BB962C8B-B14F-4D97-AF65-F5344CB8AC3E}">
        <p14:creationId xmlns:p14="http://schemas.microsoft.com/office/powerpoint/2010/main" val="137995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a:xfrm>
            <a:off x="107504" y="1600200"/>
            <a:ext cx="8856984" cy="4925144"/>
          </a:xfrm>
        </p:spPr>
        <p:txBody>
          <a:bodyPr>
            <a:normAutofit fontScale="77500" lnSpcReduction="20000"/>
          </a:bodyPr>
          <a:lstStyle/>
          <a:p>
            <a:r>
              <a:rPr lang="es-ES" dirty="0"/>
              <a:t>En Java, los métodos suelen ir asociados con los objetos o instancias en particular a los que operan (métodos </a:t>
            </a:r>
            <a:r>
              <a:rPr lang="es-ES" i="1" dirty="0"/>
              <a:t>de instancia</a:t>
            </a:r>
            <a:r>
              <a:rPr lang="es-ES" dirty="0"/>
              <a:t>). </a:t>
            </a:r>
            <a:endParaRPr lang="es-ES" dirty="0" smtClean="0"/>
          </a:p>
          <a:p>
            <a:r>
              <a:rPr lang="es-ES" dirty="0" smtClean="0"/>
              <a:t>Los </a:t>
            </a:r>
            <a:r>
              <a:rPr lang="es-ES" dirty="0"/>
              <a:t>métodos que no necesitan o trabajan con objetos (y sí con números, por ejemplo) se denominan métodos </a:t>
            </a:r>
            <a:r>
              <a:rPr lang="es-ES" i="1" dirty="0"/>
              <a:t>estáticos</a:t>
            </a:r>
            <a:r>
              <a:rPr lang="es-ES" dirty="0"/>
              <a:t> o </a:t>
            </a:r>
            <a:r>
              <a:rPr lang="es-ES" i="1" dirty="0"/>
              <a:t>de clase</a:t>
            </a:r>
            <a:r>
              <a:rPr lang="es-ES" dirty="0"/>
              <a:t> y se declaran con el modificador </a:t>
            </a:r>
            <a:r>
              <a:rPr lang="es-ES" dirty="0" err="1" smtClean="0"/>
              <a:t>static</a:t>
            </a:r>
            <a:r>
              <a:rPr lang="es-ES" dirty="0"/>
              <a:t>. </a:t>
            </a:r>
            <a:endParaRPr lang="es-ES" dirty="0" smtClean="0"/>
          </a:p>
          <a:p>
            <a:r>
              <a:rPr lang="es-ES" dirty="0" smtClean="0"/>
              <a:t>Los </a:t>
            </a:r>
            <a:r>
              <a:rPr lang="es-ES" dirty="0"/>
              <a:t>métodos estáticos o de clase son equivalentes a las rutinas (funciones o procedimientos) de los lenguajes que no emplean la programación orientada a objetos</a:t>
            </a:r>
            <a:r>
              <a:rPr lang="es-ES" dirty="0" smtClean="0"/>
              <a:t>.</a:t>
            </a:r>
          </a:p>
          <a:p>
            <a:r>
              <a:rPr lang="es-ES" dirty="0" smtClean="0"/>
              <a:t>Por </a:t>
            </a:r>
            <a:r>
              <a:rPr lang="es-ES" dirty="0"/>
              <a:t>ejemplo, el método </a:t>
            </a:r>
            <a:r>
              <a:rPr lang="es-ES" dirty="0" err="1" smtClean="0"/>
              <a:t>sqrt</a:t>
            </a:r>
            <a:r>
              <a:rPr lang="es-ES" dirty="0"/>
              <a:t> de la clase </a:t>
            </a:r>
            <a:r>
              <a:rPr lang="es-ES" dirty="0" err="1" smtClean="0"/>
              <a:t>Math</a:t>
            </a:r>
            <a:r>
              <a:rPr lang="es-ES" dirty="0"/>
              <a:t> es un método estático. </a:t>
            </a:r>
            <a:endParaRPr lang="es-ES" dirty="0" smtClean="0"/>
          </a:p>
          <a:p>
            <a:r>
              <a:rPr lang="es-ES" dirty="0" smtClean="0"/>
              <a:t>También </a:t>
            </a:r>
            <a:r>
              <a:rPr lang="es-ES" dirty="0"/>
              <a:t>lo es el método </a:t>
            </a:r>
            <a:r>
              <a:rPr lang="es-ES" dirty="0" smtClean="0"/>
              <a:t>cubo</a:t>
            </a:r>
            <a:r>
              <a:rPr lang="es-ES" dirty="0"/>
              <a:t> del ejemplo anterior</a:t>
            </a:r>
            <a:r>
              <a:rPr lang="es-ES" dirty="0" smtClean="0"/>
              <a:t>.</a:t>
            </a:r>
          </a:p>
          <a:p>
            <a:r>
              <a:rPr lang="es-ES" dirty="0" smtClean="0"/>
              <a:t>Todo </a:t>
            </a:r>
            <a:r>
              <a:rPr lang="es-ES" dirty="0"/>
              <a:t>programa o aplicación Java tiene un método principal </a:t>
            </a:r>
            <a:r>
              <a:rPr lang="es-ES" dirty="0" err="1" smtClean="0"/>
              <a:t>main</a:t>
            </a:r>
            <a:r>
              <a:rPr lang="es-ES" dirty="0"/>
              <a:t> que será siempre un método </a:t>
            </a:r>
            <a:r>
              <a:rPr lang="es-ES" i="1" dirty="0"/>
              <a:t>estático</a:t>
            </a:r>
            <a:r>
              <a:rPr lang="es-ES" dirty="0"/>
              <a:t>.</a:t>
            </a:r>
            <a:endParaRPr lang="es-AR" dirty="0"/>
          </a:p>
        </p:txBody>
      </p:sp>
    </p:spTree>
    <p:extLst>
      <p:ext uri="{BB962C8B-B14F-4D97-AF65-F5344CB8AC3E}">
        <p14:creationId xmlns:p14="http://schemas.microsoft.com/office/powerpoint/2010/main" val="3393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p:txBody>
          <a:bodyPr>
            <a:normAutofit lnSpcReduction="10000"/>
          </a:bodyPr>
          <a:lstStyle/>
          <a:p>
            <a:pPr marL="0" indent="0">
              <a:buNone/>
            </a:pPr>
            <a:r>
              <a:rPr lang="es-ES" dirty="0"/>
              <a:t>En algunas ocasiones, no es necesario que el método estático tenga que devolver un valor al finalizar su ejecución. En este caso, el tipo de dato que debe indicar en la cabecera de declaración del método es el tipo </a:t>
            </a:r>
            <a:r>
              <a:rPr lang="es-ES" dirty="0" err="1"/>
              <a:t>void</a:t>
            </a:r>
            <a:r>
              <a:rPr lang="es-ES" dirty="0"/>
              <a:t> y la sentencia </a:t>
            </a:r>
            <a:r>
              <a:rPr lang="es-ES" dirty="0" err="1"/>
              <a:t>return</a:t>
            </a:r>
            <a:r>
              <a:rPr lang="es-ES" dirty="0"/>
              <a:t> no viene seguida de ninguna expresión.</a:t>
            </a:r>
          </a:p>
          <a:p>
            <a:pPr marL="0" indent="0">
              <a:buNone/>
            </a:pPr>
            <a:r>
              <a:rPr lang="es-ES" dirty="0" smtClean="0"/>
              <a:t>	Sintaxis</a:t>
            </a:r>
            <a:r>
              <a:rPr lang="es-ES" dirty="0"/>
              <a:t>:</a:t>
            </a:r>
          </a:p>
          <a:p>
            <a:pPr marL="0" indent="0">
              <a:buNone/>
            </a:pPr>
            <a:r>
              <a:rPr lang="es-ES" dirty="0" smtClean="0"/>
              <a:t>		</a:t>
            </a:r>
            <a:r>
              <a:rPr lang="es-ES" dirty="0" err="1" smtClean="0"/>
              <a:t>return</a:t>
            </a:r>
            <a:r>
              <a:rPr lang="es-ES" dirty="0"/>
              <a:t>;</a:t>
            </a:r>
          </a:p>
          <a:p>
            <a:endParaRPr lang="es-AR" dirty="0"/>
          </a:p>
        </p:txBody>
      </p:sp>
    </p:spTree>
    <p:extLst>
      <p:ext uri="{BB962C8B-B14F-4D97-AF65-F5344CB8AC3E}">
        <p14:creationId xmlns:p14="http://schemas.microsoft.com/office/powerpoint/2010/main" val="3744428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116632"/>
            <a:ext cx="8229600" cy="1008112"/>
          </a:xfrm>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a:xfrm>
            <a:off x="457200" y="1052736"/>
            <a:ext cx="8229600" cy="5688632"/>
          </a:xfrm>
        </p:spPr>
        <p:txBody>
          <a:bodyPr>
            <a:noAutofit/>
          </a:bodyPr>
          <a:lstStyle/>
          <a:p>
            <a:pPr marL="0" indent="0">
              <a:buNone/>
            </a:pPr>
            <a:r>
              <a:rPr lang="es-AR" sz="1800" dirty="0" smtClean="0"/>
              <a:t>/*  </a:t>
            </a:r>
            <a:r>
              <a:rPr lang="es-AR" sz="1800" dirty="0" err="1"/>
              <a:t>Demostracion</a:t>
            </a:r>
            <a:r>
              <a:rPr lang="es-AR" sz="1800" dirty="0"/>
              <a:t> del </a:t>
            </a:r>
            <a:r>
              <a:rPr lang="es-AR" sz="1800" dirty="0" err="1"/>
              <a:t>metodo</a:t>
            </a:r>
            <a:r>
              <a:rPr lang="es-AR" sz="1800" dirty="0"/>
              <a:t> </a:t>
            </a:r>
            <a:r>
              <a:rPr lang="es-AR" sz="1800" dirty="0" smtClean="0"/>
              <a:t>tabla  */ </a:t>
            </a:r>
          </a:p>
          <a:p>
            <a:pPr marL="0" indent="0">
              <a:buNone/>
            </a:pPr>
            <a:r>
              <a:rPr lang="es-AR" sz="1800" dirty="0" err="1" smtClean="0"/>
              <a:t>public</a:t>
            </a:r>
            <a:r>
              <a:rPr lang="es-AR" sz="1800" dirty="0" smtClean="0"/>
              <a:t> </a:t>
            </a:r>
            <a:r>
              <a:rPr lang="es-AR" sz="1800" dirty="0" err="1"/>
              <a:t>class</a:t>
            </a:r>
            <a:r>
              <a:rPr lang="es-AR" sz="1800" dirty="0" smtClean="0"/>
              <a:t> </a:t>
            </a:r>
            <a:r>
              <a:rPr lang="es-AR" sz="1800" dirty="0" err="1" smtClean="0"/>
              <a:t>PruebaTabla</a:t>
            </a:r>
            <a:r>
              <a:rPr lang="es-AR" sz="1800" dirty="0" smtClean="0"/>
              <a:t> { </a:t>
            </a:r>
          </a:p>
          <a:p>
            <a:pPr marL="0" indent="0">
              <a:buNone/>
            </a:pPr>
            <a:r>
              <a:rPr lang="es-AR" sz="1800" dirty="0"/>
              <a:t>	</a:t>
            </a:r>
            <a:r>
              <a:rPr lang="es-AR" sz="1800" dirty="0" err="1" smtClean="0"/>
              <a:t>public</a:t>
            </a:r>
            <a:r>
              <a:rPr lang="es-AR" sz="1800" dirty="0" smtClean="0"/>
              <a:t> </a:t>
            </a:r>
            <a:r>
              <a:rPr lang="es-AR" sz="1800" dirty="0" err="1"/>
              <a:t>static</a:t>
            </a:r>
            <a:r>
              <a:rPr lang="es-AR" sz="1800" dirty="0" smtClean="0"/>
              <a:t> </a:t>
            </a:r>
            <a:r>
              <a:rPr lang="es-AR" sz="1800" dirty="0" err="1"/>
              <a:t>void</a:t>
            </a:r>
            <a:r>
              <a:rPr lang="es-AR" sz="1800" dirty="0" smtClean="0"/>
              <a:t> </a:t>
            </a:r>
            <a:r>
              <a:rPr lang="es-AR" sz="1800" dirty="0" err="1" smtClean="0"/>
              <a:t>main</a:t>
            </a:r>
            <a:r>
              <a:rPr lang="es-AR" sz="1800" dirty="0" smtClean="0"/>
              <a:t> (</a:t>
            </a:r>
            <a:r>
              <a:rPr lang="es-AR" sz="1800" dirty="0" err="1"/>
              <a:t>String</a:t>
            </a:r>
            <a:r>
              <a:rPr lang="es-AR" sz="1800" dirty="0" smtClean="0"/>
              <a:t> [] </a:t>
            </a:r>
            <a:r>
              <a:rPr lang="es-AR" sz="1800" dirty="0" err="1" smtClean="0"/>
              <a:t>args</a:t>
            </a:r>
            <a:r>
              <a:rPr lang="es-AR" sz="1800" dirty="0" smtClean="0"/>
              <a:t>){</a:t>
            </a:r>
          </a:p>
          <a:p>
            <a:pPr marL="0" indent="0">
              <a:buNone/>
            </a:pPr>
            <a:r>
              <a:rPr lang="es-AR" sz="1800" dirty="0"/>
              <a:t>	</a:t>
            </a:r>
            <a:r>
              <a:rPr lang="es-AR" sz="1800" dirty="0" smtClean="0"/>
              <a:t>	tabla(4)</a:t>
            </a:r>
            <a:r>
              <a:rPr lang="es-AR" sz="1800" dirty="0"/>
              <a:t>;</a:t>
            </a:r>
            <a:r>
              <a:rPr lang="es-AR" sz="1800" dirty="0" smtClean="0"/>
              <a:t> </a:t>
            </a:r>
          </a:p>
          <a:p>
            <a:pPr marL="0" indent="0">
              <a:buNone/>
            </a:pPr>
            <a:r>
              <a:rPr lang="es-AR" sz="1800" dirty="0"/>
              <a:t>	</a:t>
            </a:r>
            <a:r>
              <a:rPr lang="es-AR" sz="1800" dirty="0" smtClean="0"/>
              <a:t>	tabla(7)</a:t>
            </a:r>
            <a:r>
              <a:rPr lang="es-AR" sz="1800" dirty="0"/>
              <a:t>;</a:t>
            </a:r>
            <a:r>
              <a:rPr lang="es-AR" sz="1800" dirty="0" smtClean="0"/>
              <a:t> </a:t>
            </a:r>
          </a:p>
          <a:p>
            <a:pPr marL="0" indent="0">
              <a:buNone/>
            </a:pPr>
            <a:r>
              <a:rPr lang="es-AR" sz="1800" dirty="0"/>
              <a:t>	</a:t>
            </a:r>
            <a:r>
              <a:rPr lang="es-AR" sz="1800" dirty="0" smtClean="0"/>
              <a:t>}</a:t>
            </a:r>
          </a:p>
          <a:p>
            <a:pPr marL="0" indent="0">
              <a:buNone/>
            </a:pPr>
            <a:r>
              <a:rPr lang="es-AR" sz="1800" dirty="0"/>
              <a:t>	</a:t>
            </a:r>
            <a:r>
              <a:rPr lang="es-AR" sz="1800" dirty="0" err="1" smtClean="0"/>
              <a:t>public</a:t>
            </a:r>
            <a:r>
              <a:rPr lang="es-AR" sz="1800" dirty="0" smtClean="0"/>
              <a:t> </a:t>
            </a:r>
            <a:r>
              <a:rPr lang="es-AR" sz="1800" dirty="0" err="1"/>
              <a:t>static</a:t>
            </a:r>
            <a:r>
              <a:rPr lang="es-AR" sz="1800" dirty="0" smtClean="0"/>
              <a:t> </a:t>
            </a:r>
            <a:r>
              <a:rPr lang="es-AR" sz="1800" dirty="0" err="1"/>
              <a:t>void</a:t>
            </a:r>
            <a:r>
              <a:rPr lang="es-AR" sz="1800" dirty="0" smtClean="0"/>
              <a:t> tabla (</a:t>
            </a:r>
            <a:r>
              <a:rPr lang="es-AR" sz="1800" dirty="0" err="1"/>
              <a:t>int</a:t>
            </a:r>
            <a:r>
              <a:rPr lang="es-AR" sz="1800" dirty="0" smtClean="0"/>
              <a:t> n) {</a:t>
            </a:r>
          </a:p>
          <a:p>
            <a:pPr marL="0" indent="0">
              <a:buNone/>
            </a:pPr>
            <a:r>
              <a:rPr lang="es-AR" sz="1800" dirty="0"/>
              <a:t>	</a:t>
            </a:r>
            <a:r>
              <a:rPr lang="es-AR" sz="1800" dirty="0" smtClean="0"/>
              <a:t>// </a:t>
            </a:r>
            <a:r>
              <a:rPr lang="es-AR" sz="1800" dirty="0"/>
              <a:t>ejemplo de llamada</a:t>
            </a:r>
            <a:r>
              <a:rPr lang="es-AR" sz="1800" dirty="0" smtClean="0"/>
              <a:t> de </a:t>
            </a:r>
            <a:r>
              <a:rPr lang="es-AR" sz="1800" dirty="0"/>
              <a:t>tipo </a:t>
            </a:r>
            <a:r>
              <a:rPr lang="es-AR" sz="1800" dirty="0" err="1" smtClean="0"/>
              <a:t>void</a:t>
            </a:r>
            <a:endParaRPr lang="es-AR" sz="1800" dirty="0" smtClean="0"/>
          </a:p>
          <a:p>
            <a:pPr marL="0" indent="0">
              <a:buNone/>
            </a:pPr>
            <a:r>
              <a:rPr lang="es-AR" sz="1800" dirty="0"/>
              <a:t>	 </a:t>
            </a:r>
            <a:r>
              <a:rPr lang="es-AR" sz="1800" dirty="0" smtClean="0"/>
              <a:t>      </a:t>
            </a:r>
            <a:r>
              <a:rPr lang="es-AR" sz="1800" dirty="0" err="1"/>
              <a:t>System</a:t>
            </a:r>
            <a:r>
              <a:rPr lang="es-AR" sz="1800" dirty="0" err="1" smtClean="0"/>
              <a:t>.out.println</a:t>
            </a:r>
            <a:r>
              <a:rPr lang="es-AR" sz="1800" dirty="0" smtClean="0"/>
              <a:t>(</a:t>
            </a:r>
            <a:r>
              <a:rPr lang="es-AR" sz="1800" dirty="0"/>
              <a:t>"Tabla de multiplicar del numero "</a:t>
            </a:r>
            <a:r>
              <a:rPr lang="es-AR" sz="1800" dirty="0" smtClean="0"/>
              <a:t> </a:t>
            </a:r>
            <a:r>
              <a:rPr lang="es-AR" sz="1800" dirty="0"/>
              <a:t>+</a:t>
            </a:r>
            <a:r>
              <a:rPr lang="es-AR" sz="1800" dirty="0" smtClean="0"/>
              <a:t> n);</a:t>
            </a:r>
          </a:p>
          <a:p>
            <a:pPr marL="0" indent="0">
              <a:buNone/>
            </a:pPr>
            <a:r>
              <a:rPr lang="es-AR" sz="1800" dirty="0"/>
              <a:t> </a:t>
            </a:r>
            <a:r>
              <a:rPr lang="es-AR" sz="1800" dirty="0" smtClean="0"/>
              <a:t>                      </a:t>
            </a:r>
            <a:r>
              <a:rPr lang="es-AR" sz="1800" dirty="0" err="1"/>
              <a:t>for</a:t>
            </a:r>
            <a:r>
              <a:rPr lang="es-AR" sz="1800" dirty="0" smtClean="0"/>
              <a:t> (</a:t>
            </a:r>
            <a:r>
              <a:rPr lang="es-AR" sz="1800" dirty="0" err="1"/>
              <a:t>int</a:t>
            </a:r>
            <a:r>
              <a:rPr lang="es-AR" sz="1800" dirty="0" smtClean="0"/>
              <a:t> i</a:t>
            </a:r>
            <a:r>
              <a:rPr lang="es-AR" sz="1800" dirty="0"/>
              <a:t>=</a:t>
            </a:r>
            <a:r>
              <a:rPr lang="es-AR" sz="1800" dirty="0" smtClean="0"/>
              <a:t>0</a:t>
            </a:r>
            <a:r>
              <a:rPr lang="es-AR" sz="1800" dirty="0"/>
              <a:t>;</a:t>
            </a:r>
            <a:r>
              <a:rPr lang="es-AR" sz="1800" dirty="0" smtClean="0"/>
              <a:t> i</a:t>
            </a:r>
            <a:r>
              <a:rPr lang="es-AR" sz="1800" dirty="0"/>
              <a:t>&lt;=</a:t>
            </a:r>
            <a:r>
              <a:rPr lang="es-AR" sz="1800" dirty="0" smtClean="0"/>
              <a:t>10</a:t>
            </a:r>
            <a:r>
              <a:rPr lang="es-AR" sz="1800" dirty="0"/>
              <a:t>;</a:t>
            </a:r>
            <a:r>
              <a:rPr lang="es-AR" sz="1800" dirty="0" smtClean="0"/>
              <a:t> i++)</a:t>
            </a:r>
          </a:p>
          <a:p>
            <a:pPr marL="0" indent="0">
              <a:buNone/>
            </a:pPr>
            <a:r>
              <a:rPr lang="es-AR" sz="1800" dirty="0" smtClean="0"/>
              <a:t>                              </a:t>
            </a:r>
            <a:r>
              <a:rPr lang="es-AR" sz="1800" dirty="0" err="1"/>
              <a:t>System</a:t>
            </a:r>
            <a:r>
              <a:rPr lang="es-AR" sz="1800" dirty="0" err="1" smtClean="0"/>
              <a:t>.out.println</a:t>
            </a:r>
            <a:r>
              <a:rPr lang="es-AR" sz="1800" dirty="0" smtClean="0"/>
              <a:t>(n </a:t>
            </a:r>
            <a:r>
              <a:rPr lang="es-AR" sz="1800" dirty="0"/>
              <a:t>+</a:t>
            </a:r>
            <a:r>
              <a:rPr lang="es-AR" sz="1800" dirty="0" smtClean="0"/>
              <a:t> </a:t>
            </a:r>
            <a:r>
              <a:rPr lang="es-AR" sz="1800" dirty="0"/>
              <a:t>" x "</a:t>
            </a:r>
            <a:r>
              <a:rPr lang="es-AR" sz="1800" dirty="0" smtClean="0"/>
              <a:t> </a:t>
            </a:r>
            <a:r>
              <a:rPr lang="es-AR" sz="1800" dirty="0"/>
              <a:t>+</a:t>
            </a:r>
            <a:r>
              <a:rPr lang="es-AR" sz="1800" dirty="0" smtClean="0"/>
              <a:t> i </a:t>
            </a:r>
            <a:r>
              <a:rPr lang="es-AR" sz="1800" dirty="0"/>
              <a:t>+</a:t>
            </a:r>
            <a:r>
              <a:rPr lang="es-AR" sz="1800" dirty="0" smtClean="0"/>
              <a:t> </a:t>
            </a:r>
            <a:r>
              <a:rPr lang="es-AR" sz="1800" dirty="0"/>
              <a:t>" = "</a:t>
            </a:r>
            <a:r>
              <a:rPr lang="es-AR" sz="1800" dirty="0" smtClean="0"/>
              <a:t> </a:t>
            </a:r>
            <a:r>
              <a:rPr lang="es-AR" sz="1800" dirty="0"/>
              <a:t>+</a:t>
            </a:r>
            <a:r>
              <a:rPr lang="es-AR" sz="1800" dirty="0" smtClean="0"/>
              <a:t> producto(</a:t>
            </a:r>
            <a:r>
              <a:rPr lang="es-AR" sz="1800" dirty="0" err="1" smtClean="0"/>
              <a:t>n,i</a:t>
            </a:r>
            <a:r>
              <a:rPr lang="es-AR" sz="1800" dirty="0" smtClean="0"/>
              <a:t>))</a:t>
            </a:r>
            <a:r>
              <a:rPr lang="es-AR" sz="1800" dirty="0"/>
              <a:t>;</a:t>
            </a:r>
            <a:r>
              <a:rPr lang="es-AR" sz="1800" dirty="0" smtClean="0"/>
              <a:t> </a:t>
            </a:r>
          </a:p>
          <a:p>
            <a:pPr marL="0" indent="0">
              <a:buNone/>
            </a:pPr>
            <a:r>
              <a:rPr lang="es-AR" sz="1800" dirty="0"/>
              <a:t> </a:t>
            </a:r>
            <a:r>
              <a:rPr lang="es-AR" sz="1800" dirty="0" smtClean="0"/>
              <a:t>                     </a:t>
            </a:r>
            <a:r>
              <a:rPr lang="es-AR" sz="1800" dirty="0" err="1"/>
              <a:t>return</a:t>
            </a:r>
            <a:r>
              <a:rPr lang="es-AR" sz="1800" dirty="0"/>
              <a:t>;</a:t>
            </a:r>
            <a:r>
              <a:rPr lang="es-AR" sz="1800" dirty="0" smtClean="0"/>
              <a:t> </a:t>
            </a:r>
            <a:r>
              <a:rPr lang="es-AR" sz="1800" dirty="0"/>
              <a:t>// No devuelve </a:t>
            </a:r>
            <a:r>
              <a:rPr lang="es-AR" sz="1800" dirty="0" err="1"/>
              <a:t>ningun</a:t>
            </a:r>
            <a:r>
              <a:rPr lang="es-AR" sz="1800" dirty="0"/>
              <a:t> valor</a:t>
            </a:r>
            <a:r>
              <a:rPr lang="es-AR" sz="1800" dirty="0" smtClean="0"/>
              <a:t> </a:t>
            </a:r>
          </a:p>
          <a:p>
            <a:pPr marL="0" indent="0">
              <a:buNone/>
            </a:pPr>
            <a:r>
              <a:rPr lang="es-AR" sz="1800" dirty="0"/>
              <a:t>	</a:t>
            </a:r>
            <a:r>
              <a:rPr lang="es-AR" sz="1800" dirty="0" smtClean="0"/>
              <a:t>}</a:t>
            </a:r>
          </a:p>
          <a:p>
            <a:pPr marL="0" indent="0">
              <a:buNone/>
            </a:pPr>
            <a:r>
              <a:rPr lang="es-AR" sz="1800" dirty="0" smtClean="0"/>
              <a:t>	</a:t>
            </a:r>
            <a:r>
              <a:rPr lang="es-AR" sz="1800" dirty="0" err="1" smtClean="0"/>
              <a:t>public</a:t>
            </a:r>
            <a:r>
              <a:rPr lang="es-AR" sz="1800" dirty="0" smtClean="0"/>
              <a:t> </a:t>
            </a:r>
            <a:r>
              <a:rPr lang="es-AR" sz="1800" dirty="0" err="1"/>
              <a:t>static</a:t>
            </a:r>
            <a:r>
              <a:rPr lang="es-AR" sz="1800" dirty="0" smtClean="0"/>
              <a:t> </a:t>
            </a:r>
            <a:r>
              <a:rPr lang="es-AR" sz="1800" dirty="0" err="1"/>
              <a:t>int</a:t>
            </a:r>
            <a:r>
              <a:rPr lang="es-AR" sz="1800" dirty="0" smtClean="0"/>
              <a:t> producto (</a:t>
            </a:r>
            <a:r>
              <a:rPr lang="es-AR" sz="1800" dirty="0" err="1"/>
              <a:t>int</a:t>
            </a:r>
            <a:r>
              <a:rPr lang="es-AR" sz="1800" dirty="0" smtClean="0"/>
              <a:t> a, </a:t>
            </a:r>
            <a:r>
              <a:rPr lang="es-AR" sz="1800" dirty="0" err="1"/>
              <a:t>int</a:t>
            </a:r>
            <a:r>
              <a:rPr lang="es-AR" sz="1800" dirty="0" smtClean="0"/>
              <a:t> b) {</a:t>
            </a:r>
          </a:p>
          <a:p>
            <a:pPr marL="0" indent="0">
              <a:buNone/>
            </a:pPr>
            <a:r>
              <a:rPr lang="es-AR" sz="1800" dirty="0"/>
              <a:t>	</a:t>
            </a:r>
            <a:r>
              <a:rPr lang="es-AR" sz="1800" dirty="0" smtClean="0"/>
              <a:t> 	</a:t>
            </a:r>
            <a:r>
              <a:rPr lang="es-AR" sz="1800" dirty="0" err="1" smtClean="0"/>
              <a:t>return</a:t>
            </a:r>
            <a:r>
              <a:rPr lang="es-AR" sz="1800" dirty="0" smtClean="0"/>
              <a:t> a</a:t>
            </a:r>
            <a:r>
              <a:rPr lang="es-AR" sz="1800" dirty="0"/>
              <a:t>*</a:t>
            </a:r>
            <a:r>
              <a:rPr lang="es-AR" sz="1800" dirty="0" smtClean="0"/>
              <a:t>b;</a:t>
            </a:r>
          </a:p>
          <a:p>
            <a:pPr marL="0" indent="0">
              <a:buNone/>
            </a:pPr>
            <a:r>
              <a:rPr lang="es-AR" sz="1800" dirty="0" smtClean="0"/>
              <a:t>	 } </a:t>
            </a:r>
          </a:p>
          <a:p>
            <a:pPr marL="0" indent="0">
              <a:buNone/>
            </a:pPr>
            <a:r>
              <a:rPr lang="es-AR" sz="1800" dirty="0" smtClean="0"/>
              <a:t>}</a:t>
            </a:r>
            <a:endParaRPr lang="es-AR" sz="1800" dirty="0"/>
          </a:p>
        </p:txBody>
      </p:sp>
    </p:spTree>
    <p:extLst>
      <p:ext uri="{BB962C8B-B14F-4D97-AF65-F5344CB8AC3E}">
        <p14:creationId xmlns:p14="http://schemas.microsoft.com/office/powerpoint/2010/main" val="2324607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p:txBody>
          <a:bodyPr>
            <a:normAutofit fontScale="92500" lnSpcReduction="20000"/>
          </a:bodyPr>
          <a:lstStyle/>
          <a:p>
            <a:r>
              <a:rPr lang="es-ES" dirty="0"/>
              <a:t>Si no hay sentencia </a:t>
            </a:r>
            <a:r>
              <a:rPr lang="es-ES" dirty="0" err="1"/>
              <a:t>return</a:t>
            </a:r>
            <a:r>
              <a:rPr lang="es-ES" dirty="0"/>
              <a:t> dentro de un método, su ejecución continúa hasta que se alcanza el final del método y entonces se devuelve la secuencia de ejecución al lugar dónde se invocó al método.</a:t>
            </a:r>
          </a:p>
          <a:p>
            <a:r>
              <a:rPr lang="es-ES" dirty="0"/>
              <a:t>Un método cuyo tipo de retorno no es </a:t>
            </a:r>
            <a:r>
              <a:rPr lang="es-ES" dirty="0" err="1"/>
              <a:t>void</a:t>
            </a:r>
            <a:r>
              <a:rPr lang="es-ES" dirty="0"/>
              <a:t> necesita siempre devolver algo</a:t>
            </a:r>
            <a:r>
              <a:rPr lang="es-ES" dirty="0" smtClean="0"/>
              <a:t>.</a:t>
            </a:r>
          </a:p>
          <a:p>
            <a:r>
              <a:rPr lang="es-ES" dirty="0" smtClean="0"/>
              <a:t>Si </a:t>
            </a:r>
            <a:r>
              <a:rPr lang="es-ES" dirty="0"/>
              <a:t>el código de un método contiene varias sentencias </a:t>
            </a:r>
            <a:r>
              <a:rPr lang="es-ES" dirty="0" err="1"/>
              <a:t>if</a:t>
            </a:r>
            <a:r>
              <a:rPr lang="es-ES" dirty="0"/>
              <a:t> debe asegurarse de que cada una de las posibles opciones devuelve un valor. En caso contrario, se generaría un error de compilación.</a:t>
            </a:r>
          </a:p>
          <a:p>
            <a:endParaRPr lang="es-AR" dirty="0"/>
          </a:p>
        </p:txBody>
      </p:sp>
    </p:spTree>
    <p:extLst>
      <p:ext uri="{BB962C8B-B14F-4D97-AF65-F5344CB8AC3E}">
        <p14:creationId xmlns:p14="http://schemas.microsoft.com/office/powerpoint/2010/main" val="2318616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p:txBody>
          <a:bodyPr>
            <a:normAutofit fontScale="77500" lnSpcReduction="20000"/>
          </a:bodyPr>
          <a:lstStyle/>
          <a:p>
            <a:pPr marL="0" indent="0">
              <a:buNone/>
            </a:pPr>
            <a:r>
              <a:rPr lang="es-AR" dirty="0" smtClean="0"/>
              <a:t>/** </a:t>
            </a:r>
            <a:r>
              <a:rPr lang="es-AR" dirty="0" err="1"/>
              <a:t>Demostracion</a:t>
            </a:r>
            <a:r>
              <a:rPr lang="es-AR" dirty="0"/>
              <a:t> de la </a:t>
            </a:r>
            <a:r>
              <a:rPr lang="es-AR" dirty="0" err="1"/>
              <a:t>funcion</a:t>
            </a:r>
            <a:r>
              <a:rPr lang="es-AR" dirty="0"/>
              <a:t> </a:t>
            </a:r>
            <a:r>
              <a:rPr lang="es-AR" dirty="0" err="1"/>
              <a:t>esPositivo</a:t>
            </a:r>
            <a:r>
              <a:rPr lang="es-AR" dirty="0"/>
              <a:t> </a:t>
            </a:r>
            <a:r>
              <a:rPr lang="es-AR" dirty="0" smtClean="0"/>
              <a:t>*/</a:t>
            </a:r>
          </a:p>
          <a:p>
            <a:pPr marL="0" indent="0">
              <a:buNone/>
            </a:pPr>
            <a:r>
              <a:rPr lang="es-AR" dirty="0" err="1" smtClean="0"/>
              <a:t>public</a:t>
            </a:r>
            <a:r>
              <a:rPr lang="es-AR" dirty="0" smtClean="0"/>
              <a:t> </a:t>
            </a:r>
            <a:r>
              <a:rPr lang="es-AR" dirty="0" err="1"/>
              <a:t>class</a:t>
            </a:r>
            <a:r>
              <a:rPr lang="es-AR" dirty="0" smtClean="0"/>
              <a:t> </a:t>
            </a:r>
            <a:r>
              <a:rPr lang="es-AR" dirty="0" err="1" smtClean="0"/>
              <a:t>PruebaPositivo</a:t>
            </a:r>
            <a:r>
              <a:rPr lang="es-AR" dirty="0" smtClean="0"/>
              <a:t> {</a:t>
            </a:r>
          </a:p>
          <a:p>
            <a:pPr marL="0" indent="0">
              <a:buNone/>
            </a:pPr>
            <a:r>
              <a:rPr lang="es-AR" dirty="0"/>
              <a:t> </a:t>
            </a:r>
            <a:r>
              <a:rPr lang="es-AR" dirty="0" smtClean="0"/>
              <a:t>   </a:t>
            </a:r>
            <a:r>
              <a:rPr lang="es-AR" dirty="0" err="1" smtClean="0"/>
              <a:t>public</a:t>
            </a:r>
            <a:r>
              <a:rPr lang="es-AR" dirty="0" smtClean="0"/>
              <a:t> </a:t>
            </a:r>
            <a:r>
              <a:rPr lang="es-AR" dirty="0" err="1"/>
              <a:t>static</a:t>
            </a:r>
            <a:r>
              <a:rPr lang="es-AR" dirty="0" smtClean="0"/>
              <a:t> </a:t>
            </a:r>
            <a:r>
              <a:rPr lang="es-AR" dirty="0" err="1"/>
              <a:t>void</a:t>
            </a:r>
            <a:r>
              <a:rPr lang="es-AR" dirty="0" smtClean="0"/>
              <a:t> </a:t>
            </a:r>
            <a:r>
              <a:rPr lang="es-AR" dirty="0" err="1" smtClean="0"/>
              <a:t>main</a:t>
            </a:r>
            <a:r>
              <a:rPr lang="es-AR" dirty="0" smtClean="0"/>
              <a:t> (</a:t>
            </a:r>
            <a:r>
              <a:rPr lang="es-AR" dirty="0" err="1"/>
              <a:t>String</a:t>
            </a:r>
            <a:r>
              <a:rPr lang="es-AR" dirty="0" smtClean="0"/>
              <a:t> [] </a:t>
            </a:r>
            <a:r>
              <a:rPr lang="es-AR" dirty="0" err="1" smtClean="0"/>
              <a:t>args</a:t>
            </a:r>
            <a:r>
              <a:rPr lang="es-AR" dirty="0" smtClean="0"/>
              <a:t>) {</a:t>
            </a:r>
          </a:p>
          <a:p>
            <a:pPr marL="0" indent="0">
              <a:buNone/>
            </a:pPr>
            <a:r>
              <a:rPr lang="es-AR" dirty="0" smtClean="0"/>
              <a:t>        </a:t>
            </a:r>
            <a:r>
              <a:rPr lang="es-AR" dirty="0" err="1" smtClean="0"/>
              <a:t>for</a:t>
            </a:r>
            <a:r>
              <a:rPr lang="es-AR" dirty="0" smtClean="0"/>
              <a:t> (</a:t>
            </a:r>
            <a:r>
              <a:rPr lang="es-AR" dirty="0" err="1"/>
              <a:t>int</a:t>
            </a:r>
            <a:r>
              <a:rPr lang="es-AR" dirty="0" smtClean="0"/>
              <a:t> i</a:t>
            </a:r>
            <a:r>
              <a:rPr lang="es-AR" dirty="0"/>
              <a:t>=</a:t>
            </a:r>
            <a:r>
              <a:rPr lang="es-AR" dirty="0" smtClean="0"/>
              <a:t>5</a:t>
            </a:r>
            <a:r>
              <a:rPr lang="es-AR" dirty="0"/>
              <a:t>;</a:t>
            </a:r>
            <a:r>
              <a:rPr lang="es-AR" dirty="0" smtClean="0"/>
              <a:t> i</a:t>
            </a:r>
            <a:r>
              <a:rPr lang="es-AR" dirty="0"/>
              <a:t>&gt;=-</a:t>
            </a:r>
            <a:r>
              <a:rPr lang="es-AR" dirty="0" smtClean="0"/>
              <a:t>5</a:t>
            </a:r>
            <a:r>
              <a:rPr lang="es-AR" dirty="0"/>
              <a:t>;</a:t>
            </a:r>
            <a:r>
              <a:rPr lang="es-AR" dirty="0" smtClean="0"/>
              <a:t> i</a:t>
            </a:r>
            <a:r>
              <a:rPr lang="es-AR" dirty="0"/>
              <a:t>-</a:t>
            </a:r>
            <a:r>
              <a:rPr lang="es-AR" dirty="0" smtClean="0"/>
              <a:t>-)</a:t>
            </a:r>
          </a:p>
          <a:p>
            <a:pPr marL="0" indent="0">
              <a:buNone/>
            </a:pPr>
            <a:r>
              <a:rPr lang="es-AR" dirty="0" smtClean="0"/>
              <a:t>             </a:t>
            </a:r>
            <a:r>
              <a:rPr lang="es-AR" dirty="0" err="1" smtClean="0"/>
              <a:t>System.out.println</a:t>
            </a:r>
            <a:r>
              <a:rPr lang="es-AR" dirty="0" smtClean="0"/>
              <a:t>(i </a:t>
            </a:r>
            <a:r>
              <a:rPr lang="es-AR" dirty="0"/>
              <a:t>+</a:t>
            </a:r>
            <a:r>
              <a:rPr lang="es-AR" dirty="0" smtClean="0"/>
              <a:t> </a:t>
            </a:r>
            <a:r>
              <a:rPr lang="es-AR" dirty="0"/>
              <a:t>" es positivo: "</a:t>
            </a:r>
            <a:r>
              <a:rPr lang="es-AR" dirty="0" smtClean="0"/>
              <a:t> </a:t>
            </a:r>
            <a:r>
              <a:rPr lang="es-AR" dirty="0"/>
              <a:t>+</a:t>
            </a:r>
            <a:r>
              <a:rPr lang="es-AR" dirty="0" smtClean="0"/>
              <a:t> </a:t>
            </a:r>
            <a:r>
              <a:rPr lang="es-AR" dirty="0" err="1" smtClean="0"/>
              <a:t>esPositivo</a:t>
            </a:r>
            <a:r>
              <a:rPr lang="es-AR" dirty="0" smtClean="0"/>
              <a:t>(i))</a:t>
            </a:r>
            <a:r>
              <a:rPr lang="es-AR" dirty="0"/>
              <a:t>;</a:t>
            </a:r>
            <a:r>
              <a:rPr lang="es-AR" dirty="0" smtClean="0"/>
              <a:t> </a:t>
            </a:r>
          </a:p>
          <a:p>
            <a:pPr marL="0" indent="0">
              <a:buNone/>
            </a:pPr>
            <a:r>
              <a:rPr lang="es-AR" dirty="0"/>
              <a:t> </a:t>
            </a:r>
            <a:r>
              <a:rPr lang="es-AR" dirty="0" smtClean="0"/>
              <a:t>   }</a:t>
            </a:r>
          </a:p>
          <a:p>
            <a:pPr marL="0" indent="0">
              <a:buNone/>
            </a:pPr>
            <a:r>
              <a:rPr lang="es-AR" dirty="0" smtClean="0"/>
              <a:t>    </a:t>
            </a:r>
            <a:r>
              <a:rPr lang="es-AR" dirty="0" err="1" smtClean="0"/>
              <a:t>public</a:t>
            </a:r>
            <a:r>
              <a:rPr lang="es-AR" dirty="0" smtClean="0"/>
              <a:t> </a:t>
            </a:r>
            <a:r>
              <a:rPr lang="es-AR" dirty="0" err="1"/>
              <a:t>static</a:t>
            </a:r>
            <a:r>
              <a:rPr lang="es-AR" dirty="0" smtClean="0"/>
              <a:t> </a:t>
            </a:r>
            <a:r>
              <a:rPr lang="es-AR" dirty="0" err="1"/>
              <a:t>boolean</a:t>
            </a:r>
            <a:r>
              <a:rPr lang="es-AR" dirty="0" smtClean="0"/>
              <a:t> </a:t>
            </a:r>
            <a:r>
              <a:rPr lang="es-AR" dirty="0" err="1" smtClean="0"/>
              <a:t>esPositivo</a:t>
            </a:r>
            <a:r>
              <a:rPr lang="es-AR" dirty="0" smtClean="0"/>
              <a:t>(</a:t>
            </a:r>
            <a:r>
              <a:rPr lang="es-AR" dirty="0" err="1"/>
              <a:t>int</a:t>
            </a:r>
            <a:r>
              <a:rPr lang="es-AR" dirty="0" smtClean="0"/>
              <a:t> x) {</a:t>
            </a:r>
          </a:p>
          <a:p>
            <a:pPr marL="0" indent="0">
              <a:buNone/>
            </a:pPr>
            <a:r>
              <a:rPr lang="es-AR" dirty="0" smtClean="0"/>
              <a:t>        </a:t>
            </a:r>
            <a:r>
              <a:rPr lang="es-AR" dirty="0" err="1" smtClean="0"/>
              <a:t>if</a:t>
            </a:r>
            <a:r>
              <a:rPr lang="es-AR" dirty="0" smtClean="0"/>
              <a:t> (x</a:t>
            </a:r>
            <a:r>
              <a:rPr lang="es-AR" dirty="0"/>
              <a:t>&lt;</a:t>
            </a:r>
            <a:r>
              <a:rPr lang="es-AR" dirty="0" smtClean="0"/>
              <a:t>0) </a:t>
            </a:r>
            <a:r>
              <a:rPr lang="es-AR" dirty="0" err="1"/>
              <a:t>return</a:t>
            </a:r>
            <a:r>
              <a:rPr lang="es-AR" dirty="0" smtClean="0"/>
              <a:t> </a:t>
            </a:r>
            <a:r>
              <a:rPr lang="es-AR" dirty="0"/>
              <a:t>false</a:t>
            </a:r>
            <a:r>
              <a:rPr lang="es-AR" dirty="0" smtClean="0"/>
              <a:t>;</a:t>
            </a:r>
          </a:p>
          <a:p>
            <a:pPr marL="0" indent="0">
              <a:buNone/>
            </a:pPr>
            <a:r>
              <a:rPr lang="es-AR" dirty="0"/>
              <a:t> </a:t>
            </a:r>
            <a:r>
              <a:rPr lang="es-AR" dirty="0" smtClean="0"/>
              <a:t>       </a:t>
            </a:r>
            <a:r>
              <a:rPr lang="es-AR" dirty="0" err="1"/>
              <a:t>if</a:t>
            </a:r>
            <a:r>
              <a:rPr lang="es-AR" dirty="0" smtClean="0"/>
              <a:t> (x</a:t>
            </a:r>
            <a:r>
              <a:rPr lang="es-AR" dirty="0"/>
              <a:t>&gt;</a:t>
            </a:r>
            <a:r>
              <a:rPr lang="es-AR" dirty="0" smtClean="0"/>
              <a:t>0) </a:t>
            </a:r>
            <a:r>
              <a:rPr lang="es-AR" dirty="0" err="1"/>
              <a:t>return</a:t>
            </a:r>
            <a:r>
              <a:rPr lang="es-AR" dirty="0" smtClean="0"/>
              <a:t> </a:t>
            </a:r>
            <a:r>
              <a:rPr lang="es-AR" dirty="0"/>
              <a:t>true</a:t>
            </a:r>
            <a:r>
              <a:rPr lang="es-AR" dirty="0" smtClean="0"/>
              <a:t>;</a:t>
            </a:r>
            <a:endParaRPr lang="es-AR" dirty="0"/>
          </a:p>
          <a:p>
            <a:pPr marL="0" indent="0">
              <a:buNone/>
            </a:pPr>
            <a:r>
              <a:rPr lang="es-AR" dirty="0" smtClean="0"/>
              <a:t>    }</a:t>
            </a:r>
          </a:p>
          <a:p>
            <a:pPr marL="0" indent="0">
              <a:buNone/>
            </a:pPr>
            <a:r>
              <a:rPr lang="es-AR" dirty="0" smtClean="0"/>
              <a:t>}</a:t>
            </a:r>
            <a:endParaRPr lang="es-AR" dirty="0"/>
          </a:p>
        </p:txBody>
      </p:sp>
    </p:spTree>
    <p:extLst>
      <p:ext uri="{BB962C8B-B14F-4D97-AF65-F5344CB8AC3E}">
        <p14:creationId xmlns:p14="http://schemas.microsoft.com/office/powerpoint/2010/main" val="3085910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a:xfrm>
            <a:off x="457200" y="1600200"/>
            <a:ext cx="8229600" cy="4925144"/>
          </a:xfrm>
        </p:spPr>
        <p:txBody>
          <a:bodyPr>
            <a:normAutofit fontScale="85000" lnSpcReduction="20000"/>
          </a:bodyPr>
          <a:lstStyle/>
          <a:p>
            <a:r>
              <a:rPr lang="es-ES" dirty="0"/>
              <a:t>Java permite la </a:t>
            </a:r>
            <a:r>
              <a:rPr lang="es-ES" i="1" dirty="0"/>
              <a:t>recursión</a:t>
            </a:r>
            <a:r>
              <a:rPr lang="es-ES" dirty="0"/>
              <a:t> o </a:t>
            </a:r>
            <a:r>
              <a:rPr lang="es-ES" i="1" dirty="0"/>
              <a:t>recurrencia</a:t>
            </a:r>
            <a:r>
              <a:rPr lang="es-ES" dirty="0"/>
              <a:t> en la programación de métodos. La recursión consiste en que un método se llame a sí mismo. </a:t>
            </a:r>
            <a:endParaRPr lang="es-ES" dirty="0" smtClean="0"/>
          </a:p>
          <a:p>
            <a:r>
              <a:rPr lang="es-ES" dirty="0" smtClean="0"/>
              <a:t>Un </a:t>
            </a:r>
            <a:r>
              <a:rPr lang="es-ES" dirty="0"/>
              <a:t>ejemplo muy típico de empleo de la recursión puede verse en la construcción de un método que devuelva el factorial de un entero. </a:t>
            </a:r>
            <a:endParaRPr lang="es-ES" dirty="0" smtClean="0"/>
          </a:p>
          <a:p>
            <a:r>
              <a:rPr lang="es-ES" dirty="0" smtClean="0"/>
              <a:t>Se </a:t>
            </a:r>
            <a:r>
              <a:rPr lang="es-ES" dirty="0"/>
              <a:t>basa en el hecho de que n! es igual a n·(n-1)! si n es mayor que 1</a:t>
            </a:r>
            <a:r>
              <a:rPr lang="es-ES" dirty="0" smtClean="0"/>
              <a:t>.</a:t>
            </a:r>
          </a:p>
          <a:p>
            <a:r>
              <a:rPr lang="es-ES" dirty="0"/>
              <a:t>En la construcción de métodos recursivos es importante evitar el problema de la recursión infinita. Es decir, que en algún caso, la ejecución del método definido de forma recursiva no implique una nueva llamada al propio método</a:t>
            </a:r>
            <a:r>
              <a:rPr lang="es-ES" dirty="0" smtClean="0"/>
              <a:t>.</a:t>
            </a:r>
            <a:endParaRPr lang="es-ES" dirty="0"/>
          </a:p>
        </p:txBody>
      </p:sp>
    </p:spTree>
    <p:extLst>
      <p:ext uri="{BB962C8B-B14F-4D97-AF65-F5344CB8AC3E}">
        <p14:creationId xmlns:p14="http://schemas.microsoft.com/office/powerpoint/2010/main" val="3415819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p:txBody>
          <a:bodyPr>
            <a:normAutofit fontScale="62500" lnSpcReduction="20000"/>
          </a:bodyPr>
          <a:lstStyle/>
          <a:p>
            <a:pPr marL="0" indent="0">
              <a:buNone/>
            </a:pPr>
            <a:r>
              <a:rPr lang="es-AR" dirty="0"/>
              <a:t>/** * </a:t>
            </a:r>
            <a:r>
              <a:rPr lang="es-AR" dirty="0" err="1"/>
              <a:t>Demostracion</a:t>
            </a:r>
            <a:r>
              <a:rPr lang="es-AR" dirty="0"/>
              <a:t> de la </a:t>
            </a:r>
            <a:r>
              <a:rPr lang="es-AR" dirty="0" err="1"/>
              <a:t>funcion</a:t>
            </a:r>
            <a:r>
              <a:rPr lang="es-AR" dirty="0"/>
              <a:t> recursiva factorial */</a:t>
            </a:r>
            <a:r>
              <a:rPr lang="es-AR" dirty="0" smtClean="0"/>
              <a:t> </a:t>
            </a:r>
          </a:p>
          <a:p>
            <a:pPr marL="0" indent="0">
              <a:buNone/>
            </a:pPr>
            <a:r>
              <a:rPr lang="es-AR" dirty="0" err="1" smtClean="0"/>
              <a:t>public</a:t>
            </a:r>
            <a:r>
              <a:rPr lang="es-AR" dirty="0" smtClean="0"/>
              <a:t> </a:t>
            </a:r>
            <a:r>
              <a:rPr lang="es-AR" dirty="0" err="1"/>
              <a:t>class</a:t>
            </a:r>
            <a:r>
              <a:rPr lang="es-AR" dirty="0" smtClean="0"/>
              <a:t> </a:t>
            </a:r>
            <a:r>
              <a:rPr lang="es-AR" dirty="0" err="1" smtClean="0"/>
              <a:t>PruebaFactorialR</a:t>
            </a:r>
            <a:r>
              <a:rPr lang="es-AR" dirty="0" smtClean="0"/>
              <a:t> {</a:t>
            </a:r>
          </a:p>
          <a:p>
            <a:pPr marL="0" indent="0">
              <a:buNone/>
            </a:pPr>
            <a:r>
              <a:rPr lang="es-AR" dirty="0" smtClean="0"/>
              <a:t>     </a:t>
            </a:r>
            <a:r>
              <a:rPr lang="es-AR" dirty="0" err="1" smtClean="0"/>
              <a:t>public</a:t>
            </a:r>
            <a:r>
              <a:rPr lang="es-AR" dirty="0" smtClean="0"/>
              <a:t> </a:t>
            </a:r>
            <a:r>
              <a:rPr lang="es-AR" dirty="0" err="1"/>
              <a:t>static</a:t>
            </a:r>
            <a:r>
              <a:rPr lang="es-AR" dirty="0" smtClean="0"/>
              <a:t> </a:t>
            </a:r>
            <a:r>
              <a:rPr lang="es-AR" dirty="0" err="1"/>
              <a:t>void</a:t>
            </a:r>
            <a:r>
              <a:rPr lang="es-AR" dirty="0" smtClean="0"/>
              <a:t> </a:t>
            </a:r>
            <a:r>
              <a:rPr lang="es-AR" dirty="0" err="1" smtClean="0"/>
              <a:t>main</a:t>
            </a:r>
            <a:r>
              <a:rPr lang="es-AR" dirty="0" smtClean="0"/>
              <a:t> (</a:t>
            </a:r>
            <a:r>
              <a:rPr lang="es-AR" dirty="0" err="1"/>
              <a:t>String</a:t>
            </a:r>
            <a:r>
              <a:rPr lang="es-AR" dirty="0" smtClean="0"/>
              <a:t> [] </a:t>
            </a:r>
            <a:r>
              <a:rPr lang="es-AR" dirty="0" err="1" smtClean="0"/>
              <a:t>args</a:t>
            </a:r>
            <a:r>
              <a:rPr lang="es-AR" dirty="0" smtClean="0"/>
              <a:t>){</a:t>
            </a:r>
          </a:p>
          <a:p>
            <a:pPr marL="0" indent="0">
              <a:buNone/>
            </a:pPr>
            <a:r>
              <a:rPr lang="es-AR" dirty="0"/>
              <a:t> </a:t>
            </a:r>
            <a:r>
              <a:rPr lang="es-AR" dirty="0" smtClean="0"/>
              <a:t>        </a:t>
            </a:r>
            <a:r>
              <a:rPr lang="es-AR" dirty="0" err="1" smtClean="0"/>
              <a:t>for</a:t>
            </a:r>
            <a:r>
              <a:rPr lang="es-AR" dirty="0" smtClean="0"/>
              <a:t> (</a:t>
            </a:r>
            <a:r>
              <a:rPr lang="es-AR" dirty="0" err="1"/>
              <a:t>int</a:t>
            </a:r>
            <a:r>
              <a:rPr lang="es-AR" dirty="0" smtClean="0"/>
              <a:t> i</a:t>
            </a:r>
            <a:r>
              <a:rPr lang="es-AR" dirty="0"/>
              <a:t>=</a:t>
            </a:r>
            <a:r>
              <a:rPr lang="es-AR" dirty="0" smtClean="0"/>
              <a:t>1</a:t>
            </a:r>
            <a:r>
              <a:rPr lang="es-AR" dirty="0"/>
              <a:t>;</a:t>
            </a:r>
            <a:r>
              <a:rPr lang="es-AR" dirty="0" smtClean="0"/>
              <a:t> i</a:t>
            </a:r>
            <a:r>
              <a:rPr lang="es-AR" dirty="0"/>
              <a:t>&lt;=</a:t>
            </a:r>
            <a:r>
              <a:rPr lang="es-AR" dirty="0" smtClean="0"/>
              <a:t>20</a:t>
            </a:r>
            <a:r>
              <a:rPr lang="es-AR" dirty="0"/>
              <a:t>;</a:t>
            </a:r>
            <a:r>
              <a:rPr lang="es-AR" dirty="0" smtClean="0"/>
              <a:t> i++)</a:t>
            </a:r>
          </a:p>
          <a:p>
            <a:pPr marL="0" indent="0">
              <a:buNone/>
            </a:pPr>
            <a:r>
              <a:rPr lang="es-AR" dirty="0" smtClean="0"/>
              <a:t>              </a:t>
            </a:r>
            <a:r>
              <a:rPr lang="es-AR" dirty="0" err="1" smtClean="0"/>
              <a:t>System.out.println</a:t>
            </a:r>
            <a:r>
              <a:rPr lang="es-AR" dirty="0" smtClean="0"/>
              <a:t>(</a:t>
            </a:r>
            <a:r>
              <a:rPr lang="es-AR" dirty="0"/>
              <a:t>"Factorial de "</a:t>
            </a:r>
            <a:r>
              <a:rPr lang="es-AR" dirty="0" smtClean="0"/>
              <a:t> </a:t>
            </a:r>
            <a:r>
              <a:rPr lang="es-AR" dirty="0"/>
              <a:t>+</a:t>
            </a:r>
            <a:r>
              <a:rPr lang="es-AR" dirty="0" smtClean="0"/>
              <a:t> i </a:t>
            </a:r>
            <a:r>
              <a:rPr lang="es-AR" dirty="0"/>
              <a:t>+</a:t>
            </a:r>
            <a:r>
              <a:rPr lang="es-AR" dirty="0" smtClean="0"/>
              <a:t> </a:t>
            </a:r>
            <a:r>
              <a:rPr lang="es-AR" dirty="0"/>
              <a:t>" = "</a:t>
            </a:r>
            <a:r>
              <a:rPr lang="es-AR" dirty="0" smtClean="0"/>
              <a:t> </a:t>
            </a:r>
            <a:r>
              <a:rPr lang="es-AR" dirty="0"/>
              <a:t>+</a:t>
            </a:r>
            <a:r>
              <a:rPr lang="es-AR" dirty="0" smtClean="0"/>
              <a:t> </a:t>
            </a:r>
            <a:r>
              <a:rPr lang="es-AR" dirty="0" err="1" smtClean="0"/>
              <a:t>factorialR</a:t>
            </a:r>
            <a:r>
              <a:rPr lang="es-AR" dirty="0" smtClean="0"/>
              <a:t>(i));</a:t>
            </a:r>
          </a:p>
          <a:p>
            <a:pPr marL="0" indent="0">
              <a:buNone/>
            </a:pPr>
            <a:r>
              <a:rPr lang="es-AR" dirty="0"/>
              <a:t> </a:t>
            </a:r>
            <a:r>
              <a:rPr lang="es-AR" dirty="0" smtClean="0"/>
              <a:t>        }</a:t>
            </a:r>
          </a:p>
          <a:p>
            <a:pPr marL="0" indent="0">
              <a:buNone/>
            </a:pPr>
            <a:r>
              <a:rPr lang="es-AR" dirty="0" smtClean="0"/>
              <a:t>     }</a:t>
            </a:r>
          </a:p>
          <a:p>
            <a:pPr marL="0" indent="0">
              <a:buNone/>
            </a:pPr>
            <a:r>
              <a:rPr lang="es-AR" dirty="0" smtClean="0"/>
              <a:t>     </a:t>
            </a:r>
            <a:r>
              <a:rPr lang="es-AR" dirty="0" err="1" smtClean="0"/>
              <a:t>public</a:t>
            </a:r>
            <a:r>
              <a:rPr lang="es-AR" dirty="0" smtClean="0"/>
              <a:t> </a:t>
            </a:r>
            <a:r>
              <a:rPr lang="es-AR" dirty="0" err="1"/>
              <a:t>static</a:t>
            </a:r>
            <a:r>
              <a:rPr lang="es-AR" dirty="0" smtClean="0"/>
              <a:t> </a:t>
            </a:r>
            <a:r>
              <a:rPr lang="es-AR" dirty="0" err="1"/>
              <a:t>long</a:t>
            </a:r>
            <a:r>
              <a:rPr lang="es-AR" dirty="0" smtClean="0"/>
              <a:t> </a:t>
            </a:r>
            <a:r>
              <a:rPr lang="es-AR" dirty="0" err="1" smtClean="0"/>
              <a:t>factorialR</a:t>
            </a:r>
            <a:r>
              <a:rPr lang="es-AR" dirty="0" smtClean="0"/>
              <a:t> (</a:t>
            </a:r>
            <a:r>
              <a:rPr lang="es-AR" dirty="0" err="1"/>
              <a:t>int</a:t>
            </a:r>
            <a:r>
              <a:rPr lang="es-AR" dirty="0" smtClean="0"/>
              <a:t> n) {</a:t>
            </a:r>
          </a:p>
          <a:p>
            <a:pPr marL="0" indent="0">
              <a:buNone/>
            </a:pPr>
            <a:r>
              <a:rPr lang="es-AR" dirty="0" smtClean="0"/>
              <a:t>          </a:t>
            </a:r>
            <a:r>
              <a:rPr lang="es-AR" dirty="0" err="1" smtClean="0"/>
              <a:t>if</a:t>
            </a:r>
            <a:r>
              <a:rPr lang="es-AR" dirty="0" smtClean="0"/>
              <a:t> (n</a:t>
            </a:r>
            <a:r>
              <a:rPr lang="es-AR" dirty="0"/>
              <a:t>==</a:t>
            </a:r>
            <a:r>
              <a:rPr lang="es-AR" dirty="0" smtClean="0"/>
              <a:t>0)</a:t>
            </a:r>
          </a:p>
          <a:p>
            <a:pPr marL="0" indent="0">
              <a:buNone/>
            </a:pPr>
            <a:r>
              <a:rPr lang="es-AR" dirty="0"/>
              <a:t> </a:t>
            </a:r>
            <a:r>
              <a:rPr lang="es-AR" dirty="0" smtClean="0"/>
              <a:t>             </a:t>
            </a:r>
            <a:r>
              <a:rPr lang="es-AR" dirty="0" err="1" smtClean="0"/>
              <a:t>return</a:t>
            </a:r>
            <a:r>
              <a:rPr lang="es-AR" dirty="0" smtClean="0"/>
              <a:t> 1</a:t>
            </a:r>
            <a:r>
              <a:rPr lang="es-AR" dirty="0"/>
              <a:t>;</a:t>
            </a:r>
            <a:r>
              <a:rPr lang="es-AR" dirty="0" smtClean="0"/>
              <a:t> </a:t>
            </a:r>
          </a:p>
          <a:p>
            <a:pPr marL="0" indent="0">
              <a:buNone/>
            </a:pPr>
            <a:r>
              <a:rPr lang="es-AR" dirty="0"/>
              <a:t> </a:t>
            </a:r>
            <a:r>
              <a:rPr lang="es-AR" dirty="0" smtClean="0"/>
              <a:t>         </a:t>
            </a:r>
            <a:r>
              <a:rPr lang="es-AR" dirty="0" err="1" smtClean="0"/>
              <a:t>else</a:t>
            </a:r>
            <a:endParaRPr lang="es-AR" dirty="0" smtClean="0"/>
          </a:p>
          <a:p>
            <a:pPr marL="0" indent="0">
              <a:buNone/>
            </a:pPr>
            <a:r>
              <a:rPr lang="es-AR" dirty="0"/>
              <a:t> </a:t>
            </a:r>
            <a:r>
              <a:rPr lang="es-AR" dirty="0" smtClean="0"/>
              <a:t>             </a:t>
            </a:r>
            <a:r>
              <a:rPr lang="es-AR" dirty="0" err="1" smtClean="0"/>
              <a:t>return</a:t>
            </a:r>
            <a:r>
              <a:rPr lang="es-AR" dirty="0" smtClean="0"/>
              <a:t> n </a:t>
            </a:r>
            <a:r>
              <a:rPr lang="es-AR" dirty="0"/>
              <a:t>*</a:t>
            </a:r>
            <a:r>
              <a:rPr lang="es-AR" dirty="0" smtClean="0"/>
              <a:t> </a:t>
            </a:r>
            <a:r>
              <a:rPr lang="es-AR" dirty="0" err="1" smtClean="0"/>
              <a:t>factorialR</a:t>
            </a:r>
            <a:r>
              <a:rPr lang="es-AR" dirty="0" smtClean="0"/>
              <a:t>(n</a:t>
            </a:r>
            <a:r>
              <a:rPr lang="es-AR" dirty="0"/>
              <a:t>-</a:t>
            </a:r>
            <a:r>
              <a:rPr lang="es-AR" dirty="0" smtClean="0"/>
              <a:t>1)</a:t>
            </a:r>
            <a:r>
              <a:rPr lang="es-AR" dirty="0"/>
              <a:t>;</a:t>
            </a:r>
            <a:r>
              <a:rPr lang="es-AR" dirty="0" smtClean="0"/>
              <a:t> </a:t>
            </a:r>
          </a:p>
          <a:p>
            <a:pPr marL="0" indent="0">
              <a:buNone/>
            </a:pPr>
            <a:r>
              <a:rPr lang="es-AR" dirty="0" smtClean="0"/>
              <a:t>     }</a:t>
            </a:r>
          </a:p>
          <a:p>
            <a:pPr marL="0" indent="0">
              <a:buNone/>
            </a:pPr>
            <a:r>
              <a:rPr lang="es-AR" dirty="0" smtClean="0"/>
              <a:t>}</a:t>
            </a:r>
            <a:endParaRPr lang="es-AR" dirty="0"/>
          </a:p>
        </p:txBody>
      </p:sp>
    </p:spTree>
    <p:extLst>
      <p:ext uri="{BB962C8B-B14F-4D97-AF65-F5344CB8AC3E}">
        <p14:creationId xmlns:p14="http://schemas.microsoft.com/office/powerpoint/2010/main" val="1851226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p:txBody>
          <a:bodyPr>
            <a:normAutofit fontScale="85000" lnSpcReduction="20000"/>
          </a:bodyPr>
          <a:lstStyle/>
          <a:p>
            <a:r>
              <a:rPr lang="es-ES" dirty="0"/>
              <a:t>Java permite asignar el mismo identificador a distintos métodos, cuya diferencia reside en el tipo o número de parámetros que utilicen</a:t>
            </a:r>
            <a:r>
              <a:rPr lang="es-ES" dirty="0" smtClean="0"/>
              <a:t>.</a:t>
            </a:r>
          </a:p>
          <a:p>
            <a:r>
              <a:rPr lang="es-ES" dirty="0" smtClean="0"/>
              <a:t>Esto </a:t>
            </a:r>
            <a:r>
              <a:rPr lang="es-ES" dirty="0"/>
              <a:t>resulta </a:t>
            </a:r>
            <a:r>
              <a:rPr lang="es-ES" dirty="0" smtClean="0"/>
              <a:t>conveniente </a:t>
            </a:r>
            <a:r>
              <a:rPr lang="es-ES" dirty="0"/>
              <a:t>cuando se desea llevar a cabo la misma tarea en </a:t>
            </a:r>
            <a:r>
              <a:rPr lang="es-ES" dirty="0" err="1"/>
              <a:t>difererente</a:t>
            </a:r>
            <a:r>
              <a:rPr lang="es-ES" dirty="0"/>
              <a:t> número o tipos de variables</a:t>
            </a:r>
            <a:r>
              <a:rPr lang="es-ES" dirty="0" smtClean="0"/>
              <a:t>.</a:t>
            </a:r>
          </a:p>
          <a:p>
            <a:r>
              <a:rPr lang="es-ES" dirty="0" smtClean="0"/>
              <a:t>La</a:t>
            </a:r>
            <a:r>
              <a:rPr lang="es-ES" dirty="0"/>
              <a:t> </a:t>
            </a:r>
            <a:r>
              <a:rPr lang="es-ES" dirty="0" smtClean="0"/>
              <a:t>sobrecarga</a:t>
            </a:r>
            <a:r>
              <a:rPr lang="es-ES" dirty="0"/>
              <a:t> (</a:t>
            </a:r>
            <a:r>
              <a:rPr lang="es-ES" dirty="0" err="1" smtClean="0"/>
              <a:t>overloading</a:t>
            </a:r>
            <a:r>
              <a:rPr lang="es-ES" dirty="0"/>
              <a:t>) de los métodos puede resultar muy útil </a:t>
            </a:r>
            <a:endParaRPr lang="es-ES" dirty="0" smtClean="0"/>
          </a:p>
          <a:p>
            <a:r>
              <a:rPr lang="es-ES" dirty="0" smtClean="0"/>
              <a:t>En </a:t>
            </a:r>
            <a:r>
              <a:rPr lang="es-ES" dirty="0"/>
              <a:t>lugar de tener que recordar identificadores de métodos distintos, basta con recordar uno sólo</a:t>
            </a:r>
            <a:r>
              <a:rPr lang="es-ES" dirty="0" smtClean="0"/>
              <a:t>.</a:t>
            </a:r>
          </a:p>
          <a:p>
            <a:r>
              <a:rPr lang="es-ES" dirty="0" smtClean="0"/>
              <a:t> </a:t>
            </a:r>
            <a:r>
              <a:rPr lang="es-ES" dirty="0"/>
              <a:t>El compilador se encarga de averiguar cuál de los métodos que comparten identificador debe </a:t>
            </a:r>
            <a:r>
              <a:rPr lang="es-ES" dirty="0" smtClean="0"/>
              <a:t>ejecutar</a:t>
            </a:r>
            <a:endParaRPr lang="es-AR" dirty="0"/>
          </a:p>
        </p:txBody>
      </p:sp>
    </p:spTree>
    <p:extLst>
      <p:ext uri="{BB962C8B-B14F-4D97-AF65-F5344CB8AC3E}">
        <p14:creationId xmlns:p14="http://schemas.microsoft.com/office/powerpoint/2010/main" val="1951919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p:txBody>
          <a:bodyPr>
            <a:normAutofit fontScale="85000" lnSpcReduction="20000"/>
          </a:bodyPr>
          <a:lstStyle/>
          <a:p>
            <a:r>
              <a:rPr lang="es-ES" dirty="0" smtClean="0"/>
              <a:t>La </a:t>
            </a:r>
            <a:r>
              <a:rPr lang="es-ES" dirty="0"/>
              <a:t>base de la Programación Orientada a Objetos es el </a:t>
            </a:r>
            <a:r>
              <a:rPr lang="es-ES" i="1" dirty="0"/>
              <a:t>objeto</a:t>
            </a:r>
            <a:r>
              <a:rPr lang="es-ES" dirty="0" smtClean="0"/>
              <a:t>.</a:t>
            </a:r>
          </a:p>
          <a:p>
            <a:r>
              <a:rPr lang="es-ES" dirty="0" smtClean="0"/>
              <a:t> </a:t>
            </a:r>
            <a:r>
              <a:rPr lang="es-ES" dirty="0"/>
              <a:t>En la vida real todos los </a:t>
            </a:r>
            <a:r>
              <a:rPr lang="es-ES" i="1" dirty="0"/>
              <a:t>objetos</a:t>
            </a:r>
            <a:r>
              <a:rPr lang="es-ES" dirty="0"/>
              <a:t> tienen una serie de características y un comportamiento</a:t>
            </a:r>
            <a:r>
              <a:rPr lang="es-ES" dirty="0" smtClean="0"/>
              <a:t>.</a:t>
            </a:r>
          </a:p>
          <a:p>
            <a:r>
              <a:rPr lang="es-ES" dirty="0" smtClean="0"/>
              <a:t>En </a:t>
            </a:r>
            <a:r>
              <a:rPr lang="es-ES" dirty="0"/>
              <a:t>Programación Orientada a Objetos, un objeto es una combinación de unos datos específicos y de las rutinas que pueden operar con esos datos. </a:t>
            </a:r>
          </a:p>
          <a:p>
            <a:r>
              <a:rPr lang="es-ES" dirty="0"/>
              <a:t>Campos o </a:t>
            </a:r>
            <a:r>
              <a:rPr lang="es-ES" i="1" dirty="0"/>
              <a:t>atributos</a:t>
            </a:r>
            <a:r>
              <a:rPr lang="es-ES" dirty="0"/>
              <a:t>: componentes de un objeto que almacenan datos</a:t>
            </a:r>
            <a:r>
              <a:rPr lang="es-ES" dirty="0" smtClean="0"/>
              <a:t>.</a:t>
            </a:r>
            <a:endParaRPr lang="es-ES" dirty="0"/>
          </a:p>
          <a:p>
            <a:r>
              <a:rPr lang="es-ES" dirty="0"/>
              <a:t>Rutinas o </a:t>
            </a:r>
            <a:r>
              <a:rPr lang="es-ES" i="1" dirty="0"/>
              <a:t>métodos</a:t>
            </a:r>
            <a:r>
              <a:rPr lang="es-ES" dirty="0"/>
              <a:t>: es una componente de un objeto que lleva a cabo una determinada acción o tarea con los atributos</a:t>
            </a:r>
            <a:r>
              <a:rPr lang="es-ES" dirty="0" smtClean="0"/>
              <a:t>.</a:t>
            </a:r>
            <a:endParaRPr lang="es-ES" dirty="0"/>
          </a:p>
          <a:p>
            <a:endParaRPr lang="es-AR" dirty="0"/>
          </a:p>
        </p:txBody>
      </p:sp>
    </p:spTree>
    <p:extLst>
      <p:ext uri="{BB962C8B-B14F-4D97-AF65-F5344CB8AC3E}">
        <p14:creationId xmlns:p14="http://schemas.microsoft.com/office/powerpoint/2010/main" val="3655318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p:txBody>
          <a:bodyPr>
            <a:normAutofit fontScale="92500" lnSpcReduction="10000"/>
          </a:bodyPr>
          <a:lstStyle/>
          <a:p>
            <a:pPr marL="0" indent="0" algn="ctr">
              <a:buNone/>
            </a:pPr>
            <a:r>
              <a:rPr lang="es-ES" b="1" u="sng" dirty="0" smtClean="0">
                <a:solidFill>
                  <a:srgbClr val="FFC000"/>
                </a:solidFill>
              </a:rPr>
              <a:t>Campos o </a:t>
            </a:r>
            <a:r>
              <a:rPr lang="es-ES" b="1" i="1" u="sng" dirty="0" smtClean="0">
                <a:solidFill>
                  <a:srgbClr val="FFC000"/>
                </a:solidFill>
              </a:rPr>
              <a:t>tributos</a:t>
            </a:r>
            <a:endParaRPr lang="es-ES" b="1" u="sng" dirty="0">
              <a:solidFill>
                <a:srgbClr val="FFC000"/>
              </a:solidFill>
            </a:endParaRPr>
          </a:p>
          <a:p>
            <a:r>
              <a:rPr lang="es-ES" dirty="0" smtClean="0"/>
              <a:t>También se les denomina variables miembro.</a:t>
            </a:r>
          </a:p>
          <a:p>
            <a:r>
              <a:rPr lang="es-ES" dirty="0" smtClean="0"/>
              <a:t>Pueden ser de tipo primitivo (</a:t>
            </a:r>
            <a:r>
              <a:rPr lang="es-ES" dirty="0" err="1" smtClean="0"/>
              <a:t>boolean</a:t>
            </a:r>
            <a:r>
              <a:rPr lang="es-ES" dirty="0" smtClean="0"/>
              <a:t>, </a:t>
            </a:r>
            <a:r>
              <a:rPr lang="es-ES" dirty="0" err="1" smtClean="0"/>
              <a:t>int</a:t>
            </a:r>
            <a:r>
              <a:rPr lang="es-ES" dirty="0" smtClean="0"/>
              <a:t>, </a:t>
            </a:r>
            <a:r>
              <a:rPr lang="es-ES" dirty="0" err="1" smtClean="0"/>
              <a:t>double</a:t>
            </a:r>
            <a:r>
              <a:rPr lang="es-ES" dirty="0" smtClean="0"/>
              <a:t>, </a:t>
            </a:r>
            <a:r>
              <a:rPr lang="es-ES" dirty="0" err="1" smtClean="0"/>
              <a:t>char</a:t>
            </a:r>
            <a:r>
              <a:rPr lang="es-ES" dirty="0" smtClean="0"/>
              <a:t>...)</a:t>
            </a:r>
          </a:p>
          <a:p>
            <a:r>
              <a:rPr lang="es-ES" dirty="0" smtClean="0"/>
              <a:t>Pueden ser, a su vez, de otro tipo de objeto (lo que se denomina </a:t>
            </a:r>
            <a:r>
              <a:rPr lang="es-ES" i="1" dirty="0" smtClean="0"/>
              <a:t>agregación o composición</a:t>
            </a:r>
            <a:r>
              <a:rPr lang="es-ES" dirty="0" smtClean="0"/>
              <a:t> de objetos).</a:t>
            </a:r>
          </a:p>
          <a:p>
            <a:r>
              <a:rPr lang="es-ES" dirty="0" smtClean="0"/>
              <a:t>La idea es que un atributo representa una propiedad determinada de un objeto. </a:t>
            </a:r>
          </a:p>
        </p:txBody>
      </p:sp>
    </p:spTree>
    <p:extLst>
      <p:ext uri="{BB962C8B-B14F-4D97-AF65-F5344CB8AC3E}">
        <p14:creationId xmlns:p14="http://schemas.microsoft.com/office/powerpoint/2010/main" val="3100896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p:txBody>
          <a:bodyPr>
            <a:normAutofit lnSpcReduction="10000"/>
          </a:bodyPr>
          <a:lstStyle/>
          <a:p>
            <a:pPr marL="0" indent="0" algn="ctr">
              <a:buNone/>
            </a:pPr>
            <a:r>
              <a:rPr lang="es-ES" b="1" u="sng" dirty="0" smtClean="0">
                <a:solidFill>
                  <a:srgbClr val="FFC000"/>
                </a:solidFill>
              </a:rPr>
              <a:t>Rutinas o </a:t>
            </a:r>
            <a:r>
              <a:rPr lang="es-ES" b="1" i="1" u="sng" dirty="0" smtClean="0">
                <a:solidFill>
                  <a:srgbClr val="FFC000"/>
                </a:solidFill>
              </a:rPr>
              <a:t>métodos</a:t>
            </a:r>
            <a:endParaRPr lang="es-ES" b="1" u="sng" dirty="0" smtClean="0">
              <a:solidFill>
                <a:srgbClr val="FFC000"/>
              </a:solidFill>
            </a:endParaRPr>
          </a:p>
          <a:p>
            <a:r>
              <a:rPr lang="es-ES" dirty="0" smtClean="0"/>
              <a:t>En principio, todas las variables y rutinas de un programa de Java deben pertenecer a una clase.</a:t>
            </a:r>
          </a:p>
          <a:p>
            <a:r>
              <a:rPr lang="es-ES" dirty="0" smtClean="0"/>
              <a:t>De hecho, en Java no hay noción de programa principal</a:t>
            </a:r>
          </a:p>
          <a:p>
            <a:r>
              <a:rPr lang="es-ES" dirty="0" smtClean="0"/>
              <a:t>Las subrutinas no existen como unidades modulares independientes, sino que forman siempre parte de alguna clase.</a:t>
            </a:r>
            <a:endParaRPr lang="es-AR" dirty="0" smtClean="0"/>
          </a:p>
          <a:p>
            <a:endParaRPr lang="es-AR" dirty="0"/>
          </a:p>
        </p:txBody>
      </p:sp>
    </p:spTree>
    <p:extLst>
      <p:ext uri="{BB962C8B-B14F-4D97-AF65-F5344CB8AC3E}">
        <p14:creationId xmlns:p14="http://schemas.microsoft.com/office/powerpoint/2010/main" val="926234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p:txBody>
          <a:bodyPr>
            <a:normAutofit fontScale="62500" lnSpcReduction="20000"/>
          </a:bodyPr>
          <a:lstStyle/>
          <a:p>
            <a:pPr marL="0" indent="0" algn="ctr">
              <a:buNone/>
            </a:pPr>
            <a:r>
              <a:rPr lang="es-ES" sz="4000" b="1" u="sng" dirty="0" smtClean="0">
                <a:solidFill>
                  <a:srgbClr val="FFC000"/>
                </a:solidFill>
                <a:effectLst>
                  <a:outerShdw blurRad="38100" dist="38100" dir="2700000" algn="tl">
                    <a:srgbClr val="000000">
                      <a:alpha val="43137"/>
                    </a:srgbClr>
                  </a:outerShdw>
                </a:effectLst>
              </a:rPr>
              <a:t>Clases</a:t>
            </a:r>
          </a:p>
          <a:p>
            <a:r>
              <a:rPr lang="es-ES" sz="3800" dirty="0"/>
              <a:t>Una </a:t>
            </a:r>
            <a:r>
              <a:rPr lang="es-ES" sz="3800" i="1" dirty="0"/>
              <a:t>clase</a:t>
            </a:r>
            <a:r>
              <a:rPr lang="es-ES" sz="3800" dirty="0"/>
              <a:t> representa al conjunto de objetos que comparten una estructura y un comportamiento comunes</a:t>
            </a:r>
            <a:r>
              <a:rPr lang="es-ES" sz="3800" dirty="0" smtClean="0"/>
              <a:t>.</a:t>
            </a:r>
          </a:p>
          <a:p>
            <a:r>
              <a:rPr lang="es-ES" sz="3800" dirty="0" smtClean="0"/>
              <a:t>Una </a:t>
            </a:r>
            <a:r>
              <a:rPr lang="es-ES" sz="3800" dirty="0"/>
              <a:t>clase es una combinación específica de atributos y métodos y puede considerarse un tipo de dato de cualquier tipo </a:t>
            </a:r>
            <a:r>
              <a:rPr lang="es-ES" sz="3800" b="1" dirty="0"/>
              <a:t>no</a:t>
            </a:r>
            <a:r>
              <a:rPr lang="es-ES" sz="3800" dirty="0"/>
              <a:t> primitivo</a:t>
            </a:r>
            <a:r>
              <a:rPr lang="es-ES" sz="3800" dirty="0" smtClean="0"/>
              <a:t>.</a:t>
            </a:r>
          </a:p>
          <a:p>
            <a:r>
              <a:rPr lang="es-ES" sz="3800" dirty="0" smtClean="0"/>
              <a:t>Una </a:t>
            </a:r>
            <a:r>
              <a:rPr lang="es-ES" sz="3800" dirty="0"/>
              <a:t>clase es una especie de </a:t>
            </a:r>
            <a:r>
              <a:rPr lang="es-ES" sz="3800" i="1" dirty="0"/>
              <a:t>plantilla o prototipo</a:t>
            </a:r>
            <a:r>
              <a:rPr lang="es-ES" sz="3800" dirty="0"/>
              <a:t> de objetos: define los atributos que componen ese tipo de objetos y los métodos que pueden emplearse para trabajar con esos objetos</a:t>
            </a:r>
            <a:r>
              <a:rPr lang="es-ES" sz="3800" dirty="0" smtClean="0"/>
              <a:t>.</a:t>
            </a:r>
          </a:p>
          <a:p>
            <a:r>
              <a:rPr lang="es-ES" sz="3800" dirty="0" smtClean="0"/>
              <a:t>Por </a:t>
            </a:r>
            <a:r>
              <a:rPr lang="es-ES" sz="3800" dirty="0"/>
              <a:t>otro lado, una clase también puede estar compuesta por métodos estáticos que no necesitan de objetos (como las clases construidas en los capítulos anteriores que contienen un método estático </a:t>
            </a:r>
            <a:r>
              <a:rPr lang="es-ES" sz="3800" dirty="0" err="1" smtClean="0"/>
              <a:t>main</a:t>
            </a:r>
            <a:r>
              <a:rPr lang="es-ES" sz="3800" dirty="0"/>
              <a:t>). </a:t>
            </a:r>
            <a:endParaRPr lang="es-AR" sz="3800" dirty="0"/>
          </a:p>
        </p:txBody>
      </p:sp>
    </p:spTree>
    <p:extLst>
      <p:ext uri="{BB962C8B-B14F-4D97-AF65-F5344CB8AC3E}">
        <p14:creationId xmlns:p14="http://schemas.microsoft.com/office/powerpoint/2010/main" val="2503156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p:txBody>
          <a:bodyPr>
            <a:normAutofit fontScale="70000" lnSpcReduction="20000"/>
          </a:bodyPr>
          <a:lstStyle/>
          <a:p>
            <a:pPr marL="0" indent="0" algn="ctr">
              <a:buNone/>
            </a:pPr>
            <a:r>
              <a:rPr lang="es-ES" b="1" u="sng" dirty="0" smtClean="0">
                <a:solidFill>
                  <a:srgbClr val="FFC000"/>
                </a:solidFill>
                <a:effectLst>
                  <a:outerShdw blurRad="38100" dist="38100" dir="2700000" algn="tl">
                    <a:srgbClr val="000000">
                      <a:alpha val="43137"/>
                    </a:srgbClr>
                  </a:outerShdw>
                </a:effectLst>
              </a:rPr>
              <a:t>Instancias</a:t>
            </a:r>
          </a:p>
          <a:p>
            <a:r>
              <a:rPr lang="es-ES" dirty="0"/>
              <a:t>Una instancia es un elemento tangible (ocupa memoria durante la ejecución del programa) generado a partir de una definición de clase. Todos los objetos empleados en un programa han de pertenecer a una clase determinada.</a:t>
            </a:r>
          </a:p>
          <a:p>
            <a:r>
              <a:rPr lang="es-ES" dirty="0"/>
              <a:t>Aunque el término a veces se emplea de una forma imprecisa, un objeto es una </a:t>
            </a:r>
            <a:r>
              <a:rPr lang="es-ES" i="1" dirty="0"/>
              <a:t>instancia</a:t>
            </a:r>
            <a:r>
              <a:rPr lang="es-ES" dirty="0"/>
              <a:t> de una clase predefinida en Java o declarada por el usuario y </a:t>
            </a:r>
            <a:r>
              <a:rPr lang="es-ES" i="1" dirty="0"/>
              <a:t>referenciada</a:t>
            </a:r>
            <a:r>
              <a:rPr lang="es-ES" dirty="0"/>
              <a:t> por una variable que almacena su dirección de memoria. </a:t>
            </a:r>
          </a:p>
          <a:p>
            <a:r>
              <a:rPr lang="es-ES" dirty="0"/>
              <a:t>En general, el </a:t>
            </a:r>
            <a:r>
              <a:rPr lang="es-ES" i="1" dirty="0"/>
              <a:t>acceso</a:t>
            </a:r>
            <a:r>
              <a:rPr lang="es-ES" dirty="0"/>
              <a:t> a los atributos se realiza a través del operador punto, que separa al identificador de la referencia del identificador del atributo (</a:t>
            </a:r>
            <a:r>
              <a:rPr lang="es-ES" dirty="0" err="1"/>
              <a:t>idReferencia.idAtributo</a:t>
            </a:r>
            <a:r>
              <a:rPr lang="es-ES" dirty="0"/>
              <a:t>). Las llamadas a los métodos para realizar las distintas acciones se llevan a cabo separando los identificadores de la referencia y del método correspondiente con el operador punto (</a:t>
            </a:r>
            <a:r>
              <a:rPr lang="es-ES" dirty="0" err="1"/>
              <a:t>idReferencia.idMetodo</a:t>
            </a:r>
            <a:r>
              <a:rPr lang="es-ES" dirty="0"/>
              <a:t>(</a:t>
            </a:r>
            <a:r>
              <a:rPr lang="es-ES" dirty="0" err="1"/>
              <a:t>parametros</a:t>
            </a:r>
            <a:r>
              <a:rPr lang="es-ES" dirty="0"/>
              <a:t>)).</a:t>
            </a:r>
          </a:p>
          <a:p>
            <a:endParaRPr lang="es-AR" dirty="0"/>
          </a:p>
        </p:txBody>
      </p:sp>
    </p:spTree>
    <p:extLst>
      <p:ext uri="{BB962C8B-B14F-4D97-AF65-F5344CB8AC3E}">
        <p14:creationId xmlns:p14="http://schemas.microsoft.com/office/powerpoint/2010/main" val="2503156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a:xfrm>
            <a:off x="457200" y="1600200"/>
            <a:ext cx="8229600" cy="4997152"/>
          </a:xfrm>
        </p:spPr>
        <p:txBody>
          <a:bodyPr>
            <a:normAutofit fontScale="77500" lnSpcReduction="20000"/>
          </a:bodyPr>
          <a:lstStyle/>
          <a:p>
            <a:pPr marL="0" indent="0" algn="ctr">
              <a:buNone/>
            </a:pPr>
            <a:r>
              <a:rPr lang="es-ES" b="1" u="sng" dirty="0" smtClean="0">
                <a:solidFill>
                  <a:srgbClr val="FFC000"/>
                </a:solidFill>
                <a:effectLst>
                  <a:outerShdw blurRad="38100" dist="38100" dir="2700000" algn="tl">
                    <a:srgbClr val="000000">
                      <a:alpha val="43137"/>
                    </a:srgbClr>
                  </a:outerShdw>
                </a:effectLst>
              </a:rPr>
              <a:t>Instancias</a:t>
            </a:r>
          </a:p>
          <a:p>
            <a:pPr marL="0" indent="0">
              <a:buNone/>
            </a:pPr>
            <a:r>
              <a:rPr lang="es-AR" dirty="0" smtClean="0"/>
              <a:t>/** Ejemplo </a:t>
            </a:r>
            <a:r>
              <a:rPr lang="es-AR" dirty="0"/>
              <a:t>de </a:t>
            </a:r>
            <a:r>
              <a:rPr lang="es-AR" dirty="0" err="1"/>
              <a:t>declaracion</a:t>
            </a:r>
            <a:r>
              <a:rPr lang="es-AR" dirty="0"/>
              <a:t> de la clase Precio </a:t>
            </a:r>
            <a:r>
              <a:rPr lang="es-AR" dirty="0" smtClean="0"/>
              <a:t> </a:t>
            </a:r>
          </a:p>
          <a:p>
            <a:pPr marL="0" indent="0">
              <a:buNone/>
            </a:pPr>
            <a:r>
              <a:rPr lang="es-AR" dirty="0"/>
              <a:t> </a:t>
            </a:r>
            <a:r>
              <a:rPr lang="es-AR" dirty="0" smtClean="0"/>
              <a:t>* </a:t>
            </a:r>
            <a:r>
              <a:rPr lang="es-AR" dirty="0"/>
              <a:t> </a:t>
            </a:r>
            <a:r>
              <a:rPr lang="es-AR" dirty="0" err="1"/>
              <a:t>double</a:t>
            </a:r>
            <a:r>
              <a:rPr lang="es-AR" dirty="0"/>
              <a:t> da() --&gt; devuelve el valor almacenado en euros </a:t>
            </a:r>
            <a:endParaRPr lang="es-AR" dirty="0" smtClean="0"/>
          </a:p>
          <a:p>
            <a:pPr marL="0" indent="0">
              <a:buNone/>
            </a:pPr>
            <a:r>
              <a:rPr lang="es-AR" dirty="0"/>
              <a:t> </a:t>
            </a:r>
            <a:r>
              <a:rPr lang="es-AR" dirty="0" smtClean="0"/>
              <a:t>* </a:t>
            </a:r>
            <a:r>
              <a:rPr lang="es-AR" dirty="0"/>
              <a:t> </a:t>
            </a:r>
            <a:r>
              <a:rPr lang="es-AR" dirty="0" err="1"/>
              <a:t>void</a:t>
            </a:r>
            <a:r>
              <a:rPr lang="es-AR" dirty="0"/>
              <a:t> pone( </a:t>
            </a:r>
            <a:r>
              <a:rPr lang="es-AR" dirty="0" err="1"/>
              <a:t>double</a:t>
            </a:r>
            <a:r>
              <a:rPr lang="es-AR" dirty="0"/>
              <a:t> x ) --&gt; almacena valor en euros  </a:t>
            </a:r>
            <a:r>
              <a:rPr lang="es-AR" dirty="0" smtClean="0"/>
              <a:t>  */ </a:t>
            </a:r>
          </a:p>
          <a:p>
            <a:pPr marL="0" indent="0">
              <a:buNone/>
            </a:pPr>
            <a:r>
              <a:rPr lang="es-AR" dirty="0" err="1" smtClean="0"/>
              <a:t>public</a:t>
            </a:r>
            <a:r>
              <a:rPr lang="es-AR" dirty="0" smtClean="0"/>
              <a:t> </a:t>
            </a:r>
            <a:r>
              <a:rPr lang="es-AR" dirty="0" err="1"/>
              <a:t>class</a:t>
            </a:r>
            <a:r>
              <a:rPr lang="es-AR" dirty="0" smtClean="0"/>
              <a:t> Precio {</a:t>
            </a:r>
          </a:p>
          <a:p>
            <a:pPr marL="0" indent="0">
              <a:buNone/>
            </a:pPr>
            <a:r>
              <a:rPr lang="es-AR" dirty="0"/>
              <a:t> </a:t>
            </a:r>
            <a:r>
              <a:rPr lang="es-AR" dirty="0" smtClean="0"/>
              <a:t>    </a:t>
            </a:r>
            <a:r>
              <a:rPr lang="es-AR" dirty="0" err="1" smtClean="0"/>
              <a:t>public</a:t>
            </a:r>
            <a:r>
              <a:rPr lang="es-AR" dirty="0" smtClean="0"/>
              <a:t> </a:t>
            </a:r>
            <a:r>
              <a:rPr lang="es-AR" dirty="0" err="1"/>
              <a:t>double</a:t>
            </a:r>
            <a:r>
              <a:rPr lang="es-AR" dirty="0" smtClean="0"/>
              <a:t> euros; // Atributo o variable miembro</a:t>
            </a:r>
          </a:p>
          <a:p>
            <a:pPr marL="0" indent="0">
              <a:buNone/>
            </a:pPr>
            <a:r>
              <a:rPr lang="es-AR" dirty="0"/>
              <a:t> </a:t>
            </a:r>
            <a:r>
              <a:rPr lang="es-AR" dirty="0" smtClean="0"/>
              <a:t>    </a:t>
            </a:r>
            <a:r>
              <a:rPr lang="es-AR" dirty="0" err="1"/>
              <a:t>public</a:t>
            </a:r>
            <a:r>
              <a:rPr lang="es-AR" dirty="0" smtClean="0"/>
              <a:t> </a:t>
            </a:r>
            <a:r>
              <a:rPr lang="es-AR" dirty="0" err="1"/>
              <a:t>double</a:t>
            </a:r>
            <a:r>
              <a:rPr lang="es-AR" dirty="0" smtClean="0"/>
              <a:t> da() {</a:t>
            </a:r>
          </a:p>
          <a:p>
            <a:pPr marL="0" indent="0">
              <a:buNone/>
            </a:pPr>
            <a:r>
              <a:rPr lang="es-AR" dirty="0"/>
              <a:t> </a:t>
            </a:r>
            <a:r>
              <a:rPr lang="es-AR" dirty="0" smtClean="0"/>
              <a:t>           </a:t>
            </a:r>
            <a:r>
              <a:rPr lang="es-AR" dirty="0" err="1"/>
              <a:t>return</a:t>
            </a:r>
            <a:r>
              <a:rPr lang="es-AR" dirty="0" smtClean="0"/>
              <a:t> </a:t>
            </a:r>
            <a:r>
              <a:rPr lang="es-AR" dirty="0" err="1"/>
              <a:t>this</a:t>
            </a:r>
            <a:r>
              <a:rPr lang="es-AR" dirty="0" err="1" smtClean="0"/>
              <a:t>.euros</a:t>
            </a:r>
            <a:r>
              <a:rPr lang="es-AR" dirty="0"/>
              <a:t>;</a:t>
            </a:r>
            <a:r>
              <a:rPr lang="es-AR" dirty="0" smtClean="0"/>
              <a:t> // </a:t>
            </a:r>
            <a:r>
              <a:rPr lang="es-AR" dirty="0" err="1" smtClean="0"/>
              <a:t>Metodo</a:t>
            </a:r>
            <a:endParaRPr lang="es-AR" dirty="0" smtClean="0"/>
          </a:p>
          <a:p>
            <a:pPr marL="0" indent="0">
              <a:buNone/>
            </a:pPr>
            <a:r>
              <a:rPr lang="es-AR" dirty="0"/>
              <a:t> </a:t>
            </a:r>
            <a:r>
              <a:rPr lang="es-AR" dirty="0" smtClean="0"/>
              <a:t>     }</a:t>
            </a:r>
          </a:p>
          <a:p>
            <a:pPr marL="0" indent="0">
              <a:buNone/>
            </a:pPr>
            <a:r>
              <a:rPr lang="es-AR" dirty="0"/>
              <a:t> </a:t>
            </a:r>
            <a:r>
              <a:rPr lang="es-AR" dirty="0" smtClean="0"/>
              <a:t>     </a:t>
            </a:r>
            <a:r>
              <a:rPr lang="es-AR" dirty="0" err="1" smtClean="0"/>
              <a:t>public</a:t>
            </a:r>
            <a:r>
              <a:rPr lang="es-AR" dirty="0" smtClean="0"/>
              <a:t> </a:t>
            </a:r>
            <a:r>
              <a:rPr lang="es-AR" dirty="0" err="1"/>
              <a:t>void</a:t>
            </a:r>
            <a:r>
              <a:rPr lang="es-AR" dirty="0" smtClean="0"/>
              <a:t> pone(</a:t>
            </a:r>
            <a:r>
              <a:rPr lang="es-AR" dirty="0" err="1"/>
              <a:t>double</a:t>
            </a:r>
            <a:r>
              <a:rPr lang="es-AR" dirty="0" smtClean="0"/>
              <a:t> x) {</a:t>
            </a:r>
          </a:p>
          <a:p>
            <a:pPr marL="0" indent="0">
              <a:buNone/>
            </a:pPr>
            <a:r>
              <a:rPr lang="es-AR" dirty="0"/>
              <a:t> </a:t>
            </a:r>
            <a:r>
              <a:rPr lang="es-AR" dirty="0" smtClean="0"/>
              <a:t>           </a:t>
            </a:r>
            <a:r>
              <a:rPr lang="es-AR" dirty="0" err="1" smtClean="0"/>
              <a:t>this.euros</a:t>
            </a:r>
            <a:r>
              <a:rPr lang="es-AR" dirty="0" smtClean="0"/>
              <a:t> </a:t>
            </a:r>
            <a:r>
              <a:rPr lang="es-AR" dirty="0"/>
              <a:t>=</a:t>
            </a:r>
            <a:r>
              <a:rPr lang="es-AR" dirty="0" smtClean="0"/>
              <a:t> x; // </a:t>
            </a:r>
            <a:r>
              <a:rPr lang="es-AR" dirty="0" err="1" smtClean="0"/>
              <a:t>Metodo</a:t>
            </a:r>
            <a:endParaRPr lang="es-AR" dirty="0" smtClean="0"/>
          </a:p>
          <a:p>
            <a:pPr marL="0" indent="0">
              <a:buNone/>
            </a:pPr>
            <a:r>
              <a:rPr lang="es-AR" dirty="0" smtClean="0"/>
              <a:t>       }</a:t>
            </a:r>
          </a:p>
          <a:p>
            <a:pPr marL="0" indent="0">
              <a:buNone/>
            </a:pPr>
            <a:r>
              <a:rPr lang="es-AR" dirty="0" smtClean="0"/>
              <a:t>}</a:t>
            </a:r>
            <a:endParaRPr lang="es-AR" dirty="0"/>
          </a:p>
        </p:txBody>
      </p:sp>
    </p:spTree>
    <p:extLst>
      <p:ext uri="{BB962C8B-B14F-4D97-AF65-F5344CB8AC3E}">
        <p14:creationId xmlns:p14="http://schemas.microsoft.com/office/powerpoint/2010/main" val="2409276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a:xfrm>
            <a:off x="457200" y="1600200"/>
            <a:ext cx="8229600" cy="4997152"/>
          </a:xfrm>
        </p:spPr>
        <p:txBody>
          <a:bodyPr>
            <a:normAutofit fontScale="62500" lnSpcReduction="20000"/>
          </a:bodyPr>
          <a:lstStyle/>
          <a:p>
            <a:pPr marL="0" indent="0" algn="ctr">
              <a:buNone/>
            </a:pPr>
            <a:r>
              <a:rPr lang="es-ES" b="1" u="sng" dirty="0" smtClean="0">
                <a:solidFill>
                  <a:srgbClr val="FFC000"/>
                </a:solidFill>
                <a:effectLst>
                  <a:outerShdw blurRad="38100" dist="38100" dir="2700000" algn="tl">
                    <a:srgbClr val="000000">
                      <a:alpha val="43137"/>
                    </a:srgbClr>
                  </a:outerShdw>
                </a:effectLst>
              </a:rPr>
              <a:t>Instancias</a:t>
            </a:r>
            <a:r>
              <a:rPr lang="es-ES" dirty="0"/>
              <a:t> </a:t>
            </a:r>
          </a:p>
          <a:p>
            <a:pPr marL="0" indent="0">
              <a:buNone/>
            </a:pPr>
            <a:r>
              <a:rPr lang="es-ES" dirty="0" smtClean="0"/>
              <a:t>/** </a:t>
            </a:r>
            <a:r>
              <a:rPr lang="es-ES" dirty="0"/>
              <a:t>* Ejemplo de uso de la clase Precio </a:t>
            </a:r>
            <a:r>
              <a:rPr lang="es-ES" dirty="0" smtClean="0"/>
              <a:t>*/</a:t>
            </a:r>
          </a:p>
          <a:p>
            <a:pPr marL="0" indent="0">
              <a:buNone/>
            </a:pPr>
            <a:r>
              <a:rPr lang="es-ES" dirty="0" err="1" smtClean="0"/>
              <a:t>public</a:t>
            </a:r>
            <a:r>
              <a:rPr lang="es-ES" dirty="0" smtClean="0"/>
              <a:t> </a:t>
            </a:r>
            <a:r>
              <a:rPr lang="es-ES" dirty="0" err="1"/>
              <a:t>class</a:t>
            </a:r>
            <a:r>
              <a:rPr lang="es-ES" dirty="0" smtClean="0"/>
              <a:t> </a:t>
            </a:r>
            <a:r>
              <a:rPr lang="es-ES" dirty="0" err="1" smtClean="0"/>
              <a:t>PruebaPrecio</a:t>
            </a:r>
            <a:r>
              <a:rPr lang="es-ES" dirty="0" smtClean="0"/>
              <a:t> {</a:t>
            </a:r>
          </a:p>
          <a:p>
            <a:pPr marL="0" indent="0">
              <a:buNone/>
            </a:pPr>
            <a:r>
              <a:rPr lang="es-ES" dirty="0" smtClean="0"/>
              <a:t>     </a:t>
            </a:r>
            <a:r>
              <a:rPr lang="es-ES" dirty="0" err="1" smtClean="0"/>
              <a:t>public</a:t>
            </a:r>
            <a:r>
              <a:rPr lang="es-ES" dirty="0" smtClean="0"/>
              <a:t> </a:t>
            </a:r>
            <a:r>
              <a:rPr lang="es-ES" dirty="0" err="1"/>
              <a:t>static</a:t>
            </a:r>
            <a:r>
              <a:rPr lang="es-ES" dirty="0" smtClean="0"/>
              <a:t> </a:t>
            </a:r>
            <a:r>
              <a:rPr lang="es-ES" dirty="0" err="1"/>
              <a:t>void</a:t>
            </a:r>
            <a:r>
              <a:rPr lang="es-ES" dirty="0" smtClean="0"/>
              <a:t> </a:t>
            </a:r>
            <a:r>
              <a:rPr lang="es-ES" dirty="0" err="1" smtClean="0"/>
              <a:t>main</a:t>
            </a:r>
            <a:r>
              <a:rPr lang="es-ES" dirty="0" smtClean="0"/>
              <a:t> (</a:t>
            </a:r>
            <a:r>
              <a:rPr lang="es-ES" dirty="0" err="1"/>
              <a:t>String</a:t>
            </a:r>
            <a:r>
              <a:rPr lang="es-ES" dirty="0" smtClean="0"/>
              <a:t> []</a:t>
            </a:r>
            <a:r>
              <a:rPr lang="es-ES" dirty="0" err="1" smtClean="0"/>
              <a:t>args</a:t>
            </a:r>
            <a:r>
              <a:rPr lang="es-ES" dirty="0" smtClean="0"/>
              <a:t> ) {</a:t>
            </a:r>
          </a:p>
          <a:p>
            <a:pPr marL="0" indent="0">
              <a:buNone/>
            </a:pPr>
            <a:r>
              <a:rPr lang="es-ES" dirty="0"/>
              <a:t> </a:t>
            </a:r>
            <a:r>
              <a:rPr lang="es-ES" dirty="0" smtClean="0"/>
              <a:t>          Precio p</a:t>
            </a:r>
            <a:r>
              <a:rPr lang="es-ES" dirty="0"/>
              <a:t>;</a:t>
            </a:r>
            <a:r>
              <a:rPr lang="es-ES" dirty="0" smtClean="0"/>
              <a:t> </a:t>
            </a:r>
            <a:r>
              <a:rPr lang="es-ES" dirty="0"/>
              <a:t>// Crea una referencia de la clase </a:t>
            </a:r>
            <a:r>
              <a:rPr lang="es-ES" dirty="0" smtClean="0"/>
              <a:t>Precio</a:t>
            </a:r>
          </a:p>
          <a:p>
            <a:pPr marL="0" indent="0">
              <a:buNone/>
            </a:pPr>
            <a:r>
              <a:rPr lang="es-ES" dirty="0" smtClean="0"/>
              <a:t>           p </a:t>
            </a:r>
            <a:r>
              <a:rPr lang="es-ES" dirty="0"/>
              <a:t>=</a:t>
            </a:r>
            <a:r>
              <a:rPr lang="es-ES" dirty="0" smtClean="0"/>
              <a:t> </a:t>
            </a:r>
            <a:r>
              <a:rPr lang="es-ES" dirty="0"/>
              <a:t>new</a:t>
            </a:r>
            <a:r>
              <a:rPr lang="es-ES" dirty="0" smtClean="0"/>
              <a:t> Precio()</a:t>
            </a:r>
            <a:r>
              <a:rPr lang="es-ES" dirty="0"/>
              <a:t>;</a:t>
            </a:r>
            <a:r>
              <a:rPr lang="es-ES" dirty="0" smtClean="0"/>
              <a:t> </a:t>
            </a:r>
            <a:r>
              <a:rPr lang="es-ES" dirty="0"/>
              <a:t>// Crea el objeto de la </a:t>
            </a:r>
            <a:r>
              <a:rPr lang="es-ES" dirty="0" smtClean="0"/>
              <a:t>clase Precio </a:t>
            </a:r>
          </a:p>
          <a:p>
            <a:pPr marL="0" indent="0">
              <a:buNone/>
            </a:pPr>
            <a:r>
              <a:rPr lang="es-ES" dirty="0" smtClean="0"/>
              <a:t>           </a:t>
            </a:r>
            <a:r>
              <a:rPr lang="es-ES" dirty="0" err="1" smtClean="0"/>
              <a:t>p.pone</a:t>
            </a:r>
            <a:r>
              <a:rPr lang="es-ES" dirty="0" smtClean="0"/>
              <a:t>(56.8)</a:t>
            </a:r>
            <a:r>
              <a:rPr lang="es-ES" dirty="0"/>
              <a:t>;</a:t>
            </a:r>
            <a:r>
              <a:rPr lang="es-ES" dirty="0" smtClean="0"/>
              <a:t> </a:t>
            </a:r>
            <a:r>
              <a:rPr lang="es-ES" dirty="0"/>
              <a:t>// Llamada al </a:t>
            </a:r>
            <a:r>
              <a:rPr lang="es-ES" dirty="0" err="1"/>
              <a:t>metodo</a:t>
            </a:r>
            <a:r>
              <a:rPr lang="es-ES" dirty="0"/>
              <a:t> </a:t>
            </a:r>
            <a:r>
              <a:rPr lang="es-ES" dirty="0" smtClean="0"/>
              <a:t>pone</a:t>
            </a:r>
          </a:p>
          <a:p>
            <a:pPr marL="0" indent="0">
              <a:buNone/>
            </a:pPr>
            <a:r>
              <a:rPr lang="es-ES" dirty="0"/>
              <a:t> </a:t>
            </a:r>
            <a:r>
              <a:rPr lang="es-ES" dirty="0" smtClean="0"/>
              <a:t>                                    // </a:t>
            </a:r>
            <a:r>
              <a:rPr lang="es-ES" dirty="0"/>
              <a:t>que asigna 56.8 al atributo euros</a:t>
            </a:r>
            <a:r>
              <a:rPr lang="es-ES" dirty="0" smtClean="0"/>
              <a:t> </a:t>
            </a:r>
          </a:p>
          <a:p>
            <a:pPr marL="0" indent="0">
              <a:buNone/>
            </a:pPr>
            <a:r>
              <a:rPr lang="es-ES" dirty="0"/>
              <a:t> </a:t>
            </a:r>
            <a:r>
              <a:rPr lang="es-ES" dirty="0" smtClean="0"/>
              <a:t>          // </a:t>
            </a:r>
            <a:r>
              <a:rPr lang="es-ES" dirty="0"/>
              <a:t>Llamada al </a:t>
            </a:r>
            <a:r>
              <a:rPr lang="es-ES" dirty="0" err="1"/>
              <a:t>metodo</a:t>
            </a:r>
            <a:r>
              <a:rPr lang="es-ES" dirty="0"/>
              <a:t> da que devuelve el valor de euros</a:t>
            </a:r>
            <a:r>
              <a:rPr lang="es-ES" dirty="0" smtClean="0"/>
              <a:t>    </a:t>
            </a:r>
          </a:p>
          <a:p>
            <a:pPr marL="0" indent="0">
              <a:buNone/>
            </a:pPr>
            <a:r>
              <a:rPr lang="es-ES" dirty="0"/>
              <a:t> </a:t>
            </a:r>
            <a:r>
              <a:rPr lang="es-ES" dirty="0" smtClean="0"/>
              <a:t>          </a:t>
            </a:r>
            <a:r>
              <a:rPr lang="es-ES" dirty="0" err="1" smtClean="0"/>
              <a:t>System.out.println</a:t>
            </a:r>
            <a:r>
              <a:rPr lang="es-ES" dirty="0" smtClean="0"/>
              <a:t>(</a:t>
            </a:r>
            <a:r>
              <a:rPr lang="es-ES" dirty="0"/>
              <a:t>"Valor = "</a:t>
            </a:r>
            <a:r>
              <a:rPr lang="es-ES" dirty="0" smtClean="0"/>
              <a:t> </a:t>
            </a:r>
            <a:r>
              <a:rPr lang="es-ES" dirty="0"/>
              <a:t>+</a:t>
            </a:r>
            <a:r>
              <a:rPr lang="es-ES" dirty="0" smtClean="0"/>
              <a:t> </a:t>
            </a:r>
            <a:r>
              <a:rPr lang="es-ES" dirty="0" err="1" smtClean="0"/>
              <a:t>p.da</a:t>
            </a:r>
            <a:r>
              <a:rPr lang="es-ES" dirty="0" smtClean="0"/>
              <a:t>());</a:t>
            </a:r>
          </a:p>
          <a:p>
            <a:pPr marL="0" indent="0">
              <a:buNone/>
            </a:pPr>
            <a:r>
              <a:rPr lang="es-ES" dirty="0"/>
              <a:t> </a:t>
            </a:r>
            <a:r>
              <a:rPr lang="es-ES" dirty="0" smtClean="0"/>
              <a:t>          Precio q </a:t>
            </a:r>
            <a:r>
              <a:rPr lang="es-ES" dirty="0"/>
              <a:t>=</a:t>
            </a:r>
            <a:r>
              <a:rPr lang="es-ES" dirty="0" smtClean="0"/>
              <a:t> </a:t>
            </a:r>
            <a:r>
              <a:rPr lang="es-ES" dirty="0"/>
              <a:t>new</a:t>
            </a:r>
            <a:r>
              <a:rPr lang="es-ES" dirty="0" smtClean="0"/>
              <a:t> Precio()</a:t>
            </a:r>
            <a:r>
              <a:rPr lang="es-ES" dirty="0"/>
              <a:t>;</a:t>
            </a:r>
            <a:r>
              <a:rPr lang="es-ES" dirty="0" smtClean="0"/>
              <a:t> </a:t>
            </a:r>
            <a:r>
              <a:rPr lang="es-ES" dirty="0"/>
              <a:t>// Crea una referencia y el </a:t>
            </a:r>
            <a:r>
              <a:rPr lang="es-ES" dirty="0" smtClean="0"/>
              <a:t>objeto</a:t>
            </a:r>
          </a:p>
          <a:p>
            <a:pPr marL="0" indent="0">
              <a:buNone/>
            </a:pPr>
            <a:r>
              <a:rPr lang="es-ES" dirty="0"/>
              <a:t> </a:t>
            </a:r>
            <a:r>
              <a:rPr lang="es-ES" dirty="0" smtClean="0"/>
              <a:t>          </a:t>
            </a:r>
            <a:r>
              <a:rPr lang="es-ES" dirty="0" err="1" smtClean="0"/>
              <a:t>q.euros</a:t>
            </a:r>
            <a:r>
              <a:rPr lang="es-ES" dirty="0" smtClean="0"/>
              <a:t>=75.6</a:t>
            </a:r>
            <a:r>
              <a:rPr lang="es-ES" dirty="0"/>
              <a:t>;</a:t>
            </a:r>
            <a:r>
              <a:rPr lang="es-ES" dirty="0" smtClean="0"/>
              <a:t> </a:t>
            </a:r>
            <a:r>
              <a:rPr lang="es-ES" dirty="0"/>
              <a:t>// Asigna 75.6 al atributo </a:t>
            </a:r>
            <a:r>
              <a:rPr lang="es-ES" dirty="0" smtClean="0"/>
              <a:t>euros</a:t>
            </a:r>
          </a:p>
          <a:p>
            <a:pPr marL="0" indent="0">
              <a:buNone/>
            </a:pPr>
            <a:r>
              <a:rPr lang="es-ES" dirty="0"/>
              <a:t> </a:t>
            </a:r>
            <a:r>
              <a:rPr lang="es-ES" dirty="0" smtClean="0"/>
              <a:t>          </a:t>
            </a:r>
            <a:r>
              <a:rPr lang="es-ES" dirty="0" err="1"/>
              <a:t>System</a:t>
            </a:r>
            <a:r>
              <a:rPr lang="es-ES" dirty="0" err="1" smtClean="0"/>
              <a:t>.out.println</a:t>
            </a:r>
            <a:r>
              <a:rPr lang="es-ES" dirty="0" smtClean="0"/>
              <a:t>(</a:t>
            </a:r>
            <a:r>
              <a:rPr lang="es-ES" dirty="0"/>
              <a:t>"Valor = "</a:t>
            </a:r>
            <a:r>
              <a:rPr lang="es-ES" dirty="0" smtClean="0"/>
              <a:t> </a:t>
            </a:r>
            <a:r>
              <a:rPr lang="es-ES" dirty="0"/>
              <a:t>+</a:t>
            </a:r>
            <a:r>
              <a:rPr lang="es-ES" dirty="0" smtClean="0"/>
              <a:t> </a:t>
            </a:r>
            <a:r>
              <a:rPr lang="es-ES" dirty="0" err="1" smtClean="0"/>
              <a:t>q.euros</a:t>
            </a:r>
            <a:r>
              <a:rPr lang="es-ES" dirty="0" smtClean="0"/>
              <a:t>)</a:t>
            </a:r>
            <a:r>
              <a:rPr lang="es-ES" dirty="0"/>
              <a:t>;</a:t>
            </a:r>
            <a:r>
              <a:rPr lang="es-ES" dirty="0" smtClean="0"/>
              <a:t> </a:t>
            </a:r>
          </a:p>
          <a:p>
            <a:pPr marL="0" indent="0">
              <a:buNone/>
            </a:pPr>
            <a:r>
              <a:rPr lang="es-ES" dirty="0" smtClean="0"/>
              <a:t>     }</a:t>
            </a:r>
          </a:p>
          <a:p>
            <a:pPr marL="0" indent="0">
              <a:buNone/>
            </a:pPr>
            <a:r>
              <a:rPr lang="es-ES" dirty="0" smtClean="0"/>
              <a:t>}  </a:t>
            </a:r>
            <a:endParaRPr lang="es-AR" dirty="0"/>
          </a:p>
        </p:txBody>
      </p:sp>
    </p:spTree>
    <p:extLst>
      <p:ext uri="{BB962C8B-B14F-4D97-AF65-F5344CB8AC3E}">
        <p14:creationId xmlns:p14="http://schemas.microsoft.com/office/powerpoint/2010/main" val="4045856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C000"/>
                </a:solidFill>
                <a:latin typeface="Verdana" panose="020B0604030504040204" pitchFamily="34" charset="0"/>
                <a:ea typeface="Verdana" panose="020B0604030504040204" pitchFamily="34" charset="0"/>
              </a:rPr>
              <a:t>METODOS Y CLASES</a:t>
            </a:r>
            <a:endParaRPr lang="es-AR" dirty="0"/>
          </a:p>
        </p:txBody>
      </p:sp>
      <p:sp>
        <p:nvSpPr>
          <p:cNvPr id="3" name="2 Marcador de contenido"/>
          <p:cNvSpPr>
            <a:spLocks noGrp="1"/>
          </p:cNvSpPr>
          <p:nvPr>
            <p:ph idx="1"/>
          </p:nvPr>
        </p:nvSpPr>
        <p:spPr>
          <a:xfrm>
            <a:off x="457200" y="1600200"/>
            <a:ext cx="8229600" cy="4853136"/>
          </a:xfrm>
        </p:spPr>
        <p:txBody>
          <a:bodyPr/>
          <a:lstStyle/>
          <a:p>
            <a:pPr marL="0" indent="0">
              <a:buNone/>
            </a:pPr>
            <a:r>
              <a:rPr lang="es-ES" dirty="0"/>
              <a:t> </a:t>
            </a:r>
            <a:r>
              <a:rPr lang="es-ES" dirty="0" smtClean="0"/>
              <a:t>p</a:t>
            </a:r>
          </a:p>
          <a:p>
            <a:pPr marL="0" indent="0">
              <a:buNone/>
            </a:pPr>
            <a:endParaRPr lang="es-ES" dirty="0"/>
          </a:p>
          <a:p>
            <a:pPr marL="0" indent="0">
              <a:buNone/>
            </a:pPr>
            <a:endParaRPr lang="es-ES" dirty="0" smtClean="0"/>
          </a:p>
          <a:p>
            <a:pPr marL="0" indent="0">
              <a:buNone/>
            </a:pPr>
            <a:endParaRPr lang="es-ES" dirty="0"/>
          </a:p>
          <a:p>
            <a:pPr marL="0" indent="0">
              <a:buNone/>
            </a:pPr>
            <a:r>
              <a:rPr lang="es-ES" dirty="0" smtClean="0"/>
              <a:t>  q</a:t>
            </a:r>
          </a:p>
          <a:p>
            <a:pPr marL="0" indent="0">
              <a:buNone/>
            </a:pPr>
            <a:endParaRPr lang="es-AR" dirty="0"/>
          </a:p>
        </p:txBody>
      </p:sp>
      <p:sp>
        <p:nvSpPr>
          <p:cNvPr id="4" name="3 Rectángulo"/>
          <p:cNvSpPr/>
          <p:nvPr/>
        </p:nvSpPr>
        <p:spPr>
          <a:xfrm>
            <a:off x="539552" y="1772816"/>
            <a:ext cx="576064" cy="576064"/>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4 Rectángulo redondeado"/>
          <p:cNvSpPr/>
          <p:nvPr/>
        </p:nvSpPr>
        <p:spPr>
          <a:xfrm>
            <a:off x="1619672" y="2636912"/>
            <a:ext cx="2232248" cy="122413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7" name="6 Conector recto"/>
          <p:cNvCxnSpPr/>
          <p:nvPr/>
        </p:nvCxnSpPr>
        <p:spPr>
          <a:xfrm>
            <a:off x="1619672" y="3140968"/>
            <a:ext cx="2232248"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1979712" y="2636912"/>
            <a:ext cx="1440160" cy="461665"/>
          </a:xfrm>
          <a:prstGeom prst="rect">
            <a:avLst/>
          </a:prstGeom>
          <a:noFill/>
        </p:spPr>
        <p:txBody>
          <a:bodyPr wrap="square" rtlCol="0">
            <a:spAutoFit/>
          </a:bodyPr>
          <a:lstStyle/>
          <a:p>
            <a:pPr algn="ctr"/>
            <a:r>
              <a:rPr lang="es-ES" sz="2400" dirty="0" smtClean="0"/>
              <a:t>Precio</a:t>
            </a:r>
            <a:endParaRPr lang="es-AR" sz="2400" dirty="0"/>
          </a:p>
        </p:txBody>
      </p:sp>
      <p:sp>
        <p:nvSpPr>
          <p:cNvPr id="9" name="8 CuadroTexto"/>
          <p:cNvSpPr txBox="1"/>
          <p:nvPr/>
        </p:nvSpPr>
        <p:spPr>
          <a:xfrm>
            <a:off x="1687368" y="3140968"/>
            <a:ext cx="939297" cy="461665"/>
          </a:xfrm>
          <a:prstGeom prst="rect">
            <a:avLst/>
          </a:prstGeom>
          <a:noFill/>
        </p:spPr>
        <p:txBody>
          <a:bodyPr wrap="square" rtlCol="0">
            <a:spAutoFit/>
          </a:bodyPr>
          <a:lstStyle/>
          <a:p>
            <a:r>
              <a:rPr lang="es-ES" sz="2400" dirty="0"/>
              <a:t>e</a:t>
            </a:r>
            <a:r>
              <a:rPr lang="es-ES" sz="2400" dirty="0" smtClean="0"/>
              <a:t>uros</a:t>
            </a:r>
            <a:endParaRPr lang="es-AR" sz="2400" dirty="0"/>
          </a:p>
        </p:txBody>
      </p:sp>
      <p:sp>
        <p:nvSpPr>
          <p:cNvPr id="10" name="9 Rectángulo"/>
          <p:cNvSpPr/>
          <p:nvPr/>
        </p:nvSpPr>
        <p:spPr>
          <a:xfrm>
            <a:off x="2735796" y="3176972"/>
            <a:ext cx="972108" cy="6120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1" name="10 CuadroTexto"/>
          <p:cNvSpPr txBox="1"/>
          <p:nvPr/>
        </p:nvSpPr>
        <p:spPr>
          <a:xfrm>
            <a:off x="2925134" y="3299003"/>
            <a:ext cx="593432" cy="369332"/>
          </a:xfrm>
          <a:prstGeom prst="rect">
            <a:avLst/>
          </a:prstGeom>
          <a:noFill/>
        </p:spPr>
        <p:txBody>
          <a:bodyPr wrap="none" rtlCol="0">
            <a:spAutoFit/>
          </a:bodyPr>
          <a:lstStyle/>
          <a:p>
            <a:r>
              <a:rPr lang="es-ES" dirty="0" smtClean="0"/>
              <a:t>56.8</a:t>
            </a:r>
            <a:endParaRPr lang="es-AR" dirty="0"/>
          </a:p>
        </p:txBody>
      </p:sp>
      <p:cxnSp>
        <p:nvCxnSpPr>
          <p:cNvPr id="13" name="12 Conector recto"/>
          <p:cNvCxnSpPr>
            <a:stCxn id="4" idx="2"/>
          </p:cNvCxnSpPr>
          <p:nvPr/>
        </p:nvCxnSpPr>
        <p:spPr>
          <a:xfrm>
            <a:off x="827584" y="2348880"/>
            <a:ext cx="0" cy="1134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14 Conector recto de flecha"/>
          <p:cNvCxnSpPr/>
          <p:nvPr/>
        </p:nvCxnSpPr>
        <p:spPr>
          <a:xfrm flipV="1">
            <a:off x="827584" y="3483006"/>
            <a:ext cx="792088" cy="663"/>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
        <p:nvSpPr>
          <p:cNvPr id="16" name="15 Rectángulo"/>
          <p:cNvSpPr/>
          <p:nvPr/>
        </p:nvSpPr>
        <p:spPr>
          <a:xfrm>
            <a:off x="613520" y="4077072"/>
            <a:ext cx="576064" cy="576064"/>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16 Rectángulo redondeado"/>
          <p:cNvSpPr/>
          <p:nvPr/>
        </p:nvSpPr>
        <p:spPr>
          <a:xfrm>
            <a:off x="1693640" y="4941168"/>
            <a:ext cx="2232248" cy="122413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18" name="17 Conector recto"/>
          <p:cNvCxnSpPr/>
          <p:nvPr/>
        </p:nvCxnSpPr>
        <p:spPr>
          <a:xfrm>
            <a:off x="1693640" y="5445224"/>
            <a:ext cx="2232248"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18 CuadroTexto"/>
          <p:cNvSpPr txBox="1"/>
          <p:nvPr/>
        </p:nvSpPr>
        <p:spPr>
          <a:xfrm>
            <a:off x="2053680" y="4941168"/>
            <a:ext cx="1440160" cy="461665"/>
          </a:xfrm>
          <a:prstGeom prst="rect">
            <a:avLst/>
          </a:prstGeom>
          <a:noFill/>
        </p:spPr>
        <p:txBody>
          <a:bodyPr wrap="square" rtlCol="0">
            <a:spAutoFit/>
          </a:bodyPr>
          <a:lstStyle/>
          <a:p>
            <a:pPr algn="ctr"/>
            <a:r>
              <a:rPr lang="es-ES" sz="2400" dirty="0" smtClean="0"/>
              <a:t>Precio</a:t>
            </a:r>
            <a:endParaRPr lang="es-AR" sz="2400" dirty="0"/>
          </a:p>
        </p:txBody>
      </p:sp>
      <p:sp>
        <p:nvSpPr>
          <p:cNvPr id="20" name="19 CuadroTexto"/>
          <p:cNvSpPr txBox="1"/>
          <p:nvPr/>
        </p:nvSpPr>
        <p:spPr>
          <a:xfrm>
            <a:off x="1761336" y="5445224"/>
            <a:ext cx="939297" cy="461665"/>
          </a:xfrm>
          <a:prstGeom prst="rect">
            <a:avLst/>
          </a:prstGeom>
          <a:noFill/>
        </p:spPr>
        <p:txBody>
          <a:bodyPr wrap="square" rtlCol="0">
            <a:spAutoFit/>
          </a:bodyPr>
          <a:lstStyle/>
          <a:p>
            <a:r>
              <a:rPr lang="es-ES" sz="2400" dirty="0"/>
              <a:t>e</a:t>
            </a:r>
            <a:r>
              <a:rPr lang="es-ES" sz="2400" dirty="0" smtClean="0"/>
              <a:t>uros</a:t>
            </a:r>
            <a:endParaRPr lang="es-AR" sz="2400" dirty="0"/>
          </a:p>
        </p:txBody>
      </p:sp>
      <p:sp>
        <p:nvSpPr>
          <p:cNvPr id="21" name="20 Rectángulo"/>
          <p:cNvSpPr/>
          <p:nvPr/>
        </p:nvSpPr>
        <p:spPr>
          <a:xfrm>
            <a:off x="2809764" y="5481228"/>
            <a:ext cx="972108" cy="6120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2" name="21 CuadroTexto"/>
          <p:cNvSpPr txBox="1"/>
          <p:nvPr/>
        </p:nvSpPr>
        <p:spPr>
          <a:xfrm>
            <a:off x="2999102" y="5603259"/>
            <a:ext cx="593432" cy="369332"/>
          </a:xfrm>
          <a:prstGeom prst="rect">
            <a:avLst/>
          </a:prstGeom>
          <a:noFill/>
        </p:spPr>
        <p:txBody>
          <a:bodyPr wrap="none" rtlCol="0">
            <a:spAutoFit/>
          </a:bodyPr>
          <a:lstStyle/>
          <a:p>
            <a:r>
              <a:rPr lang="es-ES" dirty="0" smtClean="0"/>
              <a:t>75.6</a:t>
            </a:r>
            <a:endParaRPr lang="es-AR" dirty="0"/>
          </a:p>
        </p:txBody>
      </p:sp>
      <p:cxnSp>
        <p:nvCxnSpPr>
          <p:cNvPr id="23" name="22 Conector recto"/>
          <p:cNvCxnSpPr>
            <a:stCxn id="16" idx="2"/>
          </p:cNvCxnSpPr>
          <p:nvPr/>
        </p:nvCxnSpPr>
        <p:spPr>
          <a:xfrm>
            <a:off x="901552" y="4653136"/>
            <a:ext cx="0" cy="1134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23 Conector recto de flecha"/>
          <p:cNvCxnSpPr/>
          <p:nvPr/>
        </p:nvCxnSpPr>
        <p:spPr>
          <a:xfrm flipV="1">
            <a:off x="901552" y="5787262"/>
            <a:ext cx="792088" cy="663"/>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09752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676</Words>
  <Application>Microsoft Office PowerPoint</Application>
  <PresentationFormat>Presentación en pantalla (4:3)</PresentationFormat>
  <Paragraphs>181</Paragraphs>
  <Slides>21</Slides>
  <Notes>0</Notes>
  <HiddenSlides>0</HiddenSlides>
  <MMClips>0</MMClips>
  <ScaleCrop>false</ScaleCrop>
  <HeadingPairs>
    <vt:vector size="4" baseType="variant">
      <vt:variant>
        <vt:lpstr>Tema</vt:lpstr>
      </vt:variant>
      <vt:variant>
        <vt:i4>1</vt:i4>
      </vt:variant>
      <vt:variant>
        <vt:lpstr>Títulos de diapositiva</vt:lpstr>
      </vt:variant>
      <vt:variant>
        <vt:i4>21</vt:i4>
      </vt:variant>
    </vt:vector>
  </HeadingPairs>
  <TitlesOfParts>
    <vt:vector size="22" baseType="lpstr">
      <vt:lpstr>Tema de Office</vt:lpstr>
      <vt:lpstr>METODOS Y CLASES</vt:lpstr>
      <vt:lpstr>METODOS Y CLASES</vt:lpstr>
      <vt:lpstr>METODOS Y CLASES</vt:lpstr>
      <vt:lpstr>METODOS Y CLASES</vt:lpstr>
      <vt:lpstr>METODOS Y CLASES</vt:lpstr>
      <vt:lpstr>METODOS Y CLASES</vt:lpstr>
      <vt:lpstr>METODOS Y CLASES</vt:lpstr>
      <vt:lpstr>METODOS Y CLASES</vt:lpstr>
      <vt:lpstr>METODOS Y CLASES</vt:lpstr>
      <vt:lpstr>METODOS Y CLASES</vt:lpstr>
      <vt:lpstr>METODOS Y CLASES</vt:lpstr>
      <vt:lpstr>METODOS Y CLASES</vt:lpstr>
      <vt:lpstr>METODOS Y CLASES</vt:lpstr>
      <vt:lpstr>METODOS Y CLASES</vt:lpstr>
      <vt:lpstr>METODOS Y CLASES</vt:lpstr>
      <vt:lpstr>METODOS Y CLASES</vt:lpstr>
      <vt:lpstr>METODOS Y CLASES</vt:lpstr>
      <vt:lpstr>METODOS Y CLASES</vt:lpstr>
      <vt:lpstr>METODOS Y CLASES</vt:lpstr>
      <vt:lpstr>METODOS Y CLASES</vt:lpstr>
      <vt:lpstr>METODOS Y CLASES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METODOS Y CLASES</dc:title>
  <dc:creator>Planificacion</dc:creator>
  <cp:lastModifiedBy>Planificacion</cp:lastModifiedBy>
  <cp:revision>12</cp:revision>
  <dcterms:created xsi:type="dcterms:W3CDTF">2021-05-14T14:13:37Z</dcterms:created>
  <dcterms:modified xsi:type="dcterms:W3CDTF">2021-05-14T19:34:32Z</dcterms:modified>
</cp:coreProperties>
</file>